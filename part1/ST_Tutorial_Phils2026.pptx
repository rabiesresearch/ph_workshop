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1291" r:id="rId3"/>
    <p:sldId id="257" r:id="rId4"/>
    <p:sldId id="258" r:id="rId5"/>
    <p:sldId id="1251" r:id="rId6"/>
    <p:sldId id="1253" r:id="rId7"/>
    <p:sldId id="259" r:id="rId8"/>
    <p:sldId id="260" r:id="rId9"/>
    <p:sldId id="261" r:id="rId10"/>
    <p:sldId id="262" r:id="rId11"/>
    <p:sldId id="1259" r:id="rId12"/>
    <p:sldId id="1260" r:id="rId13"/>
    <p:sldId id="1261" r:id="rId14"/>
    <p:sldId id="1256" r:id="rId15"/>
    <p:sldId id="1255" r:id="rId16"/>
    <p:sldId id="1257" r:id="rId17"/>
    <p:sldId id="1262" r:id="rId18"/>
    <p:sldId id="1280" r:id="rId19"/>
    <p:sldId id="1270" r:id="rId20"/>
    <p:sldId id="1271" r:id="rId21"/>
    <p:sldId id="1272" r:id="rId22"/>
    <p:sldId id="1273" r:id="rId23"/>
    <p:sldId id="127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26"/>
    <a:srgbClr val="1A3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BFE4D5-CFFC-4E57-B38A-11187CD250EE}" v="8" dt="2026-06-28T22:55:23.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Brookes" userId="9eec3621-d94e-4342-bafe-b3d7a0ed452c" providerId="ADAL" clId="{7BC56E3B-3FDB-4699-8012-EC522AEB6BF4}"/>
    <pc:docChg chg="undo custSel modSld">
      <pc:chgData name="Victoria Brookes" userId="9eec3621-d94e-4342-bafe-b3d7a0ed452c" providerId="ADAL" clId="{7BC56E3B-3FDB-4699-8012-EC522AEB6BF4}" dt="2026-06-28T22:56:58.119" v="92" actId="478"/>
      <pc:docMkLst>
        <pc:docMk/>
      </pc:docMkLst>
      <pc:sldChg chg="addSp delSp modSp mod">
        <pc:chgData name="Victoria Brookes" userId="9eec3621-d94e-4342-bafe-b3d7a0ed452c" providerId="ADAL" clId="{7BC56E3B-3FDB-4699-8012-EC522AEB6BF4}" dt="2026-06-28T22:51:11.439" v="77" actId="14100"/>
        <pc:sldMkLst>
          <pc:docMk/>
          <pc:sldMk cId="0" sldId="256"/>
        </pc:sldMkLst>
        <pc:spChg chg="mod">
          <ac:chgData name="Victoria Brookes" userId="9eec3621-d94e-4342-bafe-b3d7a0ed452c" providerId="ADAL" clId="{7BC56E3B-3FDB-4699-8012-EC522AEB6BF4}" dt="2026-06-28T22:51:11.439" v="77" actId="14100"/>
          <ac:spMkLst>
            <pc:docMk/>
            <pc:sldMk cId="0" sldId="256"/>
            <ac:spMk id="5" creationId="{00000000-0000-0000-0000-000000000000}"/>
          </ac:spMkLst>
        </pc:spChg>
        <pc:picChg chg="add del mod">
          <ac:chgData name="Victoria Brookes" userId="9eec3621-d94e-4342-bafe-b3d7a0ed452c" providerId="ADAL" clId="{7BC56E3B-3FDB-4699-8012-EC522AEB6BF4}" dt="2026-06-28T22:49:51.876" v="4" actId="478"/>
          <ac:picMkLst>
            <pc:docMk/>
            <pc:sldMk cId="0" sldId="256"/>
            <ac:picMk id="6" creationId="{2FD55E21-0DBC-C433-606A-003F95FDD03D}"/>
          </ac:picMkLst>
        </pc:picChg>
        <pc:picChg chg="add del mod">
          <ac:chgData name="Victoria Brookes" userId="9eec3621-d94e-4342-bafe-b3d7a0ed452c" providerId="ADAL" clId="{7BC56E3B-3FDB-4699-8012-EC522AEB6BF4}" dt="2026-06-28T22:49:53.853" v="5" actId="478"/>
          <ac:picMkLst>
            <pc:docMk/>
            <pc:sldMk cId="0" sldId="256"/>
            <ac:picMk id="7" creationId="{53CE3C23-AE40-3EF1-CA58-F0D651A3AD56}"/>
          </ac:picMkLst>
        </pc:picChg>
      </pc:sldChg>
      <pc:sldChg chg="addSp delSp modSp mod">
        <pc:chgData name="Victoria Brookes" userId="9eec3621-d94e-4342-bafe-b3d7a0ed452c" providerId="ADAL" clId="{7BC56E3B-3FDB-4699-8012-EC522AEB6BF4}" dt="2026-06-28T22:56:58.119" v="92" actId="478"/>
        <pc:sldMkLst>
          <pc:docMk/>
          <pc:sldMk cId="0" sldId="260"/>
        </pc:sldMkLst>
        <pc:spChg chg="mod">
          <ac:chgData name="Victoria Brookes" userId="9eec3621-d94e-4342-bafe-b3d7a0ed452c" providerId="ADAL" clId="{7BC56E3B-3FDB-4699-8012-EC522AEB6BF4}" dt="2026-06-28T22:55:55.693" v="87" actId="208"/>
          <ac:spMkLst>
            <pc:docMk/>
            <pc:sldMk cId="0" sldId="260"/>
            <ac:spMk id="16" creationId="{00000000-0000-0000-0000-000000000000}"/>
          </ac:spMkLst>
        </pc:spChg>
        <pc:spChg chg="mod">
          <ac:chgData name="Victoria Brookes" userId="9eec3621-d94e-4342-bafe-b3d7a0ed452c" providerId="ADAL" clId="{7BC56E3B-3FDB-4699-8012-EC522AEB6BF4}" dt="2026-06-28T22:55:55.693" v="87" actId="208"/>
          <ac:spMkLst>
            <pc:docMk/>
            <pc:sldMk cId="0" sldId="260"/>
            <ac:spMk id="17" creationId="{00000000-0000-0000-0000-000000000000}"/>
          </ac:spMkLst>
        </pc:spChg>
        <pc:spChg chg="mod">
          <ac:chgData name="Victoria Brookes" userId="9eec3621-d94e-4342-bafe-b3d7a0ed452c" providerId="ADAL" clId="{7BC56E3B-3FDB-4699-8012-EC522AEB6BF4}" dt="2026-06-28T22:55:55.693" v="87" actId="208"/>
          <ac:spMkLst>
            <pc:docMk/>
            <pc:sldMk cId="0" sldId="260"/>
            <ac:spMk id="18" creationId="{00000000-0000-0000-0000-000000000000}"/>
          </ac:spMkLst>
        </pc:spChg>
        <pc:spChg chg="mod">
          <ac:chgData name="Victoria Brookes" userId="9eec3621-d94e-4342-bafe-b3d7a0ed452c" providerId="ADAL" clId="{7BC56E3B-3FDB-4699-8012-EC522AEB6BF4}" dt="2026-06-28T22:55:55.693" v="87" actId="208"/>
          <ac:spMkLst>
            <pc:docMk/>
            <pc:sldMk cId="0" sldId="260"/>
            <ac:spMk id="19" creationId="{00000000-0000-0000-0000-000000000000}"/>
          </ac:spMkLst>
        </pc:spChg>
        <pc:spChg chg="mod">
          <ac:chgData name="Victoria Brookes" userId="9eec3621-d94e-4342-bafe-b3d7a0ed452c" providerId="ADAL" clId="{7BC56E3B-3FDB-4699-8012-EC522AEB6BF4}" dt="2026-06-28T22:56:01.189" v="88" actId="207"/>
          <ac:spMkLst>
            <pc:docMk/>
            <pc:sldMk cId="0" sldId="260"/>
            <ac:spMk id="20" creationId="{00000000-0000-0000-0000-000000000000}"/>
          </ac:spMkLst>
        </pc:spChg>
        <pc:spChg chg="mod">
          <ac:chgData name="Victoria Brookes" userId="9eec3621-d94e-4342-bafe-b3d7a0ed452c" providerId="ADAL" clId="{7BC56E3B-3FDB-4699-8012-EC522AEB6BF4}" dt="2026-06-28T22:56:01.189" v="88" actId="207"/>
          <ac:spMkLst>
            <pc:docMk/>
            <pc:sldMk cId="0" sldId="260"/>
            <ac:spMk id="21" creationId="{00000000-0000-0000-0000-000000000000}"/>
          </ac:spMkLst>
        </pc:spChg>
        <pc:spChg chg="mod">
          <ac:chgData name="Victoria Brookes" userId="9eec3621-d94e-4342-bafe-b3d7a0ed452c" providerId="ADAL" clId="{7BC56E3B-3FDB-4699-8012-EC522AEB6BF4}" dt="2026-06-28T22:56:01.189" v="88" actId="207"/>
          <ac:spMkLst>
            <pc:docMk/>
            <pc:sldMk cId="0" sldId="260"/>
            <ac:spMk id="22" creationId="{00000000-0000-0000-0000-000000000000}"/>
          </ac:spMkLst>
        </pc:spChg>
        <pc:spChg chg="mod">
          <ac:chgData name="Victoria Brookes" userId="9eec3621-d94e-4342-bafe-b3d7a0ed452c" providerId="ADAL" clId="{7BC56E3B-3FDB-4699-8012-EC522AEB6BF4}" dt="2026-06-28T22:56:01.189" v="88" actId="207"/>
          <ac:spMkLst>
            <pc:docMk/>
            <pc:sldMk cId="0" sldId="260"/>
            <ac:spMk id="23" creationId="{00000000-0000-0000-0000-000000000000}"/>
          </ac:spMkLst>
        </pc:spChg>
        <pc:spChg chg="del mod">
          <ac:chgData name="Victoria Brookes" userId="9eec3621-d94e-4342-bafe-b3d7a0ed452c" providerId="ADAL" clId="{7BC56E3B-3FDB-4699-8012-EC522AEB6BF4}" dt="2026-06-28T22:56:58.119" v="92" actId="478"/>
          <ac:spMkLst>
            <pc:docMk/>
            <pc:sldMk cId="0" sldId="260"/>
            <ac:spMk id="24" creationId="{00000000-0000-0000-0000-000000000000}"/>
          </ac:spMkLst>
        </pc:spChg>
        <pc:spChg chg="mod">
          <ac:chgData name="Victoria Brookes" userId="9eec3621-d94e-4342-bafe-b3d7a0ed452c" providerId="ADAL" clId="{7BC56E3B-3FDB-4699-8012-EC522AEB6BF4}" dt="2026-06-28T22:55:23.030" v="83" actId="206"/>
          <ac:spMkLst>
            <pc:docMk/>
            <pc:sldMk cId="0" sldId="260"/>
            <ac:spMk id="29" creationId="{00000000-0000-0000-0000-000000000000}"/>
          </ac:spMkLst>
        </pc:spChg>
        <pc:spChg chg="mod">
          <ac:chgData name="Victoria Brookes" userId="9eec3621-d94e-4342-bafe-b3d7a0ed452c" providerId="ADAL" clId="{7BC56E3B-3FDB-4699-8012-EC522AEB6BF4}" dt="2026-06-28T22:55:11.506" v="81" actId="206"/>
          <ac:spMkLst>
            <pc:docMk/>
            <pc:sldMk cId="0" sldId="260"/>
            <ac:spMk id="30" creationId="{00000000-0000-0000-0000-000000000000}"/>
          </ac:spMkLst>
        </pc:spChg>
        <pc:spChg chg="add mod">
          <ac:chgData name="Victoria Brookes" userId="9eec3621-d94e-4342-bafe-b3d7a0ed452c" providerId="ADAL" clId="{7BC56E3B-3FDB-4699-8012-EC522AEB6BF4}" dt="2026-06-28T22:56:46.263" v="91" actId="1582"/>
          <ac:spMkLst>
            <pc:docMk/>
            <pc:sldMk cId="0" sldId="260"/>
            <ac:spMk id="33" creationId="{8DCEE778-72BB-1042-CD0E-B831B65E8B8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769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30-minute lecture pairing with the HPAI Kerala hands-on tutorial. Goal: give participants enough conceptual grounding (data types, CRS, projections, the investigation workflow) to follow the tutorial confidently and tackle the afternoon rabies practical independently.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Read the question aloud. Pause. Explain that 'where' matters because clustering suggests a common source, a common environment, or transmission between cases — all of which change what we'd recommend for surveillance and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Snow's map (1854) is the canonical example of disease mapping. The point isn't to recount the history — keep this slide brief. The point is that even without statistics, plotting cases in space reveals patterns. Tee up: 'But we want more than eyeballing — we want quantitative tools. To get there, we need to understand what spatial data 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Two-bucket framing. Vector = discrete things you can point to. Raster = continuous things you'd measure across a surface. Today's hands-on uses only vector data (outbreak points + district polygons). Rasters are mentioned for completeness since participants may meet them in environmental covariate work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Three building blocks. The HPAI tutorial uses points (outbreak locations) and polygons (Kerala districts). Connect explicitly: 'Each row in hpai_kerala.csv becomes a POINT once we attach a CRS; the districts shapefile gives us POLYGONS.'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Mention rasters but don't dwell — they're not in the hands-on. Frame as 'something you'll meet when adding environmental covariates to outbreak analyses; the `terra` package handles them in 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Three things make up a CRS. Lat/lon (where on the ellipsoid), datum (which ellipsoid), and conventionally we refer to the whole bundle by an EPSG code. 4326 is the one you'll see most. Avoid getting into geodetic vs geocentric latitude — beginners don't need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The key distinction. Same place, two CRSs, completely different-looking numbers. Geographic = angles on the round Earth (no flattening yet). Projected = distances on a flat plane (something has been flattened, so something is distorted). Practical rule: store and display in geographic; reproject before measuring distance, buffer, or area. The tutorial stays in EPSG:4326 throughout because every operation is 'which polygon does this point fall in?' — a topological question that doesn't care about distortion.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The key practical point: pick a projection that fits what you want to measure. For the HPAI hands-on we stay in EPSG:4326 (lat/lon) and don't compute distances — so the distortion doesn't bite us. Flag for participants that if they later do buffer analyses or distance-from-feature, they'll need to reproject.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Two practical points: (1) shapefiles are a four-file bundle, easy mistake to copy only the .shp. (2) `sf` makes spatial data behave like a tibble — you can `filter()`, `mutate()`, `select()` as normal. The 'geometry' column is sticky and travels with the data. Older packages (sp, rgdal) are obsolete; we don't teach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Bridge slide from spatial to temporal. The three building blocks here are deliberately parallel to the spatial concept slides earlier. Make the link to Tobler explicit: 'You already met Tobler's law for space — Moran's I operationalises it. Autocorrelation in time is exactly the same idea, just on a clock instead of a map.'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The classic time-series decomposition framing. The left panel is the messy observed series; the three on the right are the components STL extracts. Big warning for the HPAI dataset: it's episodic, not seasonal — long quiet periods with occasional spikes. STL will technically run but the remainder will dominate, which is itself the diagnostic finding.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Transition slide. From here on we walk through the exact workflow participants will run in the hands-on. Set up the four questions: where, is it clustered, when, and have hotspots shifted.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1 of the investigation. In the tutorial they use `geom_sf(data = hpai_sf, colour = "red")` layered over `geom_sf(data = kerala, fill = "lightgrey")`. The teaching point: BEFORE running any stats, look at the raw map. Pattern recognition by eye is genuinely useful and often surprising.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2. The choropleth is where most outbreak investigations live. Three things to flag: (a) the choice of break style (jenks/quantile/equal/pretty) changes what the map says — try them; (b) zero counts are ambiguous (genuinely no disease, or no surveillance?); (c) classifying zero-inflated data with quantiles fails because many breaks tie at zero.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Moran's I in plain language. Show that it's analogous to a correlation coefficient. Don't dwell on the formula. Caveat: 14 districts is a SMALL sample for Moran's I — the test can miss real clustering (low power). Always combine test result with what you see on the map.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4. The first temporal step. Two teaching moments: (1) the choice of aggregation unit (week/month/year) matters and depends on the question; (2) the invisible-zero trap — when you count() events by month, R drops months with no events from the output entirely. In a 120-month series with outbreaks in 20 months, your epi curve will only show 20 bars. The fix in the tutorial is left_join() with a complete date sequence and replace_na(0).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5. The classic 'season of year' plot — collapse the long series to 12 month-of-year bars. The illustrative seasonal profile here shows the textbook HPAI pattern: high in cooler dry months when migratory waterbirds arrive, low through the monsoon. The participant's actual finding may differ — that's the exercise.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6. Frame this as Tobler's law on the clock — the temporal twin of Moran's I from step 3. STL gives you a picture of trend, seasonality, and remainder; ACF tells you whether nearby months are correlated. Both are DESCRIPTIVE, not predictive. With HPAI's sparse, episodic pattern, the remainder will dominate STL and the ACF will be modest. That's a finding, not a failure.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Step 4. Faceted choropleths with one shared colour scale (the key word is *shared*) so the two panels are visually comparable. In the tutorial code this comes from `pivot_longer() |&gt; ggplot() + facet_wrap(~ era)`.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The most important slide. The point: spatial AND temporal analysis are generators of hypotheses and tools for prioritising — not verdicts. Always state your caveats when communicating findings, particularly the surveillance-bias one. This connects to learning objective 7 (communicating findings honestly).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Closing slide. Briefly remind them: this morning's hands-on follows exactly the 4-step workflow on the previous slides. The afternoon rabies practical uses the same skills on a different dataset — they should have everything they need by lunchtime.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 object">
    <p:spTree>
      <p:nvGrpSpPr>
        <p:cNvPr id="1" name=""/>
        <p:cNvGrpSpPr/>
        <p:nvPr/>
      </p:nvGrpSpPr>
      <p:grpSpPr>
        <a:xfrm>
          <a:off x="0" y="0"/>
          <a:ext cx="0" cy="0"/>
          <a:chOff x="0" y="0"/>
          <a:chExt cx="0" cy="0"/>
        </a:xfrm>
      </p:grpSpPr>
      <p:sp>
        <p:nvSpPr>
          <p:cNvPr id="16" name="bg object 3"/>
          <p:cNvSpPr/>
          <p:nvPr/>
        </p:nvSpPr>
        <p:spPr>
          <a:xfrm>
            <a:off x="571500" y="576262"/>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2" name="Title 1"/>
          <p:cNvSpPr>
            <a:spLocks noGrp="1"/>
          </p:cNvSpPr>
          <p:nvPr>
            <p:ph type="title" hasCustomPrompt="1"/>
          </p:nvPr>
        </p:nvSpPr>
        <p:spPr>
          <a:xfrm>
            <a:off x="577851" y="736601"/>
            <a:ext cx="7988300" cy="369332"/>
          </a:xfrm>
        </p:spPr>
        <p:txBody>
          <a:bodyPr lIns="0" tIns="0" rIns="0" bIns="0"/>
          <a:lstStyle>
            <a:lvl1pPr>
              <a:defRPr sz="2400" b="0" i="0">
                <a:solidFill>
                  <a:srgbClr val="E64626"/>
                </a:solidFill>
                <a:latin typeface="Times" pitchFamily="2" charset="0"/>
                <a:cs typeface="Times New Roman"/>
              </a:defRPr>
            </a:lvl1pPr>
          </a:lstStyle>
          <a:p>
            <a:r>
              <a:rPr lang="en-AU"/>
              <a:t>Title and 1 object</a:t>
            </a:r>
            <a:endParaRPr/>
          </a:p>
        </p:txBody>
      </p:sp>
      <p:sp>
        <p:nvSpPr>
          <p:cNvPr id="5" name="Text Placeholder 2">
            <a:extLst>
              <a:ext uri="{FF2B5EF4-FFF2-40B4-BE49-F238E27FC236}">
                <a16:creationId xmlns:a16="http://schemas.microsoft.com/office/drawing/2014/main" id="{87CDED4A-4823-EF24-3881-13F93D526601}"/>
              </a:ext>
            </a:extLst>
          </p:cNvPr>
          <p:cNvSpPr>
            <a:spLocks noGrp="1"/>
          </p:cNvSpPr>
          <p:nvPr>
            <p:ph sz="half" idx="2" hasCustomPrompt="1"/>
          </p:nvPr>
        </p:nvSpPr>
        <p:spPr>
          <a:xfrm>
            <a:off x="1881189" y="1802292"/>
            <a:ext cx="6684963"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46" marR="0" lvl="0" indent="-171446" defTabSz="914377"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3" name="object 4">
            <a:extLst>
              <a:ext uri="{FF2B5EF4-FFF2-40B4-BE49-F238E27FC236}">
                <a16:creationId xmlns:a16="http://schemas.microsoft.com/office/drawing/2014/main" id="{072B83BE-F949-7430-0580-E28A8377541C}"/>
              </a:ext>
            </a:extLst>
          </p:cNvPr>
          <p:cNvSpPr txBox="1"/>
          <p:nvPr userDrawn="1"/>
        </p:nvSpPr>
        <p:spPr>
          <a:xfrm>
            <a:off x="568327" y="4725643"/>
            <a:ext cx="942975" cy="104644"/>
          </a:xfrm>
          <a:prstGeom prst="rect">
            <a:avLst/>
          </a:prstGeom>
        </p:spPr>
        <p:txBody>
          <a:bodyPr vert="horz" wrap="square" lIns="0" tIns="4445" rIns="0" bIns="0" rtlCol="0">
            <a:spAutoFit/>
          </a:bodyPr>
          <a:lstStyle/>
          <a:p>
            <a:pPr marL="12700">
              <a:lnSpc>
                <a:spcPct val="100000"/>
              </a:lnSpc>
              <a:spcBef>
                <a:spcPts val="35"/>
              </a:spcBef>
            </a:pPr>
            <a:r>
              <a:rPr sz="651">
                <a:solidFill>
                  <a:srgbClr val="3C3C3B"/>
                </a:solidFill>
                <a:latin typeface="Arial"/>
                <a:cs typeface="Arial"/>
              </a:rPr>
              <a:t>The</a:t>
            </a:r>
            <a:r>
              <a:rPr sz="651" spc="15">
                <a:solidFill>
                  <a:srgbClr val="3C3C3B"/>
                </a:solidFill>
                <a:latin typeface="Arial"/>
                <a:cs typeface="Arial"/>
              </a:rPr>
              <a:t> </a:t>
            </a:r>
            <a:r>
              <a:rPr sz="651" spc="-11">
                <a:solidFill>
                  <a:srgbClr val="3C3C3B"/>
                </a:solidFill>
                <a:latin typeface="Arial"/>
                <a:cs typeface="Arial"/>
              </a:rPr>
              <a:t>University</a:t>
            </a:r>
            <a:r>
              <a:rPr sz="651" spc="11">
                <a:solidFill>
                  <a:srgbClr val="3C3C3B"/>
                </a:solidFill>
                <a:latin typeface="Arial"/>
                <a:cs typeface="Arial"/>
              </a:rPr>
              <a:t> </a:t>
            </a:r>
            <a:r>
              <a:rPr sz="651">
                <a:solidFill>
                  <a:srgbClr val="3C3C3B"/>
                </a:solidFill>
                <a:latin typeface="Arial"/>
                <a:cs typeface="Arial"/>
              </a:rPr>
              <a:t>of</a:t>
            </a:r>
            <a:r>
              <a:rPr sz="651" spc="15">
                <a:solidFill>
                  <a:srgbClr val="3C3C3B"/>
                </a:solidFill>
                <a:latin typeface="Arial"/>
                <a:cs typeface="Arial"/>
              </a:rPr>
              <a:t> </a:t>
            </a:r>
            <a:r>
              <a:rPr sz="651" spc="-11">
                <a:solidFill>
                  <a:srgbClr val="3C3C3B"/>
                </a:solidFill>
                <a:latin typeface="Arial"/>
                <a:cs typeface="Arial"/>
              </a:rPr>
              <a:t>Sydney</a:t>
            </a:r>
            <a:endParaRPr sz="651">
              <a:latin typeface="Arial"/>
              <a:cs typeface="Arial"/>
            </a:endParaRPr>
          </a:p>
        </p:txBody>
      </p:sp>
    </p:spTree>
    <p:extLst>
      <p:ext uri="{BB962C8B-B14F-4D97-AF65-F5344CB8AC3E}">
        <p14:creationId xmlns:p14="http://schemas.microsoft.com/office/powerpoint/2010/main" val="76758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F32D39-A15F-48D3-8349-445A99474A49}"/>
              </a:ext>
            </a:extLst>
          </p:cNvPr>
          <p:cNvSpPr>
            <a:spLocks noGrp="1"/>
          </p:cNvSpPr>
          <p:nvPr>
            <p:ph type="dt" sz="half" idx="10"/>
          </p:nvPr>
        </p:nvSpPr>
        <p:spPr/>
        <p:txBody>
          <a:bodyPr/>
          <a:lstStyle/>
          <a:p>
            <a:fld id="{30A0140D-8EB5-40D0-8295-EED913558892}" type="datetimeFigureOut">
              <a:rPr lang="en-AU" smtClean="0"/>
              <a:t>6/07/2026</a:t>
            </a:fld>
            <a:endParaRPr lang="en-AU"/>
          </a:p>
        </p:txBody>
      </p:sp>
      <p:sp>
        <p:nvSpPr>
          <p:cNvPr id="3" name="Footer Placeholder 2">
            <a:extLst>
              <a:ext uri="{FF2B5EF4-FFF2-40B4-BE49-F238E27FC236}">
                <a16:creationId xmlns:a16="http://schemas.microsoft.com/office/drawing/2014/main" id="{6CED971D-649D-4956-AA2A-EDF80FDC53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BFB3D-FF00-4244-A91B-D3225B7D2273}"/>
              </a:ext>
            </a:extLst>
          </p:cNvPr>
          <p:cNvSpPr>
            <a:spLocks noGrp="1"/>
          </p:cNvSpPr>
          <p:nvPr>
            <p:ph type="sldNum" sz="quarter" idx="12"/>
          </p:nvPr>
        </p:nvSpPr>
        <p:spPr/>
        <p:txBody>
          <a:bodyPr/>
          <a:lstStyle/>
          <a:p>
            <a:fld id="{70918E90-C587-4647-9CAA-C2CD63A1A990}" type="slidenum">
              <a:rPr lang="en-AU" smtClean="0"/>
              <a:t>‹#›</a:t>
            </a:fld>
            <a:endParaRPr lang="en-AU"/>
          </a:p>
        </p:txBody>
      </p:sp>
    </p:spTree>
    <p:extLst>
      <p:ext uri="{BB962C8B-B14F-4D97-AF65-F5344CB8AC3E}">
        <p14:creationId xmlns:p14="http://schemas.microsoft.com/office/powerpoint/2010/main" val="18598049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blog.rtwilson.com/john-snows-cholera-data-in-more-formats/" TargetMode="Externa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64626"/>
        </a:solidFill>
        <a:effectLst/>
      </p:bgPr>
    </p:bg>
    <p:spTree>
      <p:nvGrpSpPr>
        <p:cNvPr id="1" name=""/>
        <p:cNvGrpSpPr/>
        <p:nvPr/>
      </p:nvGrpSpPr>
      <p:grpSpPr>
        <a:xfrm>
          <a:off x="0" y="0"/>
          <a:ext cx="0" cy="0"/>
          <a:chOff x="0" y="0"/>
          <a:chExt cx="0" cy="0"/>
        </a:xfrm>
      </p:grpSpPr>
      <p:sp>
        <p:nvSpPr>
          <p:cNvPr id="2" name="Text 0"/>
          <p:cNvSpPr/>
          <p:nvPr/>
        </p:nvSpPr>
        <p:spPr>
          <a:xfrm>
            <a:off x="640080" y="1737360"/>
            <a:ext cx="7863840" cy="8686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Spatial and temporal analysis</a:t>
            </a:r>
            <a:endParaRPr lang="en-US" sz="4400" dirty="0"/>
          </a:p>
        </p:txBody>
      </p:sp>
      <p:sp>
        <p:nvSpPr>
          <p:cNvPr id="3" name="Text 1"/>
          <p:cNvSpPr/>
          <p:nvPr/>
        </p:nvSpPr>
        <p:spPr>
          <a:xfrm>
            <a:off x="640080" y="2514600"/>
            <a:ext cx="7863840" cy="777240"/>
          </a:xfrm>
          <a:prstGeom prst="rect">
            <a:avLst/>
          </a:prstGeom>
          <a:noFill/>
          <a:ln/>
        </p:spPr>
        <p:txBody>
          <a:bodyPr wrap="square" lIns="0" tIns="0" rIns="0" bIns="0" rtlCol="0" anchor="ctr"/>
          <a:lstStyle/>
          <a:p>
            <a:pPr marL="0" indent="0">
              <a:buNone/>
            </a:pPr>
            <a:r>
              <a:rPr lang="en-US" sz="5400" i="1" dirty="0">
                <a:solidFill>
                  <a:srgbClr val="1A355E"/>
                </a:solidFill>
                <a:latin typeface="Cambria" pitchFamily="34" charset="0"/>
                <a:ea typeface="Cambria" pitchFamily="34" charset="-122"/>
                <a:cs typeface="Cambria" pitchFamily="34" charset="-120"/>
              </a:rPr>
              <a:t>for disease data</a:t>
            </a:r>
            <a:endParaRPr lang="en-US" sz="5400" dirty="0">
              <a:solidFill>
                <a:srgbClr val="1A355E"/>
              </a:solidFill>
            </a:endParaRPr>
          </a:p>
        </p:txBody>
      </p:sp>
      <p:sp>
        <p:nvSpPr>
          <p:cNvPr id="4" name="Shape 2"/>
          <p:cNvSpPr/>
          <p:nvPr/>
        </p:nvSpPr>
        <p:spPr>
          <a:xfrm>
            <a:off x="640080" y="3520440"/>
            <a:ext cx="1371600" cy="0"/>
          </a:xfrm>
          <a:prstGeom prst="line">
            <a:avLst/>
          </a:prstGeom>
          <a:noFill/>
          <a:ln w="25400">
            <a:solidFill>
              <a:srgbClr val="1A355E"/>
            </a:solidFill>
            <a:prstDash val="solid"/>
          </a:ln>
        </p:spPr>
        <p:txBody>
          <a:bodyPr/>
          <a:lstStyle/>
          <a:p>
            <a:endParaRPr lang="en-AU"/>
          </a:p>
        </p:txBody>
      </p:sp>
      <p:sp>
        <p:nvSpPr>
          <p:cNvPr id="5" name="Text 3"/>
          <p:cNvSpPr/>
          <p:nvPr/>
        </p:nvSpPr>
        <p:spPr>
          <a:xfrm>
            <a:off x="640080" y="3657599"/>
            <a:ext cx="7863840" cy="996284"/>
          </a:xfrm>
          <a:prstGeom prst="rect">
            <a:avLst/>
          </a:prstGeom>
          <a:noFill/>
          <a:ln/>
        </p:spPr>
        <p:txBody>
          <a:bodyPr wrap="square" lIns="0" tIns="0" rIns="0" bIns="0" rtlCol="0" anchor="ctr"/>
          <a:lstStyle/>
          <a:p>
            <a:pPr marL="0" indent="0">
              <a:buNone/>
            </a:pPr>
            <a:r>
              <a:rPr lang="en-US" sz="2000" dirty="0">
                <a:solidFill>
                  <a:srgbClr val="FFFFFF"/>
                </a:solidFill>
                <a:latin typeface="Cambria" panose="02040503050406030204" pitchFamily="18" charset="0"/>
                <a:ea typeface="Cambria" panose="02040503050406030204" pitchFamily="18" charset="0"/>
                <a:cs typeface="Calibri" pitchFamily="34" charset="-120"/>
              </a:rPr>
              <a:t>Epidemiology skills workshop</a:t>
            </a:r>
          </a:p>
          <a:p>
            <a:pPr marL="0" indent="0">
              <a:buNone/>
            </a:pPr>
            <a:endParaRPr lang="en-US" sz="700" dirty="0">
              <a:solidFill>
                <a:srgbClr val="FFFFFF"/>
              </a:solidFill>
              <a:latin typeface="Cambria" panose="02040503050406030204" pitchFamily="18" charset="0"/>
              <a:ea typeface="Cambria" panose="02040503050406030204" pitchFamily="18" charset="0"/>
              <a:cs typeface="Calibri" pitchFamily="34" charset="-120"/>
            </a:endParaRPr>
          </a:p>
          <a:p>
            <a:pPr marL="0" indent="0">
              <a:buNone/>
            </a:pPr>
            <a:r>
              <a:rPr lang="en-US" i="1" dirty="0">
                <a:solidFill>
                  <a:srgbClr val="FFFFFF"/>
                </a:solidFill>
                <a:latin typeface="Cambria" panose="02040503050406030204" pitchFamily="18" charset="0"/>
                <a:ea typeface="Cambria" panose="02040503050406030204" pitchFamily="18" charset="0"/>
                <a:cs typeface="Calibri" pitchFamily="34" charset="-120"/>
              </a:rPr>
              <a:t>Victoria Brookes, Katie Hampson, Mafalda Viana</a:t>
            </a:r>
          </a:p>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ard3 bg"/>
          <p:cNvSpPr/>
          <p:nvPr/>
        </p:nvSpPr>
        <p:spPr>
          <a:xfrm>
            <a:off x="4672000" y="1737360"/>
            <a:ext cx="1907400" cy="2926080"/>
          </a:xfrm>
          <a:prstGeom prst="roundRect">
            <a:avLst>
              <a:gd name="adj" fmla="val 3500"/>
            </a:avLst>
          </a:prstGeom>
          <a:solidFill>
            <a:srgbClr val="1A355E"/>
          </a:solidFill>
          <a:ln w="12700">
            <a:solidFill>
              <a:srgbClr val="1A355E"/>
            </a:solidFill>
            <a:prstDash val="solid"/>
          </a:ln>
          <a:effectLst>
            <a:outerShdw blurRad="127000" dist="31750" dir="5400000" algn="bl" rotWithShape="0">
              <a:srgbClr val="000000">
                <a:alpha val="20000"/>
              </a:srgbClr>
            </a:outerShdw>
          </a:effectLst>
        </p:spPr>
        <p:txBody>
          <a:bodyPr/>
          <a:lstStyle/>
          <a:p>
            <a:endParaRPr lang="en-AU" dirty="0"/>
          </a:p>
        </p:txBody>
      </p:sp>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Where this fits: outbreak investigation</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43000"/>
            <a:ext cx="6583680" cy="457200"/>
          </a:xfrm>
          <a:prstGeom prst="rect">
            <a:avLst/>
          </a:prstGeom>
          <a:noFill/>
          <a:ln/>
        </p:spPr>
        <p:txBody>
          <a:bodyPr wrap="square" rtlCol="0" anchor="ctr"/>
          <a:lstStyle/>
          <a:p>
            <a:pPr marL="0" indent="0">
              <a:buNone/>
            </a:pPr>
            <a:r>
              <a:rPr lang="en-US" sz="1500" i="1" dirty="0">
                <a:solidFill>
                  <a:srgbClr val="6B7280"/>
                </a:solidFill>
                <a:latin typeface="Calibri" pitchFamily="34" charset="0"/>
              </a:rPr>
              <a:t>CDC's classic outbreak-investigation steps — spatial-temporal analysis is part of Step 6: descriptive epidemiology.</a:t>
            </a:r>
          </a:p>
        </p:txBody>
      </p:sp>
      <p:sp>
        <p:nvSpPr>
          <p:cNvPr id="10" name="Card1 bg"/>
          <p:cNvSpPr/>
          <p:nvPr/>
        </p:nvSpPr>
        <p:spPr>
          <a:xfrm>
            <a:off x="457200" y="1828800"/>
            <a:ext cx="190740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1" name="Card1 num"/>
          <p:cNvSpPr/>
          <p:nvPr/>
        </p:nvSpPr>
        <p:spPr>
          <a:xfrm>
            <a:off x="1060900" y="2011680"/>
            <a:ext cx="700000" cy="700000"/>
          </a:xfrm>
          <a:prstGeom prst="ellipse">
            <a:avLst/>
          </a:prstGeom>
          <a:solidFill>
            <a:srgbClr val="71A499"/>
          </a:solidFill>
          <a:ln>
            <a:noFill/>
          </a:ln>
        </p:spPr>
        <p:txBody>
          <a:bodyPr wrap="square" lIns="0" tIns="0" rIns="0" bIns="0" anchor="ctr" anchorCtr="1"/>
          <a:lstStyle/>
          <a:p>
            <a:pPr algn="ctr">
              <a:buNone/>
            </a:pPr>
            <a:r>
              <a:rPr lang="en-US" sz="2000" b="1" dirty="0">
                <a:solidFill>
                  <a:srgbClr val="FFFFFF"/>
                </a:solidFill>
                <a:latin typeface="Cambria" pitchFamily="34" charset="0"/>
              </a:rPr>
              <a:t>1</a:t>
            </a:r>
          </a:p>
        </p:txBody>
      </p:sp>
      <p:sp>
        <p:nvSpPr>
          <p:cNvPr id="12" name="Card1 tag"/>
          <p:cNvSpPr/>
          <p:nvPr/>
        </p:nvSpPr>
        <p:spPr>
          <a:xfrm>
            <a:off x="502920" y="2803120"/>
            <a:ext cx="1815960" cy="228600"/>
          </a:xfrm>
          <a:prstGeom prst="rect">
            <a:avLst/>
          </a:prstGeom>
          <a:noFill/>
          <a:ln/>
        </p:spPr>
        <p:txBody>
          <a:bodyPr wrap="square" lIns="0" rIns="0" rtlCol="0" anchor="ctr"/>
          <a:lstStyle/>
          <a:p>
            <a:pPr algn="ctr">
              <a:buNone/>
            </a:pPr>
            <a:r>
              <a:rPr lang="en-US" sz="1000" b="1" kern="0" spc="150" dirty="0">
                <a:solidFill>
                  <a:srgbClr val="71A499"/>
                </a:solidFill>
                <a:latin typeface="Calibri" pitchFamily="34" charset="0"/>
              </a:rPr>
              <a:t>STEPS 1–4</a:t>
            </a:r>
          </a:p>
        </p:txBody>
      </p:sp>
      <p:sp>
        <p:nvSpPr>
          <p:cNvPr id="13" name="Card1 title"/>
          <p:cNvSpPr/>
          <p:nvPr/>
        </p:nvSpPr>
        <p:spPr>
          <a:xfrm>
            <a:off x="502920" y="3077440"/>
            <a:ext cx="1815960" cy="480060"/>
          </a:xfrm>
          <a:prstGeom prst="rect">
            <a:avLst/>
          </a:prstGeom>
          <a:noFill/>
          <a:ln/>
        </p:spPr>
        <p:txBody>
          <a:bodyPr wrap="square" lIns="0" rIns="0" rtlCol="0" anchor="t"/>
          <a:lstStyle/>
          <a:p>
            <a:pPr algn="ctr">
              <a:buNone/>
            </a:pPr>
            <a:r>
              <a:rPr lang="en-US" sz="1400" b="1" dirty="0">
                <a:solidFill>
                  <a:srgbClr val="1A355E"/>
                </a:solidFill>
                <a:latin typeface="Cambria" pitchFamily="34" charset="0"/>
              </a:rPr>
              <a:t>Detect &amp; confirm</a:t>
            </a:r>
          </a:p>
        </p:txBody>
      </p:sp>
      <p:sp>
        <p:nvSpPr>
          <p:cNvPr id="14" name="Card1 desc"/>
          <p:cNvSpPr/>
          <p:nvPr/>
        </p:nvSpPr>
        <p:spPr>
          <a:xfrm>
            <a:off x="502920" y="3603370"/>
            <a:ext cx="181596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Prepare for fieldwork, confirm outbreak, verify the diagnosis and construct a case definition</a:t>
            </a:r>
          </a:p>
        </p:txBody>
      </p:sp>
      <p:sp>
        <p:nvSpPr>
          <p:cNvPr id="15" name="Arrow1"/>
          <p:cNvSpPr/>
          <p:nvPr/>
        </p:nvSpPr>
        <p:spPr>
          <a:xfrm>
            <a:off x="2364600" y="1828800"/>
            <a:ext cx="200000" cy="2743200"/>
          </a:xfrm>
          <a:prstGeom prst="rect">
            <a:avLst/>
          </a:prstGeom>
          <a:noFill/>
          <a:ln/>
        </p:spPr>
        <p:txBody>
          <a:bodyPr wrap="square" lIns="0" rIns="0" rtlCol="0" anchor="ctr"/>
          <a:lstStyle/>
          <a:p>
            <a:pPr algn="ctr">
              <a:buNone/>
            </a:pPr>
            <a:r>
              <a:rPr lang="en-US" sz="1800" b="1" dirty="0">
                <a:solidFill>
                  <a:srgbClr val="C7CBD1"/>
                </a:solidFill>
                <a:latin typeface="Calibri" pitchFamily="34" charset="0"/>
              </a:rPr>
              <a:t>→</a:t>
            </a:r>
          </a:p>
        </p:txBody>
      </p:sp>
      <p:sp>
        <p:nvSpPr>
          <p:cNvPr id="20" name="Card2 bg"/>
          <p:cNvSpPr/>
          <p:nvPr/>
        </p:nvSpPr>
        <p:spPr>
          <a:xfrm>
            <a:off x="2564600" y="1828800"/>
            <a:ext cx="190740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21" name="Card2 num"/>
          <p:cNvSpPr/>
          <p:nvPr/>
        </p:nvSpPr>
        <p:spPr>
          <a:xfrm>
            <a:off x="3168300" y="2011680"/>
            <a:ext cx="700000" cy="700000"/>
          </a:xfrm>
          <a:prstGeom prst="ellipse">
            <a:avLst/>
          </a:prstGeom>
          <a:solidFill>
            <a:srgbClr val="71A499"/>
          </a:solidFill>
          <a:ln>
            <a:noFill/>
          </a:ln>
        </p:spPr>
        <p:txBody>
          <a:bodyPr wrap="square" lIns="0" tIns="0" rIns="0" bIns="0" anchor="ctr" anchorCtr="1"/>
          <a:lstStyle/>
          <a:p>
            <a:pPr algn="ctr">
              <a:buNone/>
            </a:pPr>
            <a:r>
              <a:rPr lang="en-US" sz="2000" b="1" dirty="0">
                <a:solidFill>
                  <a:srgbClr val="FFFFFF"/>
                </a:solidFill>
                <a:latin typeface="Cambria" pitchFamily="34" charset="0"/>
              </a:rPr>
              <a:t>2</a:t>
            </a:r>
          </a:p>
        </p:txBody>
      </p:sp>
      <p:sp>
        <p:nvSpPr>
          <p:cNvPr id="22" name="Card2 tag"/>
          <p:cNvSpPr/>
          <p:nvPr/>
        </p:nvSpPr>
        <p:spPr>
          <a:xfrm>
            <a:off x="2610320" y="2803120"/>
            <a:ext cx="1815960" cy="228600"/>
          </a:xfrm>
          <a:prstGeom prst="rect">
            <a:avLst/>
          </a:prstGeom>
          <a:noFill/>
          <a:ln/>
        </p:spPr>
        <p:txBody>
          <a:bodyPr wrap="square" lIns="0" rIns="0" rtlCol="0" anchor="ctr"/>
          <a:lstStyle/>
          <a:p>
            <a:pPr algn="ctr">
              <a:buNone/>
            </a:pPr>
            <a:r>
              <a:rPr lang="en-US" sz="1000" b="1" kern="0" spc="150" dirty="0">
                <a:solidFill>
                  <a:srgbClr val="71A499"/>
                </a:solidFill>
                <a:latin typeface="Calibri" pitchFamily="34" charset="0"/>
              </a:rPr>
              <a:t>STEP 5</a:t>
            </a:r>
          </a:p>
        </p:txBody>
      </p:sp>
      <p:sp>
        <p:nvSpPr>
          <p:cNvPr id="23" name="Card2 title"/>
          <p:cNvSpPr/>
          <p:nvPr/>
        </p:nvSpPr>
        <p:spPr>
          <a:xfrm>
            <a:off x="2610320" y="3077440"/>
            <a:ext cx="1815960" cy="480060"/>
          </a:xfrm>
          <a:prstGeom prst="rect">
            <a:avLst/>
          </a:prstGeom>
          <a:noFill/>
          <a:ln/>
        </p:spPr>
        <p:txBody>
          <a:bodyPr wrap="square" lIns="0" rIns="0" rtlCol="0" anchor="t"/>
          <a:lstStyle/>
          <a:p>
            <a:pPr algn="ctr">
              <a:buNone/>
            </a:pPr>
            <a:r>
              <a:rPr lang="en-US" sz="1400" b="1" dirty="0">
                <a:solidFill>
                  <a:srgbClr val="1A355E"/>
                </a:solidFill>
                <a:latin typeface="Cambria" pitchFamily="34" charset="0"/>
              </a:rPr>
              <a:t>Find cases</a:t>
            </a:r>
          </a:p>
        </p:txBody>
      </p:sp>
      <p:sp>
        <p:nvSpPr>
          <p:cNvPr id="24" name="Card2 desc"/>
          <p:cNvSpPr/>
          <p:nvPr/>
        </p:nvSpPr>
        <p:spPr>
          <a:xfrm>
            <a:off x="2610320" y="3603370"/>
            <a:ext cx="181596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Search systematically to find and record cases</a:t>
            </a:r>
          </a:p>
        </p:txBody>
      </p:sp>
      <p:sp>
        <p:nvSpPr>
          <p:cNvPr id="25" name="Arrow2"/>
          <p:cNvSpPr/>
          <p:nvPr/>
        </p:nvSpPr>
        <p:spPr>
          <a:xfrm>
            <a:off x="4472000" y="1828800"/>
            <a:ext cx="200000" cy="2743200"/>
          </a:xfrm>
          <a:prstGeom prst="rect">
            <a:avLst/>
          </a:prstGeom>
          <a:noFill/>
          <a:ln/>
        </p:spPr>
        <p:txBody>
          <a:bodyPr wrap="square" lIns="0" rIns="0" rtlCol="0" anchor="ctr"/>
          <a:lstStyle/>
          <a:p>
            <a:pPr algn="ctr">
              <a:buNone/>
            </a:pPr>
            <a:r>
              <a:rPr lang="en-US" sz="1800" b="1" dirty="0">
                <a:solidFill>
                  <a:srgbClr val="C7CBD1"/>
                </a:solidFill>
                <a:latin typeface="Calibri" pitchFamily="34" charset="0"/>
              </a:rPr>
              <a:t>→</a:t>
            </a:r>
          </a:p>
        </p:txBody>
      </p:sp>
      <p:sp>
        <p:nvSpPr>
          <p:cNvPr id="31" name="Card3 num"/>
          <p:cNvSpPr/>
          <p:nvPr/>
        </p:nvSpPr>
        <p:spPr>
          <a:xfrm>
            <a:off x="5275700" y="1920240"/>
            <a:ext cx="700000" cy="700000"/>
          </a:xfrm>
          <a:prstGeom prst="ellipse">
            <a:avLst/>
          </a:prstGeom>
          <a:solidFill>
            <a:srgbClr val="E64626"/>
          </a:solidFill>
          <a:ln>
            <a:noFill/>
          </a:ln>
        </p:spPr>
        <p:txBody>
          <a:bodyPr wrap="square" lIns="0" tIns="0" rIns="0" bIns="0" anchor="ctr" anchorCtr="1"/>
          <a:lstStyle/>
          <a:p>
            <a:pPr algn="ctr">
              <a:buNone/>
            </a:pPr>
            <a:r>
              <a:rPr lang="en-US" sz="2000" b="1" dirty="0">
                <a:solidFill>
                  <a:srgbClr val="FFFFFF"/>
                </a:solidFill>
                <a:latin typeface="Cambria" pitchFamily="34" charset="0"/>
              </a:rPr>
              <a:t>3</a:t>
            </a:r>
          </a:p>
        </p:txBody>
      </p:sp>
      <p:sp>
        <p:nvSpPr>
          <p:cNvPr id="32" name="Card3 tag"/>
          <p:cNvSpPr/>
          <p:nvPr/>
        </p:nvSpPr>
        <p:spPr>
          <a:xfrm>
            <a:off x="4717720" y="2711680"/>
            <a:ext cx="1815960" cy="228600"/>
          </a:xfrm>
          <a:prstGeom prst="rect">
            <a:avLst/>
          </a:prstGeom>
          <a:noFill/>
          <a:ln/>
        </p:spPr>
        <p:txBody>
          <a:bodyPr wrap="square" lIns="0" rIns="0" rtlCol="0" anchor="ctr"/>
          <a:lstStyle/>
          <a:p>
            <a:pPr algn="ctr">
              <a:buNone/>
            </a:pPr>
            <a:r>
              <a:rPr lang="en-US" sz="1000" b="1" kern="0" spc="150" dirty="0">
                <a:solidFill>
                  <a:srgbClr val="D4A574"/>
                </a:solidFill>
                <a:latin typeface="Calibri" pitchFamily="34" charset="0"/>
              </a:rPr>
              <a:t>STEP 6 — TODAY</a:t>
            </a:r>
          </a:p>
        </p:txBody>
      </p:sp>
      <p:sp>
        <p:nvSpPr>
          <p:cNvPr id="33" name="Card3 title"/>
          <p:cNvSpPr/>
          <p:nvPr/>
        </p:nvSpPr>
        <p:spPr>
          <a:xfrm>
            <a:off x="4717720" y="2986000"/>
            <a:ext cx="1815960" cy="640080"/>
          </a:xfrm>
          <a:prstGeom prst="rect">
            <a:avLst/>
          </a:prstGeom>
          <a:noFill/>
          <a:ln/>
        </p:spPr>
        <p:txBody>
          <a:bodyPr wrap="square" lIns="0" rIns="0" rtlCol="0" anchor="t"/>
          <a:lstStyle/>
          <a:p>
            <a:pPr algn="ctr">
              <a:buNone/>
            </a:pPr>
            <a:r>
              <a:rPr lang="en-US" sz="1400" b="1" dirty="0">
                <a:solidFill>
                  <a:srgbClr val="FFFFFF"/>
                </a:solidFill>
                <a:latin typeface="Cambria" pitchFamily="34" charset="0"/>
              </a:rPr>
              <a:t>Descriptive epidemiology</a:t>
            </a:r>
          </a:p>
        </p:txBody>
      </p:sp>
      <p:sp>
        <p:nvSpPr>
          <p:cNvPr id="35" name="Arrow3"/>
          <p:cNvSpPr/>
          <p:nvPr/>
        </p:nvSpPr>
        <p:spPr>
          <a:xfrm>
            <a:off x="6579400" y="1828800"/>
            <a:ext cx="200000" cy="2743200"/>
          </a:xfrm>
          <a:prstGeom prst="rect">
            <a:avLst/>
          </a:prstGeom>
          <a:noFill/>
          <a:ln/>
        </p:spPr>
        <p:txBody>
          <a:bodyPr wrap="square" lIns="0" rIns="0" rtlCol="0" anchor="ctr"/>
          <a:lstStyle/>
          <a:p>
            <a:pPr algn="ctr">
              <a:buNone/>
            </a:pPr>
            <a:r>
              <a:rPr lang="en-US" sz="1800" b="1" dirty="0">
                <a:solidFill>
                  <a:srgbClr val="C7CBD1"/>
                </a:solidFill>
                <a:latin typeface="Calibri" pitchFamily="34" charset="0"/>
              </a:rPr>
              <a:t>→</a:t>
            </a:r>
          </a:p>
        </p:txBody>
      </p:sp>
      <p:sp>
        <p:nvSpPr>
          <p:cNvPr id="40" name="Card4 bg"/>
          <p:cNvSpPr/>
          <p:nvPr/>
        </p:nvSpPr>
        <p:spPr>
          <a:xfrm>
            <a:off x="6779400" y="1828800"/>
            <a:ext cx="190740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41" name="Card4 num"/>
          <p:cNvSpPr/>
          <p:nvPr/>
        </p:nvSpPr>
        <p:spPr>
          <a:xfrm>
            <a:off x="7383100" y="2011680"/>
            <a:ext cx="700000" cy="700000"/>
          </a:xfrm>
          <a:prstGeom prst="ellipse">
            <a:avLst/>
          </a:prstGeom>
          <a:solidFill>
            <a:srgbClr val="71A499"/>
          </a:solidFill>
          <a:ln>
            <a:noFill/>
          </a:ln>
        </p:spPr>
        <p:txBody>
          <a:bodyPr wrap="square" lIns="0" tIns="0" rIns="0" bIns="0" anchor="ctr" anchorCtr="1"/>
          <a:lstStyle/>
          <a:p>
            <a:pPr algn="ctr">
              <a:buNone/>
            </a:pPr>
            <a:r>
              <a:rPr lang="en-US" sz="2000" b="1" dirty="0">
                <a:solidFill>
                  <a:srgbClr val="FFFFFF"/>
                </a:solidFill>
                <a:latin typeface="Cambria" pitchFamily="34" charset="0"/>
              </a:rPr>
              <a:t>4</a:t>
            </a:r>
          </a:p>
        </p:txBody>
      </p:sp>
      <p:sp>
        <p:nvSpPr>
          <p:cNvPr id="42" name="Card4 tag"/>
          <p:cNvSpPr/>
          <p:nvPr/>
        </p:nvSpPr>
        <p:spPr>
          <a:xfrm>
            <a:off x="6825120" y="2803120"/>
            <a:ext cx="1815960" cy="228600"/>
          </a:xfrm>
          <a:prstGeom prst="rect">
            <a:avLst/>
          </a:prstGeom>
          <a:noFill/>
          <a:ln/>
        </p:spPr>
        <p:txBody>
          <a:bodyPr wrap="square" lIns="0" rIns="0" rtlCol="0" anchor="ctr"/>
          <a:lstStyle/>
          <a:p>
            <a:pPr algn="ctr">
              <a:buNone/>
            </a:pPr>
            <a:r>
              <a:rPr lang="en-US" sz="1000" b="1" kern="0" spc="150" dirty="0">
                <a:solidFill>
                  <a:srgbClr val="71A499"/>
                </a:solidFill>
                <a:latin typeface="Calibri" pitchFamily="34" charset="0"/>
              </a:rPr>
              <a:t>STEPS 7–10</a:t>
            </a:r>
          </a:p>
        </p:txBody>
      </p:sp>
      <p:sp>
        <p:nvSpPr>
          <p:cNvPr id="43" name="Card4 title"/>
          <p:cNvSpPr/>
          <p:nvPr/>
        </p:nvSpPr>
        <p:spPr>
          <a:xfrm>
            <a:off x="6825120" y="3077440"/>
            <a:ext cx="1815960" cy="480060"/>
          </a:xfrm>
          <a:prstGeom prst="rect">
            <a:avLst/>
          </a:prstGeom>
          <a:noFill/>
          <a:ln/>
        </p:spPr>
        <p:txBody>
          <a:bodyPr wrap="square" lIns="0" rIns="0" rtlCol="0" anchor="t"/>
          <a:lstStyle/>
          <a:p>
            <a:pPr algn="ctr">
              <a:buNone/>
            </a:pPr>
            <a:r>
              <a:rPr lang="en-US" sz="1400" b="1" dirty="0">
                <a:solidFill>
                  <a:srgbClr val="1A355E"/>
                </a:solidFill>
                <a:latin typeface="Cambria" pitchFamily="34" charset="0"/>
              </a:rPr>
              <a:t>Hypothesise &amp; act</a:t>
            </a:r>
          </a:p>
        </p:txBody>
      </p:sp>
      <p:sp>
        <p:nvSpPr>
          <p:cNvPr id="44" name="Card4 desc"/>
          <p:cNvSpPr/>
          <p:nvPr/>
        </p:nvSpPr>
        <p:spPr>
          <a:xfrm>
            <a:off x="6825120" y="3603370"/>
            <a:ext cx="181596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Develop, evaluate, and refine hypotheses, reconcile with laboratory and environmental studies, implement control, prevention and surveillance, communicate findings</a:t>
            </a:r>
          </a:p>
        </p:txBody>
      </p:sp>
      <p:sp>
        <p:nvSpPr>
          <p:cNvPr id="50" name="Footer"/>
          <p:cNvSpPr/>
          <p:nvPr/>
        </p:nvSpPr>
        <p:spPr>
          <a:xfrm>
            <a:off x="457200" y="4788535"/>
            <a:ext cx="8229600" cy="320040"/>
          </a:xfrm>
          <a:prstGeom prst="rect">
            <a:avLst/>
          </a:prstGeom>
          <a:noFill/>
          <a:ln/>
        </p:spPr>
        <p:txBody>
          <a:bodyPr wrap="square" rtlCol="0" anchor="ctr"/>
          <a:lstStyle/>
          <a:p>
            <a:pPr marL="0" indent="0" algn="ctr">
              <a:buNone/>
            </a:pPr>
            <a:r>
              <a:rPr lang="en-US" sz="1200" i="1" dirty="0">
                <a:solidFill>
                  <a:srgbClr val="E64626"/>
                </a:solidFill>
                <a:latin typeface="Calibri" pitchFamily="34" charset="0"/>
              </a:rPr>
              <a:t>Everything in this workshop lives inside “place” and “time” — two of the three pillars of descriptive epidemiology (the third is person).</a:t>
            </a:r>
          </a:p>
        </p:txBody>
      </p:sp>
      <p:sp>
        <p:nvSpPr>
          <p:cNvPr id="34" name="Card3 desc"/>
          <p:cNvSpPr/>
          <p:nvPr/>
        </p:nvSpPr>
        <p:spPr>
          <a:xfrm>
            <a:off x="4717720" y="3672840"/>
            <a:ext cx="1815960" cy="868680"/>
          </a:xfrm>
          <a:prstGeom prst="rect">
            <a:avLst/>
          </a:prstGeom>
          <a:noFill/>
          <a:ln/>
        </p:spPr>
        <p:txBody>
          <a:bodyPr wrap="square" lIns="0" rIns="0" rtlCol="0" anchor="t"/>
          <a:lstStyle/>
          <a:p>
            <a:pPr algn="ctr">
              <a:buNone/>
            </a:pPr>
            <a:r>
              <a:rPr lang="en-US" sz="1000" i="1" dirty="0">
                <a:solidFill>
                  <a:srgbClr val="FFFFFF"/>
                </a:solidFill>
                <a:latin typeface="Calibri" pitchFamily="34" charset="0"/>
              </a:rPr>
              <a:t>Who, what, </a:t>
            </a:r>
            <a:r>
              <a:rPr lang="en-US" sz="1000" b="1" i="1" u="sng" dirty="0">
                <a:solidFill>
                  <a:srgbClr val="FFFFFF"/>
                </a:solidFill>
                <a:latin typeface="Calibri" pitchFamily="34" charset="0"/>
              </a:rPr>
              <a:t>when, where</a:t>
            </a:r>
            <a:r>
              <a:rPr lang="en-US" sz="1000" i="1" dirty="0">
                <a:solidFill>
                  <a:srgbClr val="FFFFFF"/>
                </a:solidFill>
                <a:latin typeface="Calibri"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lIns="0" tIns="0" rIns="0" bIns="0" rtlCol="0" anchor="ctr"/>
          <a:lstStyle/>
          <a:p>
            <a:pPr marL="0" indent="0">
              <a:buNone/>
            </a:pPr>
            <a:r>
              <a:rPr lang="en-US" sz="2400" b="1" dirty="0">
                <a:solidFill>
                  <a:srgbClr val="E64626"/>
                </a:solidFill>
                <a:latin typeface="Aptos" panose="020B0004020202020204" pitchFamily="34" charset="0"/>
                <a:ea typeface="Cambria" pitchFamily="34" charset="-122"/>
                <a:cs typeface="Cambria" pitchFamily="34" charset="-120"/>
              </a:rPr>
              <a:t>The core question</a:t>
            </a:r>
            <a:endParaRPr lang="en-US" sz="2400" b="1" dirty="0">
              <a:solidFill>
                <a:srgbClr val="E64626"/>
              </a:solidFill>
              <a:latin typeface="Aptos" panose="020B0004020202020204" pitchFamily="34" charset="0"/>
            </a:endParaRPr>
          </a:p>
        </p:txBody>
      </p:sp>
      <p:sp>
        <p:nvSpPr>
          <p:cNvPr id="3" name="Text 1"/>
          <p:cNvSpPr/>
          <p:nvPr/>
        </p:nvSpPr>
        <p:spPr>
          <a:xfrm>
            <a:off x="640080" y="1280160"/>
            <a:ext cx="7863840" cy="2743200"/>
          </a:xfrm>
          <a:prstGeom prst="rect">
            <a:avLst/>
          </a:prstGeom>
          <a:noFill/>
          <a:ln/>
        </p:spPr>
        <p:txBody>
          <a:bodyPr wrap="square" lIns="0" tIns="0" rIns="0" bIns="0" rtlCol="0" anchor="t"/>
          <a:lstStyle/>
          <a:p>
            <a:r>
              <a:rPr lang="en-US" sz="2800" i="1" dirty="0">
                <a:solidFill>
                  <a:srgbClr val="1A355E"/>
                </a:solidFill>
                <a:latin typeface="Cambria" pitchFamily="34" charset="0"/>
                <a:ea typeface="Cambria" pitchFamily="34" charset="-122"/>
                <a:cs typeface="Cambria" pitchFamily="34" charset="-120"/>
              </a:rPr>
              <a:t>Are cases occurring with respect to each other – or some feature of the environment – spatially or temporally more frequently than would be expected by chance?</a:t>
            </a:r>
            <a:endParaRPr lang="en-US" sz="2800" dirty="0"/>
          </a:p>
        </p:txBody>
      </p:sp>
      <p:sp>
        <p:nvSpPr>
          <p:cNvPr id="4" name="Shape 2"/>
          <p:cNvSpPr/>
          <p:nvPr/>
        </p:nvSpPr>
        <p:spPr>
          <a:xfrm>
            <a:off x="640080" y="4206240"/>
            <a:ext cx="548640" cy="0"/>
          </a:xfrm>
          <a:prstGeom prst="line">
            <a:avLst/>
          </a:prstGeom>
          <a:noFill/>
          <a:ln w="38100">
            <a:solidFill>
              <a:srgbClr val="E64626"/>
            </a:solidFill>
            <a:prstDash val="solid"/>
          </a:ln>
        </p:spPr>
        <p:txBody>
          <a:bodyPr/>
          <a:lstStyle/>
          <a:p>
            <a:endParaRPr lang="en-AU"/>
          </a:p>
        </p:txBody>
      </p:sp>
      <p:sp>
        <p:nvSpPr>
          <p:cNvPr id="5" name="Text 3"/>
          <p:cNvSpPr/>
          <p:nvPr/>
        </p:nvSpPr>
        <p:spPr>
          <a:xfrm>
            <a:off x="640080" y="4343400"/>
            <a:ext cx="7863840" cy="365760"/>
          </a:xfrm>
          <a:prstGeom prst="rect">
            <a:avLst/>
          </a:prstGeom>
          <a:noFill/>
          <a:ln/>
        </p:spPr>
        <p:txBody>
          <a:bodyPr wrap="square" rtlCol="0" anchor="ctr"/>
          <a:lstStyle/>
          <a:p>
            <a:pPr marL="0" indent="0">
              <a:buNone/>
            </a:pPr>
            <a:r>
              <a:rPr lang="en-US" sz="1400" i="1" dirty="0">
                <a:solidFill>
                  <a:srgbClr val="E64626"/>
                </a:solidFill>
                <a:latin typeface="Aptos" panose="020B0004020202020204" pitchFamily="34" charset="0"/>
                <a:ea typeface="Calibri" pitchFamily="34" charset="-122"/>
                <a:cs typeface="Calibri" pitchFamily="34" charset="-120"/>
              </a:rPr>
              <a:t>This single question motivates the methods we'll use today.</a:t>
            </a:r>
            <a:endParaRPr lang="en-US" sz="1400" dirty="0">
              <a:solidFill>
                <a:srgbClr val="E64626"/>
              </a:solidFill>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cs typeface="Cambria" pitchFamily="34" charset="-120"/>
              </a:rPr>
              <a:t>A classic example: London, 1854</a:t>
            </a:r>
            <a:endParaRPr lang="en-US" sz="3000" dirty="0">
              <a:solidFill>
                <a:srgbClr val="E64626"/>
              </a:solidFill>
              <a:latin typeface="Aptos" panose="020B0004020202020204" pitchFamily="34" charset="0"/>
            </a:endParaRP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hape 2"/>
          <p:cNvSpPr/>
          <p:nvPr/>
        </p:nvSpPr>
        <p:spPr>
          <a:xfrm>
            <a:off x="457200" y="1188720"/>
            <a:ext cx="411480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5" name="Text 3"/>
          <p:cNvSpPr/>
          <p:nvPr/>
        </p:nvSpPr>
        <p:spPr>
          <a:xfrm>
            <a:off x="731520" y="1450757"/>
            <a:ext cx="3566160" cy="1280160"/>
          </a:xfrm>
          <a:prstGeom prst="rect">
            <a:avLst/>
          </a:prstGeom>
          <a:noFill/>
          <a:ln/>
        </p:spPr>
        <p:txBody>
          <a:bodyPr wrap="square" rtlCol="0" anchor="t"/>
          <a:lstStyle/>
          <a:p>
            <a:pPr marL="0" indent="0">
              <a:buNone/>
            </a:pPr>
            <a:r>
              <a:rPr lang="en-US" sz="1500" dirty="0">
                <a:solidFill>
                  <a:srgbClr val="424242"/>
                </a:solidFill>
                <a:latin typeface="Aptos" panose="020B0004020202020204" pitchFamily="34" charset="0"/>
                <a:ea typeface="Calibri" pitchFamily="34" charset="-122"/>
                <a:cs typeface="Calibri" pitchFamily="34" charset="-120"/>
              </a:rPr>
              <a:t>John Snow plotted cholera deaths on a street map and noticed they clustered around a single water pump on Broad Street.</a:t>
            </a:r>
            <a:endParaRPr lang="en-US" sz="1500" dirty="0">
              <a:latin typeface="Aptos" panose="020B0004020202020204" pitchFamily="34" charset="0"/>
            </a:endParaRPr>
          </a:p>
        </p:txBody>
      </p:sp>
      <p:sp>
        <p:nvSpPr>
          <p:cNvPr id="6" name="Text 4"/>
          <p:cNvSpPr/>
          <p:nvPr/>
        </p:nvSpPr>
        <p:spPr>
          <a:xfrm>
            <a:off x="731520" y="2822357"/>
            <a:ext cx="3566160" cy="914400"/>
          </a:xfrm>
          <a:prstGeom prst="rect">
            <a:avLst/>
          </a:prstGeom>
          <a:noFill/>
          <a:ln/>
        </p:spPr>
        <p:txBody>
          <a:bodyPr wrap="square" rtlCol="0" anchor="t"/>
          <a:lstStyle/>
          <a:p>
            <a:pPr marL="0" indent="0">
              <a:buNone/>
            </a:pPr>
            <a:r>
              <a:rPr lang="en-US" sz="1500" i="1" dirty="0">
                <a:solidFill>
                  <a:srgbClr val="1A355E"/>
                </a:solidFill>
                <a:latin typeface="Aptos" panose="020B0004020202020204" pitchFamily="34" charset="0"/>
                <a:ea typeface="Calibri" pitchFamily="34" charset="-122"/>
                <a:cs typeface="Calibri" pitchFamily="34" charset="-120"/>
              </a:rPr>
              <a:t>Removing the pump handle ended the outbreak — and arguably founded modern epidemiology.</a:t>
            </a:r>
            <a:endParaRPr lang="en-US" sz="1500" dirty="0">
              <a:solidFill>
                <a:srgbClr val="1A355E"/>
              </a:solidFill>
              <a:latin typeface="Aptos" panose="020B0004020202020204" pitchFamily="34" charset="0"/>
            </a:endParaRPr>
          </a:p>
        </p:txBody>
      </p:sp>
      <p:sp>
        <p:nvSpPr>
          <p:cNvPr id="7" name="Shape 5"/>
          <p:cNvSpPr/>
          <p:nvPr/>
        </p:nvSpPr>
        <p:spPr>
          <a:xfrm>
            <a:off x="4846320" y="1188720"/>
            <a:ext cx="3840480" cy="3520440"/>
          </a:xfrm>
          <a:prstGeom prst="roundRect">
            <a:avLst>
              <a:gd name="adj" fmla="val 207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074920" y="1417320"/>
            <a:ext cx="3383280" cy="320040"/>
          </a:xfrm>
          <a:prstGeom prst="rect">
            <a:avLst/>
          </a:prstGeom>
          <a:noFill/>
          <a:ln/>
        </p:spPr>
        <p:txBody>
          <a:bodyPr wrap="square" rtlCol="0" anchor="ctr"/>
          <a:lstStyle/>
          <a:p>
            <a:pPr marL="0" indent="0">
              <a:buNone/>
            </a:pPr>
            <a:r>
              <a:rPr lang="en-US" sz="1200" b="1" kern="0" spc="300" dirty="0">
                <a:solidFill>
                  <a:srgbClr val="D4A574"/>
                </a:solidFill>
                <a:latin typeface="Aptos" panose="020B0004020202020204" pitchFamily="34" charset="0"/>
                <a:ea typeface="Calibri" pitchFamily="34" charset="-122"/>
                <a:cs typeface="Calibri" pitchFamily="34" charset="-120"/>
              </a:rPr>
              <a:t>THE TAKEAWAY</a:t>
            </a:r>
            <a:endParaRPr lang="en-US" sz="1200" dirty="0">
              <a:latin typeface="Aptos" panose="020B0004020202020204" pitchFamily="34" charset="0"/>
            </a:endParaRPr>
          </a:p>
        </p:txBody>
      </p:sp>
      <p:sp>
        <p:nvSpPr>
          <p:cNvPr id="9" name="Text 7"/>
          <p:cNvSpPr/>
          <p:nvPr/>
        </p:nvSpPr>
        <p:spPr>
          <a:xfrm>
            <a:off x="5074920" y="1783080"/>
            <a:ext cx="3383280" cy="1280160"/>
          </a:xfrm>
          <a:prstGeom prst="rect">
            <a:avLst/>
          </a:prstGeom>
          <a:noFill/>
          <a:ln/>
        </p:spPr>
        <p:txBody>
          <a:bodyPr wrap="square" rtlCol="0" anchor="t"/>
          <a:lstStyle/>
          <a:p>
            <a:pPr marL="0" indent="0">
              <a:buNone/>
            </a:pPr>
            <a:r>
              <a:rPr lang="en-US" sz="2200" dirty="0">
                <a:solidFill>
                  <a:srgbClr val="FFFFFF"/>
                </a:solidFill>
                <a:latin typeface="Cambria" pitchFamily="34" charset="0"/>
                <a:ea typeface="Cambria" pitchFamily="34" charset="-122"/>
                <a:cs typeface="Cambria" pitchFamily="34" charset="-120"/>
              </a:rPr>
              <a:t>A map can reveal patterns that a table of case counts cannot.</a:t>
            </a:r>
            <a:endParaRPr lang="en-US" sz="2200" dirty="0"/>
          </a:p>
        </p:txBody>
      </p:sp>
      <p:sp>
        <p:nvSpPr>
          <p:cNvPr id="10" name="Text 8"/>
          <p:cNvSpPr/>
          <p:nvPr/>
        </p:nvSpPr>
        <p:spPr>
          <a:xfrm>
            <a:off x="5074920" y="3246120"/>
            <a:ext cx="3383280" cy="457200"/>
          </a:xfrm>
          <a:prstGeom prst="rect">
            <a:avLst/>
          </a:prstGeom>
          <a:noFill/>
          <a:ln/>
        </p:spPr>
        <p:txBody>
          <a:bodyPr wrap="square" rtlCol="0" anchor="ctr"/>
          <a:lstStyle/>
          <a:p>
            <a:pPr marL="0" indent="0">
              <a:buNone/>
            </a:pPr>
            <a:r>
              <a:rPr lang="en-US" sz="1400" i="1" dirty="0">
                <a:solidFill>
                  <a:srgbClr val="D4A574"/>
                </a:solidFill>
                <a:latin typeface="Aptos" panose="020B0004020202020204" pitchFamily="34" charset="0"/>
                <a:ea typeface="Calibri" pitchFamily="34" charset="-122"/>
                <a:cs typeface="Calibri" pitchFamily="34" charset="-120"/>
              </a:rPr>
              <a:t>Snow didn't have R. You do.</a:t>
            </a:r>
            <a:endParaRPr lang="en-US" sz="1400" dirty="0">
              <a:latin typeface="Aptos" panose="020B0004020202020204" pitchFamily="34" charset="0"/>
            </a:endParaRPr>
          </a:p>
        </p:txBody>
      </p:sp>
      <p:sp>
        <p:nvSpPr>
          <p:cNvPr id="11" name="Text 9"/>
          <p:cNvSpPr/>
          <p:nvPr/>
        </p:nvSpPr>
        <p:spPr>
          <a:xfrm>
            <a:off x="5074920" y="3703320"/>
            <a:ext cx="3383280" cy="914400"/>
          </a:xfrm>
          <a:prstGeom prst="rect">
            <a:avLst/>
          </a:prstGeom>
          <a:noFill/>
          <a:ln/>
        </p:spPr>
        <p:txBody>
          <a:bodyPr wrap="square" rtlCol="0" anchor="t"/>
          <a:lstStyle/>
          <a:p>
            <a:pPr marL="0" indent="0">
              <a:buNone/>
            </a:pPr>
            <a:r>
              <a:rPr lang="en-US" sz="1300" dirty="0">
                <a:solidFill>
                  <a:srgbClr val="FFFFFF"/>
                </a:solidFill>
                <a:latin typeface="Aptos" panose="020B0004020202020204" pitchFamily="34" charset="0"/>
                <a:ea typeface="Calibri" pitchFamily="34" charset="-122"/>
                <a:cs typeface="Calibri" pitchFamily="34" charset="-120"/>
              </a:rPr>
              <a:t>Today we'll build the same kind of investigation with code.</a:t>
            </a:r>
            <a:endParaRPr lang="en-US" sz="13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78869-D205-9DAC-7072-13020294AF8C}"/>
              </a:ext>
            </a:extLst>
          </p:cNvPr>
          <p:cNvSpPr>
            <a:spLocks noGrp="1"/>
          </p:cNvSpPr>
          <p:nvPr>
            <p:ph sz="half" idx="2"/>
          </p:nvPr>
        </p:nvSpPr>
        <p:spPr>
          <a:xfrm>
            <a:off x="549632" y="887553"/>
            <a:ext cx="2530023" cy="3599668"/>
          </a:xfrm>
        </p:spPr>
        <p:txBody>
          <a:bodyPr/>
          <a:lstStyle/>
          <a:p>
            <a:r>
              <a:rPr lang="en-AU" sz="1200" b="1" dirty="0">
                <a:latin typeface="Aptos" panose="020B0004020202020204" pitchFamily="34" charset="0"/>
              </a:rPr>
              <a:t>John Snow 1850s</a:t>
            </a:r>
          </a:p>
          <a:p>
            <a:r>
              <a:rPr lang="en-AU" sz="1200" dirty="0">
                <a:latin typeface="Aptos" panose="020B0004020202020204" pitchFamily="34" charset="0"/>
              </a:rPr>
              <a:t>‘Difference-in-difference’ method to compare cholera mortality rate (deaths/100,000 people) in London</a:t>
            </a:r>
          </a:p>
          <a:p>
            <a:r>
              <a:rPr lang="en-AU" sz="1200" dirty="0">
                <a:latin typeface="Aptos" panose="020B0004020202020204" pitchFamily="34" charset="0"/>
              </a:rPr>
              <a:t>Outbreak in 1849</a:t>
            </a:r>
          </a:p>
          <a:p>
            <a:pPr marL="171450" indent="-171450">
              <a:buFont typeface="Arial" panose="020B0604020202020204" pitchFamily="34" charset="0"/>
              <a:buChar char="•"/>
            </a:pPr>
            <a:r>
              <a:rPr lang="en-AU" sz="1200" dirty="0">
                <a:latin typeface="Aptos" panose="020B0004020202020204" pitchFamily="34" charset="0"/>
              </a:rPr>
              <a:t>Houses in the same area were supplied by two different water companies (otherwise all households were similar).</a:t>
            </a:r>
          </a:p>
          <a:p>
            <a:pPr marL="171450" indent="-171450">
              <a:buFont typeface="Arial" panose="020B0604020202020204" pitchFamily="34" charset="0"/>
              <a:buChar char="•"/>
            </a:pPr>
            <a:r>
              <a:rPr lang="en-AU" sz="1200" dirty="0">
                <a:latin typeface="Aptos" panose="020B0004020202020204" pitchFamily="34" charset="0"/>
              </a:rPr>
              <a:t>Another outbreak occurred in 1854 after the Lambeth Water company had moved their source upstream (cleaner water).</a:t>
            </a:r>
          </a:p>
          <a:p>
            <a:pPr marL="171450" indent="-171450">
              <a:buFont typeface="Arial" panose="020B0604020202020204" pitchFamily="34" charset="0"/>
              <a:buChar char="•"/>
            </a:pPr>
            <a:r>
              <a:rPr lang="en-AU" sz="1200" dirty="0">
                <a:latin typeface="Aptos" panose="020B0004020202020204" pitchFamily="34" charset="0"/>
              </a:rPr>
              <a:t>Demonstrated water source associated with deaths</a:t>
            </a:r>
          </a:p>
          <a:p>
            <a:pPr marL="171450" indent="-171450">
              <a:buFont typeface="Arial" panose="020B0604020202020204" pitchFamily="34" charset="0"/>
              <a:buChar char="•"/>
            </a:pPr>
            <a:r>
              <a:rPr lang="en-AU" sz="1200" dirty="0">
                <a:latin typeface="Aptos" panose="020B0004020202020204" pitchFamily="34" charset="0"/>
              </a:rPr>
              <a:t>Removed the pump handle.</a:t>
            </a:r>
          </a:p>
          <a:p>
            <a:pPr marL="171450" indent="-171450">
              <a:buFont typeface="Arial" panose="020B0604020202020204" pitchFamily="34" charset="0"/>
              <a:buChar char="•"/>
            </a:pPr>
            <a:endParaRPr lang="en-AU" sz="1200" dirty="0">
              <a:latin typeface="Aptos" panose="020B0004020202020204" pitchFamily="34" charset="0"/>
            </a:endParaRPr>
          </a:p>
        </p:txBody>
      </p:sp>
      <p:pic>
        <p:nvPicPr>
          <p:cNvPr id="2052" name="Picture 4">
            <a:extLst>
              <a:ext uri="{FF2B5EF4-FFF2-40B4-BE49-F238E27FC236}">
                <a16:creationId xmlns:a16="http://schemas.microsoft.com/office/drawing/2014/main" id="{48AE2A4E-211C-5F4C-DCE6-8B8D0364A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236" y="2017498"/>
            <a:ext cx="1784878" cy="237983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44C20D3-ECD4-EABA-A983-D0E223B558DE}"/>
              </a:ext>
            </a:extLst>
          </p:cNvPr>
          <p:cNvSpPr txBox="1"/>
          <p:nvPr/>
        </p:nvSpPr>
        <p:spPr>
          <a:xfrm>
            <a:off x="3837144" y="255380"/>
            <a:ext cx="2288867" cy="830997"/>
          </a:xfrm>
          <a:prstGeom prst="rect">
            <a:avLst/>
          </a:prstGeom>
          <a:noFill/>
        </p:spPr>
        <p:txBody>
          <a:bodyPr wrap="square">
            <a:spAutoFit/>
          </a:bodyPr>
          <a:lstStyle/>
          <a:p>
            <a:r>
              <a:rPr lang="en-AU" sz="800" b="0" i="0" dirty="0">
                <a:solidFill>
                  <a:srgbClr val="1B1B1B"/>
                </a:solidFill>
                <a:effectLst/>
                <a:latin typeface="Aptos" panose="020B0004020202020204" pitchFamily="34" charset="0"/>
              </a:rPr>
              <a:t>Caniglia EC, Murray EJ. Difference-in-Difference in the Time of Cholera: a Gentle Introduction for Epidemiologists. Curr Epidemiol Rep. 2020 Dec;7(4):203-211. doi: 10.1007/s40471-020-00245-2. </a:t>
            </a:r>
            <a:r>
              <a:rPr lang="en-AU" sz="800" b="0" i="0" dirty="0" err="1">
                <a:solidFill>
                  <a:srgbClr val="1B1B1B"/>
                </a:solidFill>
                <a:effectLst/>
                <a:latin typeface="Aptos" panose="020B0004020202020204" pitchFamily="34" charset="0"/>
              </a:rPr>
              <a:t>Epub</a:t>
            </a:r>
            <a:r>
              <a:rPr lang="en-AU" sz="800" b="0" i="0" dirty="0">
                <a:solidFill>
                  <a:srgbClr val="1B1B1B"/>
                </a:solidFill>
                <a:effectLst/>
                <a:latin typeface="Aptos" panose="020B0004020202020204" pitchFamily="34" charset="0"/>
              </a:rPr>
              <a:t> 2020 Sep 23. PMID: 33791189; PMCID: PMC8006863.</a:t>
            </a:r>
            <a:endParaRPr lang="en-AU" sz="800" dirty="0">
              <a:latin typeface="Aptos" panose="020B0004020202020204" pitchFamily="34" charset="0"/>
            </a:endParaRPr>
          </a:p>
        </p:txBody>
      </p:sp>
      <p:pic>
        <p:nvPicPr>
          <p:cNvPr id="2054" name="Picture 6" descr="Figure 2:">
            <a:extLst>
              <a:ext uri="{FF2B5EF4-FFF2-40B4-BE49-F238E27FC236}">
                <a16:creationId xmlns:a16="http://schemas.microsoft.com/office/drawing/2014/main" id="{0BEEA3F4-96E8-8B1B-8EFC-24D4AF056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346" y="122899"/>
            <a:ext cx="2685412" cy="2672216"/>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John Snow's cholera map of Soho">
            <a:extLst>
              <a:ext uri="{FF2B5EF4-FFF2-40B4-BE49-F238E27FC236}">
                <a16:creationId xmlns:a16="http://schemas.microsoft.com/office/drawing/2014/main" id="{C4AA1BA3-3637-2265-8AB3-5DCBE17D33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3350" y="2927596"/>
            <a:ext cx="2889870" cy="173392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904D684-97D4-FFF5-EF71-37D1A98DCA27}"/>
              </a:ext>
            </a:extLst>
          </p:cNvPr>
          <p:cNvSpPr txBox="1"/>
          <p:nvPr/>
        </p:nvSpPr>
        <p:spPr>
          <a:xfrm>
            <a:off x="3247350" y="4682921"/>
            <a:ext cx="4572000" cy="253916"/>
          </a:xfrm>
          <a:prstGeom prst="rect">
            <a:avLst/>
          </a:prstGeom>
          <a:noFill/>
        </p:spPr>
        <p:txBody>
          <a:bodyPr wrap="square">
            <a:spAutoFit/>
          </a:bodyPr>
          <a:lstStyle/>
          <a:p>
            <a:r>
              <a:rPr lang="en-AU" sz="1050" dirty="0">
                <a:hlinkClick r:id="rId5"/>
              </a:rPr>
              <a:t>https://blog.rtwilson.com/john-snows-cholera-data-in-more-formats/</a:t>
            </a:r>
            <a:endParaRPr lang="en-AU" sz="1050" dirty="0"/>
          </a:p>
        </p:txBody>
      </p:sp>
    </p:spTree>
    <p:extLst>
      <p:ext uri="{BB962C8B-B14F-4D97-AF65-F5344CB8AC3E}">
        <p14:creationId xmlns:p14="http://schemas.microsoft.com/office/powerpoint/2010/main" val="1805013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286816-1556-91C6-ABDC-304503A321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9655" y="1883929"/>
            <a:ext cx="4549094" cy="3153950"/>
          </a:xfrm>
          <a:prstGeom prst="rect">
            <a:avLst/>
          </a:prstGeom>
        </p:spPr>
      </p:pic>
      <p:pic>
        <p:nvPicPr>
          <p:cNvPr id="7" name="Picture 6">
            <a:extLst>
              <a:ext uri="{FF2B5EF4-FFF2-40B4-BE49-F238E27FC236}">
                <a16:creationId xmlns:a16="http://schemas.microsoft.com/office/drawing/2014/main" id="{351F332C-6CDF-180E-ABD3-E739D4BCB2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251" y="105622"/>
            <a:ext cx="4355131" cy="3023868"/>
          </a:xfrm>
          <a:prstGeom prst="rect">
            <a:avLst/>
          </a:prstGeom>
        </p:spPr>
      </p:pic>
    </p:spTree>
    <p:extLst>
      <p:ext uri="{BB962C8B-B14F-4D97-AF65-F5344CB8AC3E}">
        <p14:creationId xmlns:p14="http://schemas.microsoft.com/office/powerpoint/2010/main" val="3652307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Spatial</a:t>
            </a:r>
            <a:r>
              <a:rPr lang="en-US" sz="3000" b="1" dirty="0">
                <a:solidFill>
                  <a:srgbClr val="1A355E"/>
                </a:solidFill>
                <a:latin typeface="Cambria" pitchFamily="34" charset="0"/>
                <a:ea typeface="Cambria" pitchFamily="34" charset="-122"/>
                <a:cs typeface="Cambria" pitchFamily="34" charset="-120"/>
              </a:rPr>
              <a:t> </a:t>
            </a:r>
            <a:r>
              <a:rPr lang="en-US" sz="3000" b="1" dirty="0">
                <a:solidFill>
                  <a:srgbClr val="E64626"/>
                </a:solidFill>
                <a:latin typeface="Aptos" panose="020B0004020202020204" pitchFamily="34" charset="0"/>
                <a:ea typeface="Cambria" pitchFamily="34" charset="-122"/>
              </a:rPr>
              <a:t>data come in two flavours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hape 2"/>
          <p:cNvSpPr/>
          <p:nvPr/>
        </p:nvSpPr>
        <p:spPr>
          <a:xfrm>
            <a:off x="457200" y="1188720"/>
            <a:ext cx="402336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5" name="Text 3"/>
          <p:cNvSpPr/>
          <p:nvPr/>
        </p:nvSpPr>
        <p:spPr>
          <a:xfrm>
            <a:off x="685800" y="137160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ea typeface="Calibri" pitchFamily="34" charset="-122"/>
                <a:cs typeface="Calibri" pitchFamily="34" charset="-120"/>
              </a:rPr>
              <a:t>VECTOR</a:t>
            </a:r>
            <a:endParaRPr lang="en-US" sz="1200" dirty="0"/>
          </a:p>
        </p:txBody>
      </p:sp>
      <p:sp>
        <p:nvSpPr>
          <p:cNvPr id="6" name="Text 4"/>
          <p:cNvSpPr/>
          <p:nvPr/>
        </p:nvSpPr>
        <p:spPr>
          <a:xfrm>
            <a:off x="685800" y="1691640"/>
            <a:ext cx="3566160" cy="411480"/>
          </a:xfrm>
          <a:prstGeom prst="rect">
            <a:avLst/>
          </a:prstGeom>
          <a:noFill/>
          <a:ln/>
        </p:spPr>
        <p:txBody>
          <a:bodyPr wrap="square" rtlCol="0" anchor="ctr"/>
          <a:lstStyle/>
          <a:p>
            <a:pPr marL="0" indent="0">
              <a:buNone/>
            </a:pPr>
            <a:r>
              <a:rPr lang="en-US" sz="1800" b="1" dirty="0">
                <a:solidFill>
                  <a:srgbClr val="1A355E"/>
                </a:solidFill>
                <a:latin typeface="Cambria" pitchFamily="34" charset="0"/>
                <a:ea typeface="Cambria" pitchFamily="34" charset="-122"/>
                <a:cs typeface="Cambria" pitchFamily="34" charset="-120"/>
              </a:rPr>
              <a:t>Discrete features with exact coordinates</a:t>
            </a:r>
            <a:endParaRPr lang="en-US" sz="1800" dirty="0"/>
          </a:p>
        </p:txBody>
      </p:sp>
      <p:sp>
        <p:nvSpPr>
          <p:cNvPr id="7" name="Text 5"/>
          <p:cNvSpPr/>
          <p:nvPr/>
        </p:nvSpPr>
        <p:spPr>
          <a:xfrm>
            <a:off x="685800" y="2331720"/>
            <a:ext cx="3566160" cy="2011680"/>
          </a:xfrm>
          <a:prstGeom prst="rect">
            <a:avLst/>
          </a:prstGeom>
          <a:noFill/>
          <a:ln/>
        </p:spPr>
        <p:txBody>
          <a:bodyPr wrap="square" rtlCol="0" anchor="ctr"/>
          <a:lstStyle/>
          <a:p>
            <a:pPr marL="0" indent="0">
              <a:spcAft>
                <a:spcPts val="600"/>
              </a:spcAft>
              <a:buNone/>
            </a:pPr>
            <a:r>
              <a:rPr lang="en-US" sz="1400" b="1" dirty="0">
                <a:solidFill>
                  <a:srgbClr val="E64626"/>
                </a:solidFill>
                <a:latin typeface="Aptos" panose="020B0004020202020204" pitchFamily="34" charset="0"/>
                <a:ea typeface="Calibri" pitchFamily="34" charset="-122"/>
                <a:cs typeface="Calibri" pitchFamily="34" charset="-120"/>
              </a:rPr>
              <a:t>Points  </a:t>
            </a:r>
            <a:r>
              <a:rPr lang="en-US" sz="1400" dirty="0">
                <a:solidFill>
                  <a:srgbClr val="424242"/>
                </a:solidFill>
                <a:latin typeface="Aptos" panose="020B0004020202020204" pitchFamily="34" charset="0"/>
                <a:ea typeface="Calibri" pitchFamily="34" charset="-122"/>
                <a:cs typeface="Calibri" pitchFamily="34" charset="-120"/>
              </a:rPr>
              <a:t>— e.g. a single outbreak location</a:t>
            </a:r>
            <a:endParaRPr lang="en-US" sz="1400" dirty="0">
              <a:latin typeface="Aptos" panose="020B0004020202020204" pitchFamily="34" charset="0"/>
            </a:endParaRPr>
          </a:p>
          <a:p>
            <a:pPr marL="0" indent="0">
              <a:spcAft>
                <a:spcPts val="600"/>
              </a:spcAft>
              <a:buNone/>
            </a:pPr>
            <a:r>
              <a:rPr lang="en-US" sz="1400" b="1" dirty="0">
                <a:solidFill>
                  <a:srgbClr val="E64626"/>
                </a:solidFill>
                <a:latin typeface="Aptos" panose="020B0004020202020204" pitchFamily="34" charset="0"/>
                <a:ea typeface="Calibri" pitchFamily="34" charset="-122"/>
                <a:cs typeface="Calibri" pitchFamily="34" charset="-120"/>
              </a:rPr>
              <a:t>Lines  </a:t>
            </a:r>
            <a:r>
              <a:rPr lang="en-US" sz="1400" dirty="0">
                <a:solidFill>
                  <a:srgbClr val="424242"/>
                </a:solidFill>
                <a:latin typeface="Aptos" panose="020B0004020202020204" pitchFamily="34" charset="0"/>
                <a:ea typeface="Calibri" pitchFamily="34" charset="-122"/>
                <a:cs typeface="Calibri" pitchFamily="34" charset="-120"/>
              </a:rPr>
              <a:t>— e.g. a river or a road</a:t>
            </a:r>
            <a:endParaRPr lang="en-US" sz="1400" dirty="0">
              <a:latin typeface="Aptos" panose="020B0004020202020204" pitchFamily="34" charset="0"/>
            </a:endParaRPr>
          </a:p>
          <a:p>
            <a:pPr marL="0" indent="0">
              <a:spcAft>
                <a:spcPts val="600"/>
              </a:spcAft>
              <a:buNone/>
            </a:pPr>
            <a:r>
              <a:rPr lang="en-US" sz="1400" b="1" dirty="0">
                <a:solidFill>
                  <a:srgbClr val="E64626"/>
                </a:solidFill>
                <a:latin typeface="Aptos" panose="020B0004020202020204" pitchFamily="34" charset="0"/>
                <a:ea typeface="Calibri" pitchFamily="34" charset="-122"/>
                <a:cs typeface="Calibri" pitchFamily="34" charset="-120"/>
              </a:rPr>
              <a:t>Polygons  </a:t>
            </a:r>
            <a:r>
              <a:rPr lang="en-US" sz="1400" dirty="0">
                <a:solidFill>
                  <a:srgbClr val="424242"/>
                </a:solidFill>
                <a:latin typeface="Aptos" panose="020B0004020202020204" pitchFamily="34" charset="0"/>
                <a:ea typeface="Calibri" pitchFamily="34" charset="-122"/>
                <a:cs typeface="Calibri" pitchFamily="34" charset="-120"/>
              </a:rPr>
              <a:t>— e.g. a district or a country</a:t>
            </a:r>
            <a:endParaRPr lang="en-US" sz="1400" dirty="0">
              <a:latin typeface="Aptos" panose="020B0004020202020204" pitchFamily="34" charset="0"/>
            </a:endParaRPr>
          </a:p>
        </p:txBody>
      </p:sp>
      <p:sp>
        <p:nvSpPr>
          <p:cNvPr id="8" name="Shape 6"/>
          <p:cNvSpPr/>
          <p:nvPr/>
        </p:nvSpPr>
        <p:spPr>
          <a:xfrm>
            <a:off x="4663440" y="1188720"/>
            <a:ext cx="402336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9" name="Text 7"/>
          <p:cNvSpPr/>
          <p:nvPr/>
        </p:nvSpPr>
        <p:spPr>
          <a:xfrm>
            <a:off x="4892040" y="137160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ea typeface="Calibri" pitchFamily="34" charset="-122"/>
                <a:cs typeface="Calibri" pitchFamily="34" charset="-120"/>
              </a:rPr>
              <a:t>RASTER</a:t>
            </a:r>
            <a:endParaRPr lang="en-US" sz="1200" dirty="0"/>
          </a:p>
        </p:txBody>
      </p:sp>
      <p:sp>
        <p:nvSpPr>
          <p:cNvPr id="10" name="Text 8"/>
          <p:cNvSpPr/>
          <p:nvPr/>
        </p:nvSpPr>
        <p:spPr>
          <a:xfrm>
            <a:off x="4892040" y="1691640"/>
            <a:ext cx="3566160" cy="411480"/>
          </a:xfrm>
          <a:prstGeom prst="rect">
            <a:avLst/>
          </a:prstGeom>
          <a:noFill/>
          <a:ln/>
        </p:spPr>
        <p:txBody>
          <a:bodyPr wrap="square" rtlCol="0" anchor="ctr"/>
          <a:lstStyle/>
          <a:p>
            <a:pPr marL="0" indent="0">
              <a:buNone/>
            </a:pPr>
            <a:r>
              <a:rPr lang="en-US" sz="1800" b="1" dirty="0">
                <a:solidFill>
                  <a:srgbClr val="1A355E"/>
                </a:solidFill>
                <a:latin typeface="Cambria" pitchFamily="34" charset="0"/>
                <a:ea typeface="Cambria" pitchFamily="34" charset="-122"/>
                <a:cs typeface="Cambria" pitchFamily="34" charset="-120"/>
              </a:rPr>
              <a:t>A grid of cells, each holding a value</a:t>
            </a:r>
            <a:endParaRPr lang="en-US" sz="1800" dirty="0"/>
          </a:p>
        </p:txBody>
      </p:sp>
      <p:sp>
        <p:nvSpPr>
          <p:cNvPr id="11" name="Text 9"/>
          <p:cNvSpPr/>
          <p:nvPr/>
        </p:nvSpPr>
        <p:spPr>
          <a:xfrm>
            <a:off x="4892040" y="2331720"/>
            <a:ext cx="3566160" cy="2011680"/>
          </a:xfrm>
          <a:prstGeom prst="rect">
            <a:avLst/>
          </a:prstGeom>
          <a:noFill/>
          <a:ln/>
        </p:spPr>
        <p:txBody>
          <a:bodyPr wrap="square" rtlCol="0" anchor="ctr"/>
          <a:lstStyle/>
          <a:p>
            <a:pPr marL="0" indent="0">
              <a:spcAft>
                <a:spcPts val="600"/>
              </a:spcAft>
              <a:buNone/>
            </a:pPr>
            <a:r>
              <a:rPr lang="en-US" sz="1400" b="1" dirty="0">
                <a:solidFill>
                  <a:srgbClr val="E64626"/>
                </a:solidFill>
                <a:latin typeface="Aptos" panose="020B0004020202020204" pitchFamily="34" charset="0"/>
                <a:ea typeface="Calibri" pitchFamily="34" charset="-122"/>
                <a:cs typeface="Calibri" pitchFamily="34" charset="-120"/>
              </a:rPr>
              <a:t>Pixels  </a:t>
            </a:r>
            <a:r>
              <a:rPr lang="en-US" sz="1400" dirty="0">
                <a:solidFill>
                  <a:srgbClr val="424242"/>
                </a:solidFill>
                <a:latin typeface="Aptos" panose="020B0004020202020204" pitchFamily="34" charset="0"/>
                <a:ea typeface="Calibri" pitchFamily="34" charset="-122"/>
                <a:cs typeface="Calibri" pitchFamily="34" charset="-120"/>
              </a:rPr>
              <a:t>of uniform size at a given resolution</a:t>
            </a:r>
            <a:endParaRPr lang="en-US" sz="1400" dirty="0">
              <a:latin typeface="Aptos" panose="020B0004020202020204" pitchFamily="34" charset="0"/>
            </a:endParaRPr>
          </a:p>
          <a:p>
            <a:pPr marL="0" indent="0">
              <a:spcAft>
                <a:spcPts val="600"/>
              </a:spcAft>
              <a:buNone/>
            </a:pPr>
            <a:r>
              <a:rPr lang="en-US" sz="1400" dirty="0">
                <a:solidFill>
                  <a:srgbClr val="424242"/>
                </a:solidFill>
                <a:latin typeface="Aptos" panose="020B0004020202020204" pitchFamily="34" charset="0"/>
                <a:ea typeface="Calibri" pitchFamily="34" charset="-122"/>
                <a:cs typeface="Calibri" pitchFamily="34" charset="-120"/>
              </a:rPr>
              <a:t>Each cell carries a measurement</a:t>
            </a:r>
            <a:endParaRPr lang="en-US" sz="1400" dirty="0">
              <a:latin typeface="Aptos" panose="020B0004020202020204" pitchFamily="34" charset="0"/>
            </a:endParaRPr>
          </a:p>
          <a:p>
            <a:pPr marL="0" indent="0">
              <a:spcAft>
                <a:spcPts val="600"/>
              </a:spcAft>
              <a:buNone/>
            </a:pPr>
            <a:endParaRPr lang="en-US" sz="1400" dirty="0">
              <a:latin typeface="Aptos" panose="020B0004020202020204" pitchFamily="34" charset="0"/>
            </a:endParaRPr>
          </a:p>
          <a:p>
            <a:pPr marL="0" indent="0">
              <a:spcAft>
                <a:spcPts val="600"/>
              </a:spcAft>
              <a:buNone/>
            </a:pPr>
            <a:r>
              <a:rPr lang="en-US" sz="1400" b="1" dirty="0">
                <a:solidFill>
                  <a:srgbClr val="E64626"/>
                </a:solidFill>
                <a:latin typeface="Aptos" panose="020B0004020202020204" pitchFamily="34" charset="0"/>
                <a:ea typeface="Calibri" pitchFamily="34" charset="-122"/>
                <a:cs typeface="Calibri" pitchFamily="34" charset="-120"/>
              </a:rPr>
              <a:t>Examples  </a:t>
            </a:r>
            <a:r>
              <a:rPr lang="en-US" sz="1400" dirty="0">
                <a:solidFill>
                  <a:srgbClr val="424242"/>
                </a:solidFill>
                <a:latin typeface="Aptos" panose="020B0004020202020204" pitchFamily="34" charset="0"/>
                <a:ea typeface="Calibri" pitchFamily="34" charset="-122"/>
                <a:cs typeface="Calibri" pitchFamily="34" charset="-120"/>
              </a:rPr>
              <a:t>— rainfall, temperature, elevation, vegetation cover</a:t>
            </a:r>
            <a:endParaRPr lang="en-US" sz="14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Vector data: three building blocks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hape 2"/>
          <p:cNvSpPr/>
          <p:nvPr/>
        </p:nvSpPr>
        <p:spPr>
          <a:xfrm>
            <a:off x="457200" y="1188720"/>
            <a:ext cx="2651760" cy="35204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5" name="Text 3"/>
          <p:cNvSpPr/>
          <p:nvPr/>
        </p:nvSpPr>
        <p:spPr>
          <a:xfrm>
            <a:off x="685800" y="1371600"/>
            <a:ext cx="2194560" cy="320040"/>
          </a:xfrm>
          <a:prstGeom prst="rect">
            <a:avLst/>
          </a:prstGeom>
          <a:noFill/>
          <a:ln/>
        </p:spPr>
        <p:txBody>
          <a:bodyPr wrap="square" rtlCol="0" anchor="ctr"/>
          <a:lstStyle/>
          <a:p>
            <a:pPr marL="0" indent="0" algn="ctr">
              <a:buNone/>
            </a:pPr>
            <a:r>
              <a:rPr lang="en-US" sz="1200" b="1" kern="0" spc="300" dirty="0">
                <a:solidFill>
                  <a:srgbClr val="71A499"/>
                </a:solidFill>
                <a:latin typeface="Aptos" panose="020B0004020202020204" pitchFamily="34" charset="0"/>
                <a:ea typeface="Calibri" pitchFamily="34" charset="-122"/>
                <a:cs typeface="Calibri" pitchFamily="34" charset="-120"/>
              </a:rPr>
              <a:t>POINTS</a:t>
            </a:r>
            <a:endParaRPr lang="en-US" sz="1200" dirty="0">
              <a:latin typeface="Aptos" panose="020B0004020202020204" pitchFamily="34" charset="0"/>
            </a:endParaRPr>
          </a:p>
        </p:txBody>
      </p:sp>
      <p:sp>
        <p:nvSpPr>
          <p:cNvPr id="6" name="Shape 4"/>
          <p:cNvSpPr/>
          <p:nvPr/>
        </p:nvSpPr>
        <p:spPr>
          <a:xfrm>
            <a:off x="1719072" y="2359152"/>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7" name="Shape 5"/>
          <p:cNvSpPr/>
          <p:nvPr/>
        </p:nvSpPr>
        <p:spPr>
          <a:xfrm>
            <a:off x="2176272" y="1883664"/>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8" name="Shape 6"/>
          <p:cNvSpPr/>
          <p:nvPr/>
        </p:nvSpPr>
        <p:spPr>
          <a:xfrm>
            <a:off x="1353312" y="2002536"/>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9" name="Shape 7"/>
          <p:cNvSpPr/>
          <p:nvPr/>
        </p:nvSpPr>
        <p:spPr>
          <a:xfrm>
            <a:off x="1993392" y="2596896"/>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10" name="Shape 8"/>
          <p:cNvSpPr/>
          <p:nvPr/>
        </p:nvSpPr>
        <p:spPr>
          <a:xfrm>
            <a:off x="1627632" y="2715768"/>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11" name="Shape 9"/>
          <p:cNvSpPr/>
          <p:nvPr/>
        </p:nvSpPr>
        <p:spPr>
          <a:xfrm>
            <a:off x="2267712" y="2240280"/>
            <a:ext cx="128016" cy="128016"/>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12" name="Text 10"/>
          <p:cNvSpPr/>
          <p:nvPr/>
        </p:nvSpPr>
        <p:spPr>
          <a:xfrm>
            <a:off x="640080" y="3383280"/>
            <a:ext cx="2286000" cy="365760"/>
          </a:xfrm>
          <a:prstGeom prst="rect">
            <a:avLst/>
          </a:prstGeom>
          <a:noFill/>
          <a:ln/>
        </p:spPr>
        <p:txBody>
          <a:bodyPr wrap="square" rtlCol="0" anchor="t"/>
          <a:lstStyle/>
          <a:p>
            <a:pPr marL="0" indent="0" algn="ctr">
              <a:buNone/>
            </a:pPr>
            <a:r>
              <a:rPr lang="en-US" sz="1300" b="1" dirty="0">
                <a:solidFill>
                  <a:srgbClr val="1A355E"/>
                </a:solidFill>
                <a:latin typeface="Aptos" panose="020B0004020202020204" pitchFamily="34" charset="0"/>
                <a:ea typeface="Calibri" pitchFamily="34" charset="-122"/>
                <a:cs typeface="Calibri" pitchFamily="34" charset="-120"/>
              </a:rPr>
              <a:t>Single (x, y) coordinate</a:t>
            </a:r>
            <a:endParaRPr lang="en-US" sz="1300" dirty="0">
              <a:latin typeface="Aptos" panose="020B0004020202020204" pitchFamily="34" charset="0"/>
            </a:endParaRPr>
          </a:p>
        </p:txBody>
      </p:sp>
      <p:sp>
        <p:nvSpPr>
          <p:cNvPr id="13" name="Text 11"/>
          <p:cNvSpPr/>
          <p:nvPr/>
        </p:nvSpPr>
        <p:spPr>
          <a:xfrm>
            <a:off x="640080" y="3794760"/>
            <a:ext cx="2286000" cy="822960"/>
          </a:xfrm>
          <a:prstGeom prst="rect">
            <a:avLst/>
          </a:prstGeom>
          <a:noFill/>
          <a:ln/>
        </p:spPr>
        <p:txBody>
          <a:bodyPr wrap="square" rtlCol="0" anchor="t"/>
          <a:lstStyle/>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Outbreak occurrences,</a:t>
            </a:r>
            <a:endParaRPr lang="en-US" sz="1200" dirty="0">
              <a:latin typeface="Aptos" panose="020B0004020202020204" pitchFamily="34" charset="0"/>
            </a:endParaRPr>
          </a:p>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households, clinics</a:t>
            </a:r>
            <a:endParaRPr lang="en-US" sz="1200" dirty="0">
              <a:latin typeface="Aptos" panose="020B0004020202020204" pitchFamily="34" charset="0"/>
            </a:endParaRPr>
          </a:p>
        </p:txBody>
      </p:sp>
      <p:sp>
        <p:nvSpPr>
          <p:cNvPr id="14" name="Shape 12"/>
          <p:cNvSpPr/>
          <p:nvPr/>
        </p:nvSpPr>
        <p:spPr>
          <a:xfrm>
            <a:off x="3246120" y="1188720"/>
            <a:ext cx="2651760" cy="35204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15" name="Text 13"/>
          <p:cNvSpPr/>
          <p:nvPr/>
        </p:nvSpPr>
        <p:spPr>
          <a:xfrm>
            <a:off x="3474720" y="1371600"/>
            <a:ext cx="2194560" cy="320040"/>
          </a:xfrm>
          <a:prstGeom prst="rect">
            <a:avLst/>
          </a:prstGeom>
          <a:noFill/>
          <a:ln/>
        </p:spPr>
        <p:txBody>
          <a:bodyPr wrap="square" rtlCol="0" anchor="ctr"/>
          <a:lstStyle/>
          <a:p>
            <a:pPr marL="0" indent="0" algn="ctr">
              <a:buNone/>
            </a:pPr>
            <a:r>
              <a:rPr lang="en-US" sz="1200" b="1" kern="0" spc="300" dirty="0">
                <a:solidFill>
                  <a:srgbClr val="71A499"/>
                </a:solidFill>
                <a:latin typeface="Aptos" panose="020B0004020202020204" pitchFamily="34" charset="0"/>
                <a:ea typeface="Calibri" pitchFamily="34" charset="-122"/>
                <a:cs typeface="Calibri" pitchFamily="34" charset="-120"/>
              </a:rPr>
              <a:t>LINES</a:t>
            </a:r>
            <a:endParaRPr lang="en-US" sz="1200" dirty="0">
              <a:latin typeface="Aptos" panose="020B0004020202020204" pitchFamily="34" charset="0"/>
            </a:endParaRPr>
          </a:p>
        </p:txBody>
      </p:sp>
      <p:sp>
        <p:nvSpPr>
          <p:cNvPr id="16" name="Shape 14"/>
          <p:cNvSpPr/>
          <p:nvPr/>
        </p:nvSpPr>
        <p:spPr>
          <a:xfrm>
            <a:off x="3657600" y="1920240"/>
            <a:ext cx="548640" cy="274320"/>
          </a:xfrm>
          <a:prstGeom prst="line">
            <a:avLst/>
          </a:prstGeom>
          <a:noFill/>
          <a:ln w="38100">
            <a:solidFill>
              <a:srgbClr val="E64626"/>
            </a:solidFill>
            <a:prstDash val="solid"/>
          </a:ln>
        </p:spPr>
        <p:txBody>
          <a:bodyPr/>
          <a:lstStyle/>
          <a:p>
            <a:endParaRPr lang="en-AU">
              <a:latin typeface="Aptos" panose="020B0004020202020204" pitchFamily="34" charset="0"/>
            </a:endParaRPr>
          </a:p>
        </p:txBody>
      </p:sp>
      <p:sp>
        <p:nvSpPr>
          <p:cNvPr id="17" name="Shape 15"/>
          <p:cNvSpPr/>
          <p:nvPr/>
        </p:nvSpPr>
        <p:spPr>
          <a:xfrm>
            <a:off x="4206240" y="2194560"/>
            <a:ext cx="548640" cy="0"/>
          </a:xfrm>
          <a:prstGeom prst="line">
            <a:avLst/>
          </a:prstGeom>
          <a:noFill/>
          <a:ln w="38100">
            <a:solidFill>
              <a:srgbClr val="E64626"/>
            </a:solidFill>
            <a:prstDash val="solid"/>
          </a:ln>
        </p:spPr>
        <p:txBody>
          <a:bodyPr/>
          <a:lstStyle/>
          <a:p>
            <a:endParaRPr lang="en-AU">
              <a:latin typeface="Aptos" panose="020B0004020202020204" pitchFamily="34" charset="0"/>
            </a:endParaRPr>
          </a:p>
        </p:txBody>
      </p:sp>
      <p:sp>
        <p:nvSpPr>
          <p:cNvPr id="18" name="Shape 16"/>
          <p:cNvSpPr/>
          <p:nvPr/>
        </p:nvSpPr>
        <p:spPr>
          <a:xfrm>
            <a:off x="4754880" y="2011680"/>
            <a:ext cx="457200" cy="457200"/>
          </a:xfrm>
          <a:prstGeom prst="line">
            <a:avLst/>
          </a:prstGeom>
          <a:noFill/>
          <a:ln w="38100">
            <a:solidFill>
              <a:srgbClr val="E64626"/>
            </a:solidFill>
            <a:prstDash val="solid"/>
          </a:ln>
        </p:spPr>
        <p:txBody>
          <a:bodyPr/>
          <a:lstStyle/>
          <a:p>
            <a:endParaRPr lang="en-AU">
              <a:latin typeface="Aptos" panose="020B0004020202020204" pitchFamily="34" charset="0"/>
            </a:endParaRPr>
          </a:p>
        </p:txBody>
      </p:sp>
      <p:sp>
        <p:nvSpPr>
          <p:cNvPr id="19" name="Shape 17"/>
          <p:cNvSpPr/>
          <p:nvPr/>
        </p:nvSpPr>
        <p:spPr>
          <a:xfrm>
            <a:off x="5212080" y="2468880"/>
            <a:ext cx="365760" cy="0"/>
          </a:xfrm>
          <a:prstGeom prst="line">
            <a:avLst/>
          </a:prstGeom>
          <a:noFill/>
          <a:ln w="38100">
            <a:solidFill>
              <a:srgbClr val="E64626"/>
            </a:solidFill>
            <a:prstDash val="solid"/>
          </a:ln>
        </p:spPr>
        <p:txBody>
          <a:bodyPr/>
          <a:lstStyle/>
          <a:p>
            <a:endParaRPr lang="en-AU">
              <a:latin typeface="Aptos" panose="020B0004020202020204" pitchFamily="34" charset="0"/>
            </a:endParaRPr>
          </a:p>
        </p:txBody>
      </p:sp>
      <p:sp>
        <p:nvSpPr>
          <p:cNvPr id="20" name="Shape 18"/>
          <p:cNvSpPr/>
          <p:nvPr/>
        </p:nvSpPr>
        <p:spPr>
          <a:xfrm>
            <a:off x="3602736" y="1865376"/>
            <a:ext cx="109728" cy="109728"/>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21" name="Shape 19"/>
          <p:cNvSpPr/>
          <p:nvPr/>
        </p:nvSpPr>
        <p:spPr>
          <a:xfrm>
            <a:off x="4151376" y="2139696"/>
            <a:ext cx="109728" cy="109728"/>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22" name="Shape 20"/>
          <p:cNvSpPr/>
          <p:nvPr/>
        </p:nvSpPr>
        <p:spPr>
          <a:xfrm>
            <a:off x="4700016" y="1956816"/>
            <a:ext cx="109728" cy="109728"/>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23" name="Shape 21"/>
          <p:cNvSpPr/>
          <p:nvPr/>
        </p:nvSpPr>
        <p:spPr>
          <a:xfrm>
            <a:off x="5157216" y="2414016"/>
            <a:ext cx="109728" cy="109728"/>
          </a:xfrm>
          <a:prstGeom prst="ellipse">
            <a:avLst/>
          </a:prstGeom>
          <a:solidFill>
            <a:srgbClr val="E64626"/>
          </a:solidFill>
          <a:ln w="12700">
            <a:solidFill>
              <a:srgbClr val="E64626"/>
            </a:solidFill>
            <a:prstDash val="solid"/>
          </a:ln>
        </p:spPr>
        <p:txBody>
          <a:bodyPr/>
          <a:lstStyle/>
          <a:p>
            <a:endParaRPr lang="en-AU">
              <a:latin typeface="Aptos" panose="020B0004020202020204" pitchFamily="34" charset="0"/>
            </a:endParaRPr>
          </a:p>
        </p:txBody>
      </p:sp>
      <p:sp>
        <p:nvSpPr>
          <p:cNvPr id="25" name="Text 23"/>
          <p:cNvSpPr/>
          <p:nvPr/>
        </p:nvSpPr>
        <p:spPr>
          <a:xfrm>
            <a:off x="3429000" y="3383280"/>
            <a:ext cx="2286000" cy="365760"/>
          </a:xfrm>
          <a:prstGeom prst="rect">
            <a:avLst/>
          </a:prstGeom>
          <a:noFill/>
          <a:ln/>
        </p:spPr>
        <p:txBody>
          <a:bodyPr wrap="square" rtlCol="0" anchor="t"/>
          <a:lstStyle/>
          <a:p>
            <a:pPr marL="0" indent="0" algn="ctr">
              <a:buNone/>
            </a:pPr>
            <a:r>
              <a:rPr lang="en-US" sz="1300" b="1" dirty="0">
                <a:solidFill>
                  <a:srgbClr val="1A355E"/>
                </a:solidFill>
                <a:latin typeface="Aptos" panose="020B0004020202020204" pitchFamily="34" charset="0"/>
                <a:ea typeface="Calibri" pitchFamily="34" charset="-122"/>
                <a:cs typeface="Calibri" pitchFamily="34" charset="-120"/>
              </a:rPr>
              <a:t>Two or more linked coordinates</a:t>
            </a:r>
            <a:endParaRPr lang="en-US" sz="1300" dirty="0">
              <a:latin typeface="Aptos" panose="020B0004020202020204" pitchFamily="34" charset="0"/>
            </a:endParaRPr>
          </a:p>
        </p:txBody>
      </p:sp>
      <p:sp>
        <p:nvSpPr>
          <p:cNvPr id="26" name="Text 24"/>
          <p:cNvSpPr/>
          <p:nvPr/>
        </p:nvSpPr>
        <p:spPr>
          <a:xfrm>
            <a:off x="3429000" y="3794760"/>
            <a:ext cx="2286000" cy="822960"/>
          </a:xfrm>
          <a:prstGeom prst="rect">
            <a:avLst/>
          </a:prstGeom>
          <a:noFill/>
          <a:ln/>
        </p:spPr>
        <p:txBody>
          <a:bodyPr wrap="square" rtlCol="0" anchor="t"/>
          <a:lstStyle/>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Roads, rivers,</a:t>
            </a:r>
            <a:endParaRPr lang="en-US" sz="1200" dirty="0">
              <a:latin typeface="Aptos" panose="020B0004020202020204" pitchFamily="34" charset="0"/>
            </a:endParaRPr>
          </a:p>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animal movements</a:t>
            </a:r>
            <a:endParaRPr lang="en-US" sz="1200" dirty="0">
              <a:latin typeface="Aptos" panose="020B0004020202020204" pitchFamily="34" charset="0"/>
            </a:endParaRPr>
          </a:p>
        </p:txBody>
      </p:sp>
      <p:sp>
        <p:nvSpPr>
          <p:cNvPr id="27" name="Shape 25"/>
          <p:cNvSpPr/>
          <p:nvPr/>
        </p:nvSpPr>
        <p:spPr>
          <a:xfrm>
            <a:off x="6035040" y="1188720"/>
            <a:ext cx="2651760" cy="35204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28" name="Text 26"/>
          <p:cNvSpPr/>
          <p:nvPr/>
        </p:nvSpPr>
        <p:spPr>
          <a:xfrm>
            <a:off x="6263640" y="1371600"/>
            <a:ext cx="2194560" cy="320040"/>
          </a:xfrm>
          <a:prstGeom prst="rect">
            <a:avLst/>
          </a:prstGeom>
          <a:noFill/>
          <a:ln/>
        </p:spPr>
        <p:txBody>
          <a:bodyPr wrap="square" rtlCol="0" anchor="ctr"/>
          <a:lstStyle/>
          <a:p>
            <a:pPr marL="0" indent="0" algn="ctr">
              <a:buNone/>
            </a:pPr>
            <a:r>
              <a:rPr lang="en-US" sz="1200" b="1" kern="0" spc="300" dirty="0">
                <a:solidFill>
                  <a:srgbClr val="71A499"/>
                </a:solidFill>
                <a:latin typeface="Aptos" panose="020B0004020202020204" pitchFamily="34" charset="0"/>
                <a:ea typeface="Calibri" pitchFamily="34" charset="-122"/>
                <a:cs typeface="Calibri" pitchFamily="34" charset="-120"/>
              </a:rPr>
              <a:t>POLYGONS</a:t>
            </a:r>
            <a:endParaRPr lang="en-US" sz="1200" dirty="0">
              <a:latin typeface="Aptos" panose="020B0004020202020204" pitchFamily="34" charset="0"/>
            </a:endParaRPr>
          </a:p>
        </p:txBody>
      </p:sp>
      <p:sp>
        <p:nvSpPr>
          <p:cNvPr id="29" name="Shape 27"/>
          <p:cNvSpPr/>
          <p:nvPr/>
        </p:nvSpPr>
        <p:spPr>
          <a:xfrm>
            <a:off x="6446520" y="1920240"/>
            <a:ext cx="2019869" cy="1418002"/>
          </a:xfrm>
          <a:custGeom>
            <a:avLst/>
            <a:gdLst>
              <a:gd name="csX0" fmla="*/ 182884 w 1828800"/>
              <a:gd name="csY0" fmla="*/ 0 h 1097280"/>
              <a:gd name="csX1" fmla="*/ 1645916 w 1828800"/>
              <a:gd name="csY1" fmla="*/ 0 h 1097280"/>
              <a:gd name="csX2" fmla="*/ 1828800 w 1828800"/>
              <a:gd name="csY2" fmla="*/ 182884 h 1097280"/>
              <a:gd name="csX3" fmla="*/ 1828800 w 1828800"/>
              <a:gd name="csY3" fmla="*/ 1097280 h 1097280"/>
              <a:gd name="csX4" fmla="*/ 1828800 w 1828800"/>
              <a:gd name="csY4" fmla="*/ 1097280 h 1097280"/>
              <a:gd name="csX5" fmla="*/ 0 w 1828800"/>
              <a:gd name="csY5" fmla="*/ 1097280 h 1097280"/>
              <a:gd name="csX6" fmla="*/ 0 w 1828800"/>
              <a:gd name="csY6" fmla="*/ 1097280 h 1097280"/>
              <a:gd name="csX7" fmla="*/ 0 w 1828800"/>
              <a:gd name="csY7" fmla="*/ 182884 h 1097280"/>
              <a:gd name="csX8" fmla="*/ 182884 w 1828800"/>
              <a:gd name="csY8" fmla="*/ 0 h 1097280"/>
              <a:gd name="csX0" fmla="*/ 182884 w 2019869"/>
              <a:gd name="csY0" fmla="*/ 0 h 1418002"/>
              <a:gd name="csX1" fmla="*/ 1645916 w 2019869"/>
              <a:gd name="csY1" fmla="*/ 0 h 1418002"/>
              <a:gd name="csX2" fmla="*/ 1828800 w 2019869"/>
              <a:gd name="csY2" fmla="*/ 182884 h 1418002"/>
              <a:gd name="csX3" fmla="*/ 1828800 w 2019869"/>
              <a:gd name="csY3" fmla="*/ 1097280 h 1418002"/>
              <a:gd name="csX4" fmla="*/ 2019869 w 2019869"/>
              <a:gd name="csY4" fmla="*/ 1418002 h 1418002"/>
              <a:gd name="csX5" fmla="*/ 0 w 2019869"/>
              <a:gd name="csY5" fmla="*/ 1097280 h 1418002"/>
              <a:gd name="csX6" fmla="*/ 0 w 2019869"/>
              <a:gd name="csY6" fmla="*/ 1097280 h 1418002"/>
              <a:gd name="csX7" fmla="*/ 0 w 2019869"/>
              <a:gd name="csY7" fmla="*/ 182884 h 1418002"/>
              <a:gd name="csX8" fmla="*/ 182884 w 2019869"/>
              <a:gd name="csY8" fmla="*/ 0 h 1418002"/>
              <a:gd name="csX0" fmla="*/ 182884 w 2019869"/>
              <a:gd name="csY0" fmla="*/ 0 h 1418002"/>
              <a:gd name="csX1" fmla="*/ 1645916 w 2019869"/>
              <a:gd name="csY1" fmla="*/ 0 h 1418002"/>
              <a:gd name="csX2" fmla="*/ 1828800 w 2019869"/>
              <a:gd name="csY2" fmla="*/ 182884 h 1418002"/>
              <a:gd name="csX3" fmla="*/ 1903863 w 2019869"/>
              <a:gd name="csY3" fmla="*/ 790205 h 1418002"/>
              <a:gd name="csX4" fmla="*/ 2019869 w 2019869"/>
              <a:gd name="csY4" fmla="*/ 1418002 h 1418002"/>
              <a:gd name="csX5" fmla="*/ 0 w 2019869"/>
              <a:gd name="csY5" fmla="*/ 1097280 h 1418002"/>
              <a:gd name="csX6" fmla="*/ 0 w 2019869"/>
              <a:gd name="csY6" fmla="*/ 1097280 h 1418002"/>
              <a:gd name="csX7" fmla="*/ 0 w 2019869"/>
              <a:gd name="csY7" fmla="*/ 182884 h 1418002"/>
              <a:gd name="csX8" fmla="*/ 182884 w 2019869"/>
              <a:gd name="csY8" fmla="*/ 0 h 14180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19869" h="1418002">
                <a:moveTo>
                  <a:pt x="182884" y="0"/>
                </a:moveTo>
                <a:lnTo>
                  <a:pt x="1645916" y="0"/>
                </a:lnTo>
                <a:cubicBezTo>
                  <a:pt x="1746920" y="0"/>
                  <a:pt x="1828800" y="81880"/>
                  <a:pt x="1828800" y="182884"/>
                </a:cubicBezTo>
                <a:lnTo>
                  <a:pt x="1903863" y="790205"/>
                </a:lnTo>
                <a:lnTo>
                  <a:pt x="2019869" y="1418002"/>
                </a:lnTo>
                <a:lnTo>
                  <a:pt x="0" y="1097280"/>
                </a:lnTo>
                <a:lnTo>
                  <a:pt x="0" y="1097280"/>
                </a:lnTo>
                <a:lnTo>
                  <a:pt x="0" y="182884"/>
                </a:lnTo>
                <a:cubicBezTo>
                  <a:pt x="0" y="81880"/>
                  <a:pt x="81880" y="0"/>
                  <a:pt x="182884" y="0"/>
                </a:cubicBezTo>
                <a:close/>
              </a:path>
            </a:pathLst>
          </a:custGeom>
          <a:solidFill>
            <a:srgbClr val="E64626">
              <a:alpha val="40000"/>
            </a:srgbClr>
          </a:solidFill>
          <a:ln w="25400">
            <a:solidFill>
              <a:srgbClr val="E64626"/>
            </a:solidFill>
            <a:prstDash val="solid"/>
          </a:ln>
        </p:spPr>
        <p:txBody>
          <a:bodyPr/>
          <a:lstStyle/>
          <a:p>
            <a:endParaRPr lang="en-AU">
              <a:latin typeface="Aptos" panose="020B0004020202020204" pitchFamily="34" charset="0"/>
            </a:endParaRPr>
          </a:p>
        </p:txBody>
      </p:sp>
      <p:sp>
        <p:nvSpPr>
          <p:cNvPr id="30" name="Shape 28"/>
          <p:cNvSpPr/>
          <p:nvPr/>
        </p:nvSpPr>
        <p:spPr>
          <a:xfrm>
            <a:off x="6665976" y="2103120"/>
            <a:ext cx="1243929" cy="790202"/>
          </a:xfrm>
          <a:custGeom>
            <a:avLst/>
            <a:gdLst>
              <a:gd name="csX0" fmla="*/ 3475 w 21600"/>
              <a:gd name="csY0" fmla="*/ 0 h 21600"/>
              <a:gd name="csX1" fmla="*/ 18125 w 21600"/>
              <a:gd name="csY1" fmla="*/ 0 h 21600"/>
              <a:gd name="csX2" fmla="*/ 21600 w 21600"/>
              <a:gd name="csY2" fmla="*/ 10800 h 21600"/>
              <a:gd name="csX3" fmla="*/ 18125 w 21600"/>
              <a:gd name="csY3" fmla="*/ 21600 h 21600"/>
              <a:gd name="csX4" fmla="*/ 3475 w 21600"/>
              <a:gd name="csY4" fmla="*/ 21600 h 21600"/>
              <a:gd name="csX5" fmla="*/ 0 w 21600"/>
              <a:gd name="csY5" fmla="*/ 10800 h 21600"/>
              <a:gd name="csX6" fmla="*/ 3475 w 21600"/>
              <a:gd name="csY6" fmla="*/ 0 h 21600"/>
              <a:gd name="csX0" fmla="*/ 3475 w 21606"/>
              <a:gd name="csY0" fmla="*/ 0 h 26666"/>
              <a:gd name="csX1" fmla="*/ 18125 w 21606"/>
              <a:gd name="csY1" fmla="*/ 0 h 26666"/>
              <a:gd name="csX2" fmla="*/ 21600 w 21606"/>
              <a:gd name="csY2" fmla="*/ 10800 h 26666"/>
              <a:gd name="csX3" fmla="*/ 18718 w 21606"/>
              <a:gd name="csY3" fmla="*/ 26666 h 26666"/>
              <a:gd name="csX4" fmla="*/ 3475 w 21606"/>
              <a:gd name="csY4" fmla="*/ 21600 h 26666"/>
              <a:gd name="csX5" fmla="*/ 0 w 21606"/>
              <a:gd name="csY5" fmla="*/ 10800 h 26666"/>
              <a:gd name="csX6" fmla="*/ 3475 w 21606"/>
              <a:gd name="csY6" fmla="*/ 0 h 266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606" h="26666">
                <a:moveTo>
                  <a:pt x="3475" y="0"/>
                </a:moveTo>
                <a:lnTo>
                  <a:pt x="18125" y="0"/>
                </a:lnTo>
                <a:cubicBezTo>
                  <a:pt x="20044" y="0"/>
                  <a:pt x="21501" y="6356"/>
                  <a:pt x="21600" y="10800"/>
                </a:cubicBezTo>
                <a:cubicBezTo>
                  <a:pt x="21699" y="15244"/>
                  <a:pt x="20637" y="26666"/>
                  <a:pt x="18718" y="26666"/>
                </a:cubicBezTo>
                <a:cubicBezTo>
                  <a:pt x="13835" y="26666"/>
                  <a:pt x="8358" y="21600"/>
                  <a:pt x="3475" y="21600"/>
                </a:cubicBezTo>
                <a:cubicBezTo>
                  <a:pt x="1556" y="21600"/>
                  <a:pt x="0" y="16765"/>
                  <a:pt x="0" y="10800"/>
                </a:cubicBezTo>
                <a:cubicBezTo>
                  <a:pt x="0" y="4835"/>
                  <a:pt x="1556" y="0"/>
                  <a:pt x="3475" y="0"/>
                </a:cubicBezTo>
                <a:close/>
              </a:path>
            </a:pathLst>
          </a:custGeom>
          <a:solidFill>
            <a:srgbClr val="D4A574">
              <a:alpha val="40000"/>
            </a:srgbClr>
          </a:solidFill>
          <a:ln w="25400">
            <a:solidFill>
              <a:srgbClr val="E64626"/>
            </a:solidFill>
            <a:prstDash val="solid"/>
          </a:ln>
        </p:spPr>
        <p:txBody>
          <a:bodyPr/>
          <a:lstStyle/>
          <a:p>
            <a:endParaRPr lang="en-AU">
              <a:latin typeface="Aptos" panose="020B0004020202020204" pitchFamily="34" charset="0"/>
            </a:endParaRPr>
          </a:p>
        </p:txBody>
      </p:sp>
      <p:sp>
        <p:nvSpPr>
          <p:cNvPr id="31" name="Text 29"/>
          <p:cNvSpPr/>
          <p:nvPr/>
        </p:nvSpPr>
        <p:spPr>
          <a:xfrm>
            <a:off x="6217920" y="3383280"/>
            <a:ext cx="2286000" cy="365760"/>
          </a:xfrm>
          <a:prstGeom prst="rect">
            <a:avLst/>
          </a:prstGeom>
          <a:noFill/>
          <a:ln/>
        </p:spPr>
        <p:txBody>
          <a:bodyPr wrap="square" rtlCol="0" anchor="t"/>
          <a:lstStyle/>
          <a:p>
            <a:pPr marL="0" indent="0" algn="ctr">
              <a:buNone/>
            </a:pPr>
            <a:r>
              <a:rPr lang="en-US" sz="1300" b="1" dirty="0">
                <a:solidFill>
                  <a:srgbClr val="1A355E"/>
                </a:solidFill>
                <a:latin typeface="Aptos" panose="020B0004020202020204" pitchFamily="34" charset="0"/>
                <a:ea typeface="Calibri" pitchFamily="34" charset="-122"/>
                <a:cs typeface="Calibri" pitchFamily="34" charset="-120"/>
              </a:rPr>
              <a:t>An ordered ring of lines</a:t>
            </a:r>
            <a:endParaRPr lang="en-US" sz="1300" dirty="0">
              <a:latin typeface="Aptos" panose="020B0004020202020204" pitchFamily="34" charset="0"/>
            </a:endParaRPr>
          </a:p>
        </p:txBody>
      </p:sp>
      <p:sp>
        <p:nvSpPr>
          <p:cNvPr id="32" name="Text 30"/>
          <p:cNvSpPr/>
          <p:nvPr/>
        </p:nvSpPr>
        <p:spPr>
          <a:xfrm>
            <a:off x="6217920" y="3794760"/>
            <a:ext cx="2286000" cy="822960"/>
          </a:xfrm>
          <a:prstGeom prst="rect">
            <a:avLst/>
          </a:prstGeom>
          <a:noFill/>
          <a:ln/>
        </p:spPr>
        <p:txBody>
          <a:bodyPr wrap="square" rtlCol="0" anchor="t"/>
          <a:lstStyle/>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Districts, countries,</a:t>
            </a:r>
            <a:endParaRPr lang="en-US" sz="1200" dirty="0">
              <a:latin typeface="Aptos" panose="020B0004020202020204" pitchFamily="34" charset="0"/>
            </a:endParaRPr>
          </a:p>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land-use zones</a:t>
            </a:r>
            <a:endParaRPr lang="en-US" sz="1200" dirty="0">
              <a:latin typeface="Aptos" panose="020B0004020202020204" pitchFamily="34" charset="0"/>
            </a:endParaRPr>
          </a:p>
        </p:txBody>
      </p:sp>
      <p:sp>
        <p:nvSpPr>
          <p:cNvPr id="33" name="Freeform: Shape 32">
            <a:extLst>
              <a:ext uri="{FF2B5EF4-FFF2-40B4-BE49-F238E27FC236}">
                <a16:creationId xmlns:a16="http://schemas.microsoft.com/office/drawing/2014/main" id="{8DCEE778-72BB-1042-CD0E-B831B65E8B83}"/>
              </a:ext>
            </a:extLst>
          </p:cNvPr>
          <p:cNvSpPr/>
          <p:nvPr/>
        </p:nvSpPr>
        <p:spPr>
          <a:xfrm>
            <a:off x="3533550" y="2320119"/>
            <a:ext cx="2116623" cy="750627"/>
          </a:xfrm>
          <a:custGeom>
            <a:avLst/>
            <a:gdLst>
              <a:gd name="csX0" fmla="*/ 76283 w 2116623"/>
              <a:gd name="csY0" fmla="*/ 0 h 750627"/>
              <a:gd name="csX1" fmla="*/ 1220 w 2116623"/>
              <a:gd name="csY1" fmla="*/ 252484 h 750627"/>
              <a:gd name="csX2" fmla="*/ 14868 w 2116623"/>
              <a:gd name="csY2" fmla="*/ 504968 h 750627"/>
              <a:gd name="csX3" fmla="*/ 62635 w 2116623"/>
              <a:gd name="csY3" fmla="*/ 573206 h 750627"/>
              <a:gd name="csX4" fmla="*/ 192289 w 2116623"/>
              <a:gd name="csY4" fmla="*/ 648269 h 750627"/>
              <a:gd name="csX5" fmla="*/ 287823 w 2116623"/>
              <a:gd name="csY5" fmla="*/ 655093 h 750627"/>
              <a:gd name="csX6" fmla="*/ 594898 w 2116623"/>
              <a:gd name="csY6" fmla="*/ 586854 h 750627"/>
              <a:gd name="csX7" fmla="*/ 635841 w 2116623"/>
              <a:gd name="csY7" fmla="*/ 552735 h 750627"/>
              <a:gd name="csX8" fmla="*/ 656313 w 2116623"/>
              <a:gd name="csY8" fmla="*/ 498144 h 750627"/>
              <a:gd name="csX9" fmla="*/ 758671 w 2116623"/>
              <a:gd name="csY9" fmla="*/ 375314 h 750627"/>
              <a:gd name="csX10" fmla="*/ 888325 w 2116623"/>
              <a:gd name="csY10" fmla="*/ 300251 h 750627"/>
              <a:gd name="csX11" fmla="*/ 922444 w 2116623"/>
              <a:gd name="csY11" fmla="*/ 279780 h 750627"/>
              <a:gd name="csX12" fmla="*/ 1058922 w 2116623"/>
              <a:gd name="csY12" fmla="*/ 354842 h 750627"/>
              <a:gd name="csX13" fmla="*/ 1174928 w 2116623"/>
              <a:gd name="csY13" fmla="*/ 552735 h 750627"/>
              <a:gd name="csX14" fmla="*/ 1311405 w 2116623"/>
              <a:gd name="csY14" fmla="*/ 709684 h 750627"/>
              <a:gd name="csX15" fmla="*/ 1393292 w 2116623"/>
              <a:gd name="csY15" fmla="*/ 750627 h 750627"/>
              <a:gd name="csX16" fmla="*/ 1632128 w 2116623"/>
              <a:gd name="csY16" fmla="*/ 702860 h 750627"/>
              <a:gd name="csX17" fmla="*/ 1816372 w 2116623"/>
              <a:gd name="csY17" fmla="*/ 559559 h 750627"/>
              <a:gd name="csX18" fmla="*/ 1850492 w 2116623"/>
              <a:gd name="csY18" fmla="*/ 545911 h 750627"/>
              <a:gd name="csX19" fmla="*/ 1905083 w 2116623"/>
              <a:gd name="csY19" fmla="*/ 498144 h 750627"/>
              <a:gd name="csX20" fmla="*/ 1966498 w 2116623"/>
              <a:gd name="csY20" fmla="*/ 436729 h 750627"/>
              <a:gd name="csX21" fmla="*/ 2082504 w 2116623"/>
              <a:gd name="csY21" fmla="*/ 361666 h 750627"/>
              <a:gd name="csX22" fmla="*/ 2116623 w 2116623"/>
              <a:gd name="csY22" fmla="*/ 334371 h 7506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16623" h="750627">
                <a:moveTo>
                  <a:pt x="76283" y="0"/>
                </a:moveTo>
                <a:cubicBezTo>
                  <a:pt x="4498" y="102551"/>
                  <a:pt x="6680" y="77781"/>
                  <a:pt x="1220" y="252484"/>
                </a:cubicBezTo>
                <a:cubicBezTo>
                  <a:pt x="-1413" y="336727"/>
                  <a:pt x="-984" y="422188"/>
                  <a:pt x="14868" y="504968"/>
                </a:cubicBezTo>
                <a:cubicBezTo>
                  <a:pt x="20090" y="532238"/>
                  <a:pt x="43690" y="552908"/>
                  <a:pt x="62635" y="573206"/>
                </a:cubicBezTo>
                <a:cubicBezTo>
                  <a:pt x="84583" y="596721"/>
                  <a:pt x="171899" y="642779"/>
                  <a:pt x="192289" y="648269"/>
                </a:cubicBezTo>
                <a:cubicBezTo>
                  <a:pt x="223117" y="656569"/>
                  <a:pt x="255978" y="652818"/>
                  <a:pt x="287823" y="655093"/>
                </a:cubicBezTo>
                <a:cubicBezTo>
                  <a:pt x="511305" y="630261"/>
                  <a:pt x="478855" y="671952"/>
                  <a:pt x="594898" y="586854"/>
                </a:cubicBezTo>
                <a:cubicBezTo>
                  <a:pt x="609224" y="576348"/>
                  <a:pt x="622193" y="564108"/>
                  <a:pt x="635841" y="552735"/>
                </a:cubicBezTo>
                <a:cubicBezTo>
                  <a:pt x="642665" y="534538"/>
                  <a:pt x="646875" y="515133"/>
                  <a:pt x="656313" y="498144"/>
                </a:cubicBezTo>
                <a:cubicBezTo>
                  <a:pt x="679173" y="456996"/>
                  <a:pt x="721210" y="404888"/>
                  <a:pt x="758671" y="375314"/>
                </a:cubicBezTo>
                <a:cubicBezTo>
                  <a:pt x="812756" y="332616"/>
                  <a:pt x="833373" y="329841"/>
                  <a:pt x="888325" y="300251"/>
                </a:cubicBezTo>
                <a:cubicBezTo>
                  <a:pt x="900003" y="293963"/>
                  <a:pt x="911071" y="286604"/>
                  <a:pt x="922444" y="279780"/>
                </a:cubicBezTo>
                <a:cubicBezTo>
                  <a:pt x="967937" y="304801"/>
                  <a:pt x="1019687" y="320839"/>
                  <a:pt x="1058922" y="354842"/>
                </a:cubicBezTo>
                <a:cubicBezTo>
                  <a:pt x="1106035" y="395673"/>
                  <a:pt x="1144311" y="499666"/>
                  <a:pt x="1174928" y="552735"/>
                </a:cubicBezTo>
                <a:cubicBezTo>
                  <a:pt x="1213855" y="620208"/>
                  <a:pt x="1246201" y="663498"/>
                  <a:pt x="1311405" y="709684"/>
                </a:cubicBezTo>
                <a:cubicBezTo>
                  <a:pt x="1336308" y="727324"/>
                  <a:pt x="1365996" y="736979"/>
                  <a:pt x="1393292" y="750627"/>
                </a:cubicBezTo>
                <a:cubicBezTo>
                  <a:pt x="1472904" y="734705"/>
                  <a:pt x="1558135" y="736276"/>
                  <a:pt x="1632128" y="702860"/>
                </a:cubicBezTo>
                <a:cubicBezTo>
                  <a:pt x="1703036" y="670837"/>
                  <a:pt x="1744133" y="588455"/>
                  <a:pt x="1816372" y="559559"/>
                </a:cubicBezTo>
                <a:lnTo>
                  <a:pt x="1850492" y="545911"/>
                </a:lnTo>
                <a:cubicBezTo>
                  <a:pt x="1868689" y="529989"/>
                  <a:pt x="1887475" y="514716"/>
                  <a:pt x="1905083" y="498144"/>
                </a:cubicBezTo>
                <a:cubicBezTo>
                  <a:pt x="1926165" y="478302"/>
                  <a:pt x="1943551" y="454381"/>
                  <a:pt x="1966498" y="436729"/>
                </a:cubicBezTo>
                <a:cubicBezTo>
                  <a:pt x="2003004" y="408647"/>
                  <a:pt x="2044450" y="387612"/>
                  <a:pt x="2082504" y="361666"/>
                </a:cubicBezTo>
                <a:cubicBezTo>
                  <a:pt x="2094538" y="353461"/>
                  <a:pt x="2116623" y="334371"/>
                  <a:pt x="2116623" y="334371"/>
                </a:cubicBezTo>
              </a:path>
            </a:pathLst>
          </a:custGeom>
          <a:noFill/>
          <a:ln w="38100">
            <a:solidFill>
              <a:srgbClr val="E646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Raster data: a grid of measurements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280160"/>
            <a:ext cx="4572000" cy="3383280"/>
          </a:xfrm>
          <a:prstGeom prst="rect">
            <a:avLst/>
          </a:prstGeom>
          <a:noFill/>
          <a:ln/>
        </p:spPr>
        <p:txBody>
          <a:bodyPr wrap="square" rtlCol="0" anchor="t"/>
          <a:lstStyle/>
          <a:p>
            <a:pPr marL="0" indent="0">
              <a:spcAft>
                <a:spcPts val="200"/>
              </a:spcAft>
              <a:buNone/>
            </a:pPr>
            <a:r>
              <a:rPr lang="en-US" sz="1400" b="1" dirty="0">
                <a:solidFill>
                  <a:srgbClr val="1A355E"/>
                </a:solidFill>
                <a:latin typeface="Aptos" panose="020B0004020202020204" pitchFamily="34" charset="0"/>
                <a:ea typeface="Calibri" pitchFamily="34" charset="-122"/>
                <a:cs typeface="Calibri" pitchFamily="34" charset="-120"/>
              </a:rPr>
              <a:t>A raster is a regular grid of cells.</a:t>
            </a:r>
            <a:endParaRPr lang="en-US" sz="1400" dirty="0">
              <a:latin typeface="Aptos" panose="020B0004020202020204" pitchFamily="34" charset="0"/>
            </a:endParaRPr>
          </a:p>
          <a:p>
            <a:pPr marL="0" indent="0">
              <a:spcAft>
                <a:spcPts val="200"/>
              </a:spcAft>
              <a:buNone/>
            </a:pPr>
            <a:endParaRPr lang="en-US" sz="1400" dirty="0">
              <a:latin typeface="Aptos" panose="020B0004020202020204" pitchFamily="34" charset="0"/>
            </a:endParaRPr>
          </a:p>
          <a:p>
            <a:pPr marL="0" indent="0">
              <a:spcAft>
                <a:spcPts val="200"/>
              </a:spcAft>
              <a:buNone/>
            </a:pPr>
            <a:r>
              <a:rPr lang="en-US" sz="1400" dirty="0">
                <a:solidFill>
                  <a:srgbClr val="424242"/>
                </a:solidFill>
                <a:latin typeface="Aptos" panose="020B0004020202020204" pitchFamily="34" charset="0"/>
                <a:ea typeface="Calibri" pitchFamily="34" charset="-122"/>
                <a:cs typeface="Calibri" pitchFamily="34" charset="-120"/>
              </a:rPr>
              <a:t>Each cell holds a value for a fixed location at a fixed resolution.</a:t>
            </a:r>
            <a:endParaRPr lang="en-US" sz="1400" dirty="0">
              <a:latin typeface="Aptos" panose="020B0004020202020204" pitchFamily="34" charset="0"/>
            </a:endParaRPr>
          </a:p>
          <a:p>
            <a:pPr marL="0" indent="0">
              <a:spcAft>
                <a:spcPts val="200"/>
              </a:spcAft>
              <a:buNone/>
            </a:pPr>
            <a:endParaRPr lang="en-US" sz="1400" dirty="0">
              <a:latin typeface="Aptos" panose="020B0004020202020204" pitchFamily="34" charset="0"/>
            </a:endParaRPr>
          </a:p>
          <a:p>
            <a:pPr marL="0" indent="0">
              <a:spcAft>
                <a:spcPts val="200"/>
              </a:spcAft>
              <a:buNone/>
            </a:pPr>
            <a:r>
              <a:rPr lang="en-US" sz="1400" b="1" dirty="0">
                <a:solidFill>
                  <a:srgbClr val="71A499"/>
                </a:solidFill>
                <a:latin typeface="Aptos" panose="020B0004020202020204" pitchFamily="34" charset="0"/>
                <a:ea typeface="Calibri" pitchFamily="34" charset="-122"/>
                <a:cs typeface="Calibri" pitchFamily="34" charset="-120"/>
              </a:rPr>
              <a:t>Typical uses in epidemiology:</a:t>
            </a:r>
            <a:endParaRPr lang="en-US" sz="1400" dirty="0">
              <a:latin typeface="Aptos" panose="020B0004020202020204" pitchFamily="34" charset="0"/>
            </a:endParaRPr>
          </a:p>
          <a:p>
            <a:pPr marL="0" indent="0">
              <a:spcAft>
                <a:spcPts val="200"/>
              </a:spcAft>
              <a:buNone/>
            </a:pPr>
            <a:r>
              <a:rPr lang="en-US" sz="1400" dirty="0">
                <a:solidFill>
                  <a:srgbClr val="424242"/>
                </a:solidFill>
                <a:latin typeface="Aptos" panose="020B0004020202020204" pitchFamily="34" charset="0"/>
                <a:ea typeface="Calibri" pitchFamily="34" charset="-122"/>
                <a:cs typeface="Calibri" pitchFamily="34" charset="-120"/>
              </a:rPr>
              <a:t>  rainfall, temperature, land cover, population density.</a:t>
            </a:r>
            <a:endParaRPr lang="en-US" sz="1400" dirty="0">
              <a:latin typeface="Aptos" panose="020B0004020202020204" pitchFamily="34" charset="0"/>
            </a:endParaRPr>
          </a:p>
          <a:p>
            <a:pPr marL="0" indent="0">
              <a:spcAft>
                <a:spcPts val="200"/>
              </a:spcAft>
              <a:buNone/>
            </a:pPr>
            <a:endParaRPr lang="en-US" sz="1400" dirty="0">
              <a:latin typeface="Aptos" panose="020B0004020202020204" pitchFamily="34" charset="0"/>
            </a:endParaRPr>
          </a:p>
          <a:p>
            <a:pPr marL="0" indent="0">
              <a:spcAft>
                <a:spcPts val="200"/>
              </a:spcAft>
              <a:buNone/>
            </a:pPr>
            <a:r>
              <a:rPr lang="en-US" sz="1400" i="1" dirty="0">
                <a:solidFill>
                  <a:srgbClr val="6B7280"/>
                </a:solidFill>
                <a:latin typeface="Aptos" panose="020B0004020202020204" pitchFamily="34" charset="0"/>
                <a:ea typeface="Calibri" pitchFamily="34" charset="-122"/>
                <a:cs typeface="Calibri" pitchFamily="34" charset="-120"/>
              </a:rPr>
              <a:t>Higher resolution = larger files. A 1 km grid over India is much bigger than a 10 km grid.</a:t>
            </a:r>
            <a:endParaRPr lang="en-US" sz="1400" dirty="0">
              <a:latin typeface="Aptos" panose="020B0004020202020204" pitchFamily="34" charset="0"/>
            </a:endParaRPr>
          </a:p>
        </p:txBody>
      </p:sp>
      <p:sp>
        <p:nvSpPr>
          <p:cNvPr id="5" name="Shape 3"/>
          <p:cNvSpPr/>
          <p:nvPr/>
        </p:nvSpPr>
        <p:spPr>
          <a:xfrm>
            <a:off x="5394960" y="1371600"/>
            <a:ext cx="502920" cy="502920"/>
          </a:xfrm>
          <a:prstGeom prst="rect">
            <a:avLst/>
          </a:prstGeom>
          <a:solidFill>
            <a:srgbClr val="D8C8C6"/>
          </a:solidFill>
          <a:ln w="12700">
            <a:solidFill>
              <a:srgbClr val="FFFFFF"/>
            </a:solidFill>
            <a:prstDash val="solid"/>
          </a:ln>
        </p:spPr>
        <p:txBody>
          <a:bodyPr/>
          <a:lstStyle/>
          <a:p>
            <a:endParaRPr lang="en-AU">
              <a:latin typeface="Aptos" panose="020B0004020202020204" pitchFamily="34" charset="0"/>
            </a:endParaRPr>
          </a:p>
        </p:txBody>
      </p:sp>
      <p:sp>
        <p:nvSpPr>
          <p:cNvPr id="6" name="Shape 4"/>
          <p:cNvSpPr/>
          <p:nvPr/>
        </p:nvSpPr>
        <p:spPr>
          <a:xfrm>
            <a:off x="5897880" y="1371600"/>
            <a:ext cx="502920" cy="502920"/>
          </a:xfrm>
          <a:prstGeom prst="rect">
            <a:avLst/>
          </a:prstGeom>
          <a:solidFill>
            <a:srgbClr val="D6B7B1"/>
          </a:solidFill>
          <a:ln w="12700">
            <a:solidFill>
              <a:srgbClr val="FFFFFF"/>
            </a:solidFill>
            <a:prstDash val="solid"/>
          </a:ln>
        </p:spPr>
        <p:txBody>
          <a:bodyPr/>
          <a:lstStyle/>
          <a:p>
            <a:endParaRPr lang="en-AU">
              <a:latin typeface="Aptos" panose="020B0004020202020204" pitchFamily="34" charset="0"/>
            </a:endParaRPr>
          </a:p>
        </p:txBody>
      </p:sp>
      <p:sp>
        <p:nvSpPr>
          <p:cNvPr id="7" name="Shape 5"/>
          <p:cNvSpPr/>
          <p:nvPr/>
        </p:nvSpPr>
        <p:spPr>
          <a:xfrm>
            <a:off x="6400800" y="1371600"/>
            <a:ext cx="502920" cy="502920"/>
          </a:xfrm>
          <a:prstGeom prst="rect">
            <a:avLst/>
          </a:prstGeom>
          <a:solidFill>
            <a:srgbClr val="D4A69C"/>
          </a:solidFill>
          <a:ln w="12700">
            <a:solidFill>
              <a:srgbClr val="FFFFFF"/>
            </a:solidFill>
            <a:prstDash val="solid"/>
          </a:ln>
        </p:spPr>
        <p:txBody>
          <a:bodyPr/>
          <a:lstStyle/>
          <a:p>
            <a:endParaRPr lang="en-AU">
              <a:latin typeface="Aptos" panose="020B0004020202020204" pitchFamily="34" charset="0"/>
            </a:endParaRPr>
          </a:p>
        </p:txBody>
      </p:sp>
      <p:sp>
        <p:nvSpPr>
          <p:cNvPr id="8" name="Shape 6"/>
          <p:cNvSpPr/>
          <p:nvPr/>
        </p:nvSpPr>
        <p:spPr>
          <a:xfrm>
            <a:off x="6903720" y="1371600"/>
            <a:ext cx="502920" cy="502920"/>
          </a:xfrm>
          <a:prstGeom prst="rect">
            <a:avLst/>
          </a:prstGeom>
          <a:solidFill>
            <a:srgbClr val="CF8371"/>
          </a:solidFill>
          <a:ln w="12700">
            <a:solidFill>
              <a:srgbClr val="FFFFFF"/>
            </a:solidFill>
            <a:prstDash val="solid"/>
          </a:ln>
        </p:spPr>
        <p:txBody>
          <a:bodyPr/>
          <a:lstStyle/>
          <a:p>
            <a:endParaRPr lang="en-AU">
              <a:latin typeface="Aptos" panose="020B0004020202020204" pitchFamily="34" charset="0"/>
            </a:endParaRPr>
          </a:p>
        </p:txBody>
      </p:sp>
      <p:sp>
        <p:nvSpPr>
          <p:cNvPr id="9" name="Shape 7"/>
          <p:cNvSpPr/>
          <p:nvPr/>
        </p:nvSpPr>
        <p:spPr>
          <a:xfrm>
            <a:off x="7406640" y="1371600"/>
            <a:ext cx="502920" cy="502920"/>
          </a:xfrm>
          <a:prstGeom prst="rect">
            <a:avLst/>
          </a:prstGeom>
          <a:solidFill>
            <a:srgbClr val="CD725C"/>
          </a:solidFill>
          <a:ln w="12700">
            <a:solidFill>
              <a:srgbClr val="FFFFFF"/>
            </a:solidFill>
            <a:prstDash val="solid"/>
          </a:ln>
        </p:spPr>
        <p:txBody>
          <a:bodyPr/>
          <a:lstStyle/>
          <a:p>
            <a:endParaRPr lang="en-AU">
              <a:latin typeface="Aptos" panose="020B0004020202020204" pitchFamily="34" charset="0"/>
            </a:endParaRPr>
          </a:p>
        </p:txBody>
      </p:sp>
      <p:sp>
        <p:nvSpPr>
          <p:cNvPr id="10" name="Shape 8"/>
          <p:cNvSpPr/>
          <p:nvPr/>
        </p:nvSpPr>
        <p:spPr>
          <a:xfrm>
            <a:off x="7909560" y="1371600"/>
            <a:ext cx="502920" cy="502920"/>
          </a:xfrm>
          <a:prstGeom prst="rect">
            <a:avLst/>
          </a:prstGeom>
          <a:solidFill>
            <a:srgbClr val="CB6147"/>
          </a:solidFill>
          <a:ln w="12700">
            <a:solidFill>
              <a:srgbClr val="FFFFFF"/>
            </a:solidFill>
            <a:prstDash val="solid"/>
          </a:ln>
        </p:spPr>
        <p:txBody>
          <a:bodyPr/>
          <a:lstStyle/>
          <a:p>
            <a:endParaRPr lang="en-AU">
              <a:latin typeface="Aptos" panose="020B0004020202020204" pitchFamily="34" charset="0"/>
            </a:endParaRPr>
          </a:p>
        </p:txBody>
      </p:sp>
      <p:sp>
        <p:nvSpPr>
          <p:cNvPr id="11" name="Shape 9"/>
          <p:cNvSpPr/>
          <p:nvPr/>
        </p:nvSpPr>
        <p:spPr>
          <a:xfrm>
            <a:off x="5394960" y="1874520"/>
            <a:ext cx="502920" cy="502920"/>
          </a:xfrm>
          <a:prstGeom prst="rect">
            <a:avLst/>
          </a:prstGeom>
          <a:solidFill>
            <a:srgbClr val="D6B7B1"/>
          </a:solidFill>
          <a:ln w="12700">
            <a:solidFill>
              <a:srgbClr val="FFFFFF"/>
            </a:solidFill>
            <a:prstDash val="solid"/>
          </a:ln>
        </p:spPr>
        <p:txBody>
          <a:bodyPr/>
          <a:lstStyle/>
          <a:p>
            <a:endParaRPr lang="en-AU">
              <a:latin typeface="Aptos" panose="020B0004020202020204" pitchFamily="34" charset="0"/>
            </a:endParaRPr>
          </a:p>
        </p:txBody>
      </p:sp>
      <p:sp>
        <p:nvSpPr>
          <p:cNvPr id="12" name="Shape 10"/>
          <p:cNvSpPr/>
          <p:nvPr/>
        </p:nvSpPr>
        <p:spPr>
          <a:xfrm>
            <a:off x="5897880" y="1874520"/>
            <a:ext cx="502920" cy="502920"/>
          </a:xfrm>
          <a:prstGeom prst="rect">
            <a:avLst/>
          </a:prstGeom>
          <a:solidFill>
            <a:srgbClr val="D29587"/>
          </a:solidFill>
          <a:ln w="12700">
            <a:solidFill>
              <a:srgbClr val="FFFFFF"/>
            </a:solidFill>
            <a:prstDash val="solid"/>
          </a:ln>
        </p:spPr>
        <p:txBody>
          <a:bodyPr/>
          <a:lstStyle/>
          <a:p>
            <a:endParaRPr lang="en-AU">
              <a:latin typeface="Aptos" panose="020B0004020202020204" pitchFamily="34" charset="0"/>
            </a:endParaRPr>
          </a:p>
        </p:txBody>
      </p:sp>
      <p:sp>
        <p:nvSpPr>
          <p:cNvPr id="13" name="Shape 11"/>
          <p:cNvSpPr/>
          <p:nvPr/>
        </p:nvSpPr>
        <p:spPr>
          <a:xfrm>
            <a:off x="6400800" y="1874520"/>
            <a:ext cx="502920" cy="502920"/>
          </a:xfrm>
          <a:prstGeom prst="rect">
            <a:avLst/>
          </a:prstGeom>
          <a:solidFill>
            <a:srgbClr val="CF8371"/>
          </a:solidFill>
          <a:ln w="12700">
            <a:solidFill>
              <a:srgbClr val="FFFFFF"/>
            </a:solidFill>
            <a:prstDash val="solid"/>
          </a:ln>
        </p:spPr>
        <p:txBody>
          <a:bodyPr/>
          <a:lstStyle/>
          <a:p>
            <a:endParaRPr lang="en-AU">
              <a:latin typeface="Aptos" panose="020B0004020202020204" pitchFamily="34" charset="0"/>
            </a:endParaRPr>
          </a:p>
        </p:txBody>
      </p:sp>
      <p:sp>
        <p:nvSpPr>
          <p:cNvPr id="14" name="Shape 12"/>
          <p:cNvSpPr/>
          <p:nvPr/>
        </p:nvSpPr>
        <p:spPr>
          <a:xfrm>
            <a:off x="6903720" y="1874520"/>
            <a:ext cx="502920" cy="502920"/>
          </a:xfrm>
          <a:prstGeom prst="rect">
            <a:avLst/>
          </a:prstGeom>
          <a:solidFill>
            <a:srgbClr val="CD725C"/>
          </a:solidFill>
          <a:ln w="12700">
            <a:solidFill>
              <a:srgbClr val="FFFFFF"/>
            </a:solidFill>
            <a:prstDash val="solid"/>
          </a:ln>
        </p:spPr>
        <p:txBody>
          <a:bodyPr/>
          <a:lstStyle/>
          <a:p>
            <a:endParaRPr lang="en-AU">
              <a:latin typeface="Aptos" panose="020B0004020202020204" pitchFamily="34" charset="0"/>
            </a:endParaRPr>
          </a:p>
        </p:txBody>
      </p:sp>
      <p:sp>
        <p:nvSpPr>
          <p:cNvPr id="15" name="Shape 13"/>
          <p:cNvSpPr/>
          <p:nvPr/>
        </p:nvSpPr>
        <p:spPr>
          <a:xfrm>
            <a:off x="7406640" y="1874520"/>
            <a:ext cx="502920" cy="502920"/>
          </a:xfrm>
          <a:prstGeom prst="rect">
            <a:avLst/>
          </a:prstGeom>
          <a:solidFill>
            <a:srgbClr val="CB6147"/>
          </a:solidFill>
          <a:ln w="12700">
            <a:solidFill>
              <a:srgbClr val="FFFFFF"/>
            </a:solidFill>
            <a:prstDash val="solid"/>
          </a:ln>
        </p:spPr>
        <p:txBody>
          <a:bodyPr/>
          <a:lstStyle/>
          <a:p>
            <a:endParaRPr lang="en-AU">
              <a:latin typeface="Aptos" panose="020B0004020202020204" pitchFamily="34" charset="0"/>
            </a:endParaRPr>
          </a:p>
        </p:txBody>
      </p:sp>
      <p:sp>
        <p:nvSpPr>
          <p:cNvPr id="16" name="Shape 14"/>
          <p:cNvSpPr/>
          <p:nvPr/>
        </p:nvSpPr>
        <p:spPr>
          <a:xfrm>
            <a:off x="7909560" y="1874520"/>
            <a:ext cx="502920" cy="502920"/>
          </a:xfrm>
          <a:prstGeom prst="rect">
            <a:avLst/>
          </a:prstGeom>
          <a:solidFill>
            <a:srgbClr val="C94F32"/>
          </a:solidFill>
          <a:ln w="12700">
            <a:solidFill>
              <a:srgbClr val="FFFFFF"/>
            </a:solidFill>
            <a:prstDash val="solid"/>
          </a:ln>
        </p:spPr>
        <p:txBody>
          <a:bodyPr/>
          <a:lstStyle/>
          <a:p>
            <a:endParaRPr lang="en-AU">
              <a:latin typeface="Aptos" panose="020B0004020202020204" pitchFamily="34" charset="0"/>
            </a:endParaRPr>
          </a:p>
        </p:txBody>
      </p:sp>
      <p:sp>
        <p:nvSpPr>
          <p:cNvPr id="17" name="Shape 15"/>
          <p:cNvSpPr/>
          <p:nvPr/>
        </p:nvSpPr>
        <p:spPr>
          <a:xfrm>
            <a:off x="5394960" y="2377440"/>
            <a:ext cx="502920" cy="502920"/>
          </a:xfrm>
          <a:prstGeom prst="rect">
            <a:avLst/>
          </a:prstGeom>
          <a:solidFill>
            <a:srgbClr val="D4A69C"/>
          </a:solidFill>
          <a:ln w="12700">
            <a:solidFill>
              <a:srgbClr val="FFFFFF"/>
            </a:solidFill>
            <a:prstDash val="solid"/>
          </a:ln>
        </p:spPr>
        <p:txBody>
          <a:bodyPr/>
          <a:lstStyle/>
          <a:p>
            <a:endParaRPr lang="en-AU">
              <a:latin typeface="Aptos" panose="020B0004020202020204" pitchFamily="34" charset="0"/>
            </a:endParaRPr>
          </a:p>
        </p:txBody>
      </p:sp>
      <p:sp>
        <p:nvSpPr>
          <p:cNvPr id="18" name="Shape 16"/>
          <p:cNvSpPr/>
          <p:nvPr/>
        </p:nvSpPr>
        <p:spPr>
          <a:xfrm>
            <a:off x="5897880" y="2377440"/>
            <a:ext cx="502920" cy="502920"/>
          </a:xfrm>
          <a:prstGeom prst="rect">
            <a:avLst/>
          </a:prstGeom>
          <a:solidFill>
            <a:srgbClr val="CF8371"/>
          </a:solidFill>
          <a:ln w="12700">
            <a:solidFill>
              <a:srgbClr val="FFFFFF"/>
            </a:solidFill>
            <a:prstDash val="solid"/>
          </a:ln>
        </p:spPr>
        <p:txBody>
          <a:bodyPr/>
          <a:lstStyle/>
          <a:p>
            <a:endParaRPr lang="en-AU">
              <a:latin typeface="Aptos" panose="020B0004020202020204" pitchFamily="34" charset="0"/>
            </a:endParaRPr>
          </a:p>
        </p:txBody>
      </p:sp>
      <p:sp>
        <p:nvSpPr>
          <p:cNvPr id="19" name="Shape 17"/>
          <p:cNvSpPr/>
          <p:nvPr/>
        </p:nvSpPr>
        <p:spPr>
          <a:xfrm>
            <a:off x="6400800" y="2377440"/>
            <a:ext cx="502920" cy="502920"/>
          </a:xfrm>
          <a:prstGeom prst="rect">
            <a:avLst/>
          </a:prstGeom>
          <a:solidFill>
            <a:srgbClr val="CB6147"/>
          </a:solidFill>
          <a:ln w="12700">
            <a:solidFill>
              <a:srgbClr val="FFFFFF"/>
            </a:solidFill>
            <a:prstDash val="solid"/>
          </a:ln>
        </p:spPr>
        <p:txBody>
          <a:bodyPr/>
          <a:lstStyle/>
          <a:p>
            <a:endParaRPr lang="en-AU">
              <a:latin typeface="Aptos" panose="020B0004020202020204" pitchFamily="34" charset="0"/>
            </a:endParaRPr>
          </a:p>
        </p:txBody>
      </p:sp>
      <p:sp>
        <p:nvSpPr>
          <p:cNvPr id="20" name="Shape 18"/>
          <p:cNvSpPr/>
          <p:nvPr/>
        </p:nvSpPr>
        <p:spPr>
          <a:xfrm>
            <a:off x="6903720" y="2377440"/>
            <a:ext cx="502920" cy="502920"/>
          </a:xfrm>
          <a:prstGeom prst="rect">
            <a:avLst/>
          </a:prstGeom>
          <a:solidFill>
            <a:srgbClr val="CA583D"/>
          </a:solidFill>
          <a:ln w="12700">
            <a:solidFill>
              <a:srgbClr val="FFFFFF"/>
            </a:solidFill>
            <a:prstDash val="solid"/>
          </a:ln>
        </p:spPr>
        <p:txBody>
          <a:bodyPr/>
          <a:lstStyle/>
          <a:p>
            <a:endParaRPr lang="en-AU">
              <a:latin typeface="Aptos" panose="020B0004020202020204" pitchFamily="34" charset="0"/>
            </a:endParaRPr>
          </a:p>
        </p:txBody>
      </p:sp>
      <p:sp>
        <p:nvSpPr>
          <p:cNvPr id="21" name="Shape 19"/>
          <p:cNvSpPr/>
          <p:nvPr/>
        </p:nvSpPr>
        <p:spPr>
          <a:xfrm>
            <a:off x="7406640" y="2377440"/>
            <a:ext cx="502920" cy="502920"/>
          </a:xfrm>
          <a:prstGeom prst="rect">
            <a:avLst/>
          </a:prstGeom>
          <a:solidFill>
            <a:srgbClr val="C94F32"/>
          </a:solidFill>
          <a:ln w="12700">
            <a:solidFill>
              <a:srgbClr val="FFFFFF"/>
            </a:solidFill>
            <a:prstDash val="solid"/>
          </a:ln>
        </p:spPr>
        <p:txBody>
          <a:bodyPr/>
          <a:lstStyle/>
          <a:p>
            <a:endParaRPr lang="en-AU">
              <a:latin typeface="Aptos" panose="020B0004020202020204" pitchFamily="34" charset="0"/>
            </a:endParaRPr>
          </a:p>
        </p:txBody>
      </p:sp>
      <p:sp>
        <p:nvSpPr>
          <p:cNvPr id="22" name="Shape 20"/>
          <p:cNvSpPr/>
          <p:nvPr/>
        </p:nvSpPr>
        <p:spPr>
          <a:xfrm>
            <a:off x="7909560" y="2377440"/>
            <a:ext cx="502920" cy="502920"/>
          </a:xfrm>
          <a:prstGeom prst="rect">
            <a:avLst/>
          </a:prstGeom>
          <a:solidFill>
            <a:srgbClr val="C84728"/>
          </a:solidFill>
          <a:ln w="12700">
            <a:solidFill>
              <a:srgbClr val="FFFFFF"/>
            </a:solidFill>
            <a:prstDash val="solid"/>
          </a:ln>
        </p:spPr>
        <p:txBody>
          <a:bodyPr/>
          <a:lstStyle/>
          <a:p>
            <a:endParaRPr lang="en-AU">
              <a:latin typeface="Aptos" panose="020B0004020202020204" pitchFamily="34" charset="0"/>
            </a:endParaRPr>
          </a:p>
        </p:txBody>
      </p:sp>
      <p:sp>
        <p:nvSpPr>
          <p:cNvPr id="23" name="Shape 21"/>
          <p:cNvSpPr/>
          <p:nvPr/>
        </p:nvSpPr>
        <p:spPr>
          <a:xfrm>
            <a:off x="5394960" y="2880360"/>
            <a:ext cx="502920" cy="502920"/>
          </a:xfrm>
          <a:prstGeom prst="rect">
            <a:avLst/>
          </a:prstGeom>
          <a:solidFill>
            <a:srgbClr val="D29587"/>
          </a:solidFill>
          <a:ln w="12700">
            <a:solidFill>
              <a:srgbClr val="FFFFFF"/>
            </a:solidFill>
            <a:prstDash val="solid"/>
          </a:ln>
        </p:spPr>
        <p:txBody>
          <a:bodyPr/>
          <a:lstStyle/>
          <a:p>
            <a:endParaRPr lang="en-AU">
              <a:latin typeface="Aptos" panose="020B0004020202020204" pitchFamily="34" charset="0"/>
            </a:endParaRPr>
          </a:p>
        </p:txBody>
      </p:sp>
      <p:sp>
        <p:nvSpPr>
          <p:cNvPr id="24" name="Shape 22"/>
          <p:cNvSpPr/>
          <p:nvPr/>
        </p:nvSpPr>
        <p:spPr>
          <a:xfrm>
            <a:off x="5897880" y="2880360"/>
            <a:ext cx="502920" cy="502920"/>
          </a:xfrm>
          <a:prstGeom prst="rect">
            <a:avLst/>
          </a:prstGeom>
          <a:solidFill>
            <a:srgbClr val="CD725C"/>
          </a:solidFill>
          <a:ln w="12700">
            <a:solidFill>
              <a:srgbClr val="FFFFFF"/>
            </a:solidFill>
            <a:prstDash val="solid"/>
          </a:ln>
        </p:spPr>
        <p:txBody>
          <a:bodyPr/>
          <a:lstStyle/>
          <a:p>
            <a:endParaRPr lang="en-AU">
              <a:latin typeface="Aptos" panose="020B0004020202020204" pitchFamily="34" charset="0"/>
            </a:endParaRPr>
          </a:p>
        </p:txBody>
      </p:sp>
      <p:sp>
        <p:nvSpPr>
          <p:cNvPr id="25" name="Shape 23"/>
          <p:cNvSpPr/>
          <p:nvPr/>
        </p:nvSpPr>
        <p:spPr>
          <a:xfrm>
            <a:off x="6400800" y="2880360"/>
            <a:ext cx="502920" cy="502920"/>
          </a:xfrm>
          <a:prstGeom prst="rect">
            <a:avLst/>
          </a:prstGeom>
          <a:solidFill>
            <a:srgbClr val="CA583D"/>
          </a:solidFill>
          <a:ln w="12700">
            <a:solidFill>
              <a:srgbClr val="FFFFFF"/>
            </a:solidFill>
            <a:prstDash val="solid"/>
          </a:ln>
        </p:spPr>
        <p:txBody>
          <a:bodyPr/>
          <a:lstStyle/>
          <a:p>
            <a:endParaRPr lang="en-AU">
              <a:latin typeface="Aptos" panose="020B0004020202020204" pitchFamily="34" charset="0"/>
            </a:endParaRPr>
          </a:p>
        </p:txBody>
      </p:sp>
      <p:sp>
        <p:nvSpPr>
          <p:cNvPr id="26" name="Shape 24"/>
          <p:cNvSpPr/>
          <p:nvPr/>
        </p:nvSpPr>
        <p:spPr>
          <a:xfrm>
            <a:off x="6903720" y="2880360"/>
            <a:ext cx="502920" cy="502920"/>
          </a:xfrm>
          <a:prstGeom prst="rect">
            <a:avLst/>
          </a:prstGeom>
          <a:solidFill>
            <a:srgbClr val="C94F32"/>
          </a:solidFill>
          <a:ln w="12700">
            <a:solidFill>
              <a:srgbClr val="FFFFFF"/>
            </a:solidFill>
            <a:prstDash val="solid"/>
          </a:ln>
        </p:spPr>
        <p:txBody>
          <a:bodyPr/>
          <a:lstStyle/>
          <a:p>
            <a:endParaRPr lang="en-AU">
              <a:latin typeface="Aptos" panose="020B0004020202020204" pitchFamily="34" charset="0"/>
            </a:endParaRPr>
          </a:p>
        </p:txBody>
      </p:sp>
      <p:sp>
        <p:nvSpPr>
          <p:cNvPr id="27" name="Shape 25"/>
          <p:cNvSpPr/>
          <p:nvPr/>
        </p:nvSpPr>
        <p:spPr>
          <a:xfrm>
            <a:off x="7406640" y="2880360"/>
            <a:ext cx="502920" cy="502920"/>
          </a:xfrm>
          <a:prstGeom prst="rect">
            <a:avLst/>
          </a:prstGeom>
          <a:solidFill>
            <a:srgbClr val="C84728"/>
          </a:solidFill>
          <a:ln w="12700">
            <a:solidFill>
              <a:srgbClr val="FFFFFF"/>
            </a:solidFill>
            <a:prstDash val="solid"/>
          </a:ln>
        </p:spPr>
        <p:txBody>
          <a:bodyPr/>
          <a:lstStyle/>
          <a:p>
            <a:endParaRPr lang="en-AU">
              <a:latin typeface="Aptos" panose="020B0004020202020204" pitchFamily="34" charset="0"/>
            </a:endParaRPr>
          </a:p>
        </p:txBody>
      </p:sp>
      <p:sp>
        <p:nvSpPr>
          <p:cNvPr id="28" name="Shape 26"/>
          <p:cNvSpPr/>
          <p:nvPr/>
        </p:nvSpPr>
        <p:spPr>
          <a:xfrm>
            <a:off x="7909560" y="2880360"/>
            <a:ext cx="502920" cy="502920"/>
          </a:xfrm>
          <a:prstGeom prst="rect">
            <a:avLst/>
          </a:prstGeom>
          <a:solidFill>
            <a:srgbClr val="C73E1D"/>
          </a:solidFill>
          <a:ln w="12700">
            <a:solidFill>
              <a:srgbClr val="FFFFFF"/>
            </a:solidFill>
            <a:prstDash val="solid"/>
          </a:ln>
        </p:spPr>
        <p:txBody>
          <a:bodyPr/>
          <a:lstStyle/>
          <a:p>
            <a:endParaRPr lang="en-AU">
              <a:latin typeface="Aptos" panose="020B0004020202020204" pitchFamily="34" charset="0"/>
            </a:endParaRPr>
          </a:p>
        </p:txBody>
      </p:sp>
      <p:sp>
        <p:nvSpPr>
          <p:cNvPr id="29" name="Text 27"/>
          <p:cNvSpPr/>
          <p:nvPr/>
        </p:nvSpPr>
        <p:spPr>
          <a:xfrm>
            <a:off x="5394960" y="3520440"/>
            <a:ext cx="3017520" cy="274320"/>
          </a:xfrm>
          <a:prstGeom prst="rect">
            <a:avLst/>
          </a:prstGeom>
          <a:noFill/>
          <a:ln/>
        </p:spPr>
        <p:txBody>
          <a:bodyPr wrap="square" rtlCol="0" anchor="ctr"/>
          <a:lstStyle/>
          <a:p>
            <a:pPr marL="0" indent="0" algn="ctr">
              <a:buNone/>
            </a:pPr>
            <a:r>
              <a:rPr lang="en-US" sz="1100" i="1" dirty="0">
                <a:solidFill>
                  <a:srgbClr val="6B7280"/>
                </a:solidFill>
                <a:latin typeface="Aptos" panose="020B0004020202020204" pitchFamily="34" charset="0"/>
                <a:ea typeface="Calibri" pitchFamily="34" charset="-122"/>
                <a:cs typeface="Calibri" pitchFamily="34" charset="-120"/>
              </a:rPr>
              <a:t>e.g. annual rainfall (mm)</a:t>
            </a:r>
            <a:endParaRPr lang="en-US" sz="1100" dirty="0">
              <a:latin typeface="Aptos"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Locating things on Earth</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8229600" cy="457200"/>
          </a:xfrm>
          <a:prstGeom prst="rect">
            <a:avLst/>
          </a:prstGeom>
          <a:noFill/>
          <a:ln/>
        </p:spPr>
        <p:txBody>
          <a:bodyPr wrap="square" rtlCol="0" anchor="ctr"/>
          <a:lstStyle/>
          <a:p>
            <a:r>
              <a:rPr lang="en-US" sz="1600" i="1" dirty="0">
                <a:solidFill>
                  <a:srgbClr val="6B7280"/>
                </a:solidFill>
                <a:latin typeface="Aptos" panose="020B0004020202020204" pitchFamily="34" charset="0"/>
                <a:ea typeface="Calibri" pitchFamily="34" charset="-122"/>
                <a:cs typeface="Calibri" pitchFamily="34" charset="-120"/>
              </a:rPr>
              <a:t>A Coordinate Reference System (CRS) is what turns a location into numbers (and vice versa).</a:t>
            </a:r>
            <a:endParaRPr lang="en-US" sz="1600" dirty="0">
              <a:latin typeface="Aptos" panose="020B0004020202020204" pitchFamily="34" charset="0"/>
            </a:endParaRPr>
          </a:p>
        </p:txBody>
      </p:sp>
      <p:sp>
        <p:nvSpPr>
          <p:cNvPr id="5" name="Shape 3"/>
          <p:cNvSpPr/>
          <p:nvPr/>
        </p:nvSpPr>
        <p:spPr>
          <a:xfrm>
            <a:off x="457200" y="1828800"/>
            <a:ext cx="265176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6" name="Text 4"/>
          <p:cNvSpPr/>
          <p:nvPr/>
        </p:nvSpPr>
        <p:spPr>
          <a:xfrm>
            <a:off x="685800" y="210312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Latitude &amp; longitude</a:t>
            </a:r>
            <a:endParaRPr lang="en-US" sz="1700" dirty="0"/>
          </a:p>
        </p:txBody>
      </p:sp>
      <p:sp>
        <p:nvSpPr>
          <p:cNvPr id="7" name="Shape 5"/>
          <p:cNvSpPr/>
          <p:nvPr/>
        </p:nvSpPr>
        <p:spPr>
          <a:xfrm>
            <a:off x="1508760" y="274320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8" name="Text 6"/>
          <p:cNvSpPr/>
          <p:nvPr/>
        </p:nvSpPr>
        <p:spPr>
          <a:xfrm>
            <a:off x="731520" y="2926080"/>
            <a:ext cx="2103120" cy="146304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Angles measuring north–south and east–west position on a globe.</a:t>
            </a:r>
            <a:endParaRPr lang="en-US" sz="1300" dirty="0">
              <a:latin typeface="Aptos" panose="020B0004020202020204" pitchFamily="34" charset="0"/>
            </a:endParaRPr>
          </a:p>
        </p:txBody>
      </p:sp>
      <p:sp>
        <p:nvSpPr>
          <p:cNvPr id="9" name="Shape 7"/>
          <p:cNvSpPr/>
          <p:nvPr/>
        </p:nvSpPr>
        <p:spPr>
          <a:xfrm>
            <a:off x="3246120" y="1828800"/>
            <a:ext cx="265176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10" name="Text 8"/>
          <p:cNvSpPr/>
          <p:nvPr/>
        </p:nvSpPr>
        <p:spPr>
          <a:xfrm>
            <a:off x="3474720" y="210312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A datum</a:t>
            </a:r>
            <a:endParaRPr lang="en-US" sz="1700" dirty="0"/>
          </a:p>
        </p:txBody>
      </p:sp>
      <p:sp>
        <p:nvSpPr>
          <p:cNvPr id="11" name="Shape 9"/>
          <p:cNvSpPr/>
          <p:nvPr/>
        </p:nvSpPr>
        <p:spPr>
          <a:xfrm>
            <a:off x="4297680" y="274320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12" name="Text 10"/>
          <p:cNvSpPr/>
          <p:nvPr/>
        </p:nvSpPr>
        <p:spPr>
          <a:xfrm>
            <a:off x="3520440" y="2926080"/>
            <a:ext cx="2103120" cy="146304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The model of the Earth's shape that the coordinates are referenced to (e.g. WGS 84).</a:t>
            </a:r>
            <a:endParaRPr lang="en-US" sz="1300" dirty="0">
              <a:latin typeface="Aptos" panose="020B0004020202020204" pitchFamily="34" charset="0"/>
            </a:endParaRPr>
          </a:p>
        </p:txBody>
      </p:sp>
      <p:sp>
        <p:nvSpPr>
          <p:cNvPr id="13" name="Shape 11"/>
          <p:cNvSpPr/>
          <p:nvPr/>
        </p:nvSpPr>
        <p:spPr>
          <a:xfrm>
            <a:off x="6035040" y="1828800"/>
            <a:ext cx="265176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latin typeface="Aptos" panose="020B0004020202020204" pitchFamily="34" charset="0"/>
            </a:endParaRPr>
          </a:p>
        </p:txBody>
      </p:sp>
      <p:sp>
        <p:nvSpPr>
          <p:cNvPr id="14" name="Text 12"/>
          <p:cNvSpPr/>
          <p:nvPr/>
        </p:nvSpPr>
        <p:spPr>
          <a:xfrm>
            <a:off x="6263640" y="210312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An EPSG code</a:t>
            </a:r>
            <a:endParaRPr lang="en-US" sz="1700" dirty="0"/>
          </a:p>
        </p:txBody>
      </p:sp>
      <p:sp>
        <p:nvSpPr>
          <p:cNvPr id="15" name="Shape 13"/>
          <p:cNvSpPr/>
          <p:nvPr/>
        </p:nvSpPr>
        <p:spPr>
          <a:xfrm>
            <a:off x="7086600" y="274320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16" name="Text 14"/>
          <p:cNvSpPr/>
          <p:nvPr/>
        </p:nvSpPr>
        <p:spPr>
          <a:xfrm>
            <a:off x="6309360" y="2926080"/>
            <a:ext cx="2103120" cy="146304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A standardised catalogue number for any CRS. WGS 84 is EPSG:4326 — the one your phone's GPS uses.</a:t>
            </a:r>
            <a:endParaRPr lang="en-US" sz="1300" dirty="0">
              <a:latin typeface="Aptos" panose="020B0004020202020204" pitchFamily="34" charset="0"/>
            </a:endParaRPr>
          </a:p>
        </p:txBody>
      </p:sp>
      <p:sp>
        <p:nvSpPr>
          <p:cNvPr id="17" name="Text 15"/>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Aptos" panose="020B0004020202020204" pitchFamily="34" charset="0"/>
                <a:ea typeface="Calibri" pitchFamily="34" charset="-122"/>
                <a:cs typeface="Calibri" pitchFamily="34" charset="-120"/>
              </a:rPr>
              <a:t>In the tutorial: st_set_crs("EPSG:4326") attaches WGS 84 to your point data.</a:t>
            </a:r>
            <a:endParaRPr lang="en-US" sz="1300" dirty="0">
              <a:latin typeface="Aptos"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C34A35-2A1E-4036-8FC1-D9C37A734B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159" y="0"/>
            <a:ext cx="6581683" cy="5144304"/>
          </a:xfrm>
          <a:prstGeom prst="rect">
            <a:avLst/>
          </a:prstGeom>
        </p:spPr>
      </p:pic>
    </p:spTree>
    <p:extLst>
      <p:ext uri="{BB962C8B-B14F-4D97-AF65-F5344CB8AC3E}">
        <p14:creationId xmlns:p14="http://schemas.microsoft.com/office/powerpoint/2010/main" val="4240010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r>
              <a:rPr lang="en-US" sz="3000" b="1" dirty="0">
                <a:solidFill>
                  <a:srgbClr val="E64626"/>
                </a:solidFill>
                <a:latin typeface="Aptos" panose="020B0004020202020204" pitchFamily="34" charset="0"/>
                <a:ea typeface="Cambria" pitchFamily="34" charset="-122"/>
              </a:rPr>
              <a:t>Two kinds </a:t>
            </a:r>
            <a:r>
              <a:rPr lang="en-US" sz="3000" b="1">
                <a:solidFill>
                  <a:srgbClr val="E64626"/>
                </a:solidFill>
                <a:latin typeface="Aptos" panose="020B0004020202020204" pitchFamily="34" charset="0"/>
                <a:ea typeface="Cambria" pitchFamily="34" charset="-122"/>
              </a:rPr>
              <a:t>of CRS</a:t>
            </a:r>
            <a:endParaRPr lang="en-US" sz="3000" b="1" dirty="0">
              <a:solidFill>
                <a:srgbClr val="E64626"/>
              </a:solidFill>
              <a:latin typeface="Aptos" panose="020B0004020202020204" pitchFamily="34" charset="0"/>
              <a:ea typeface="Cambria" pitchFamily="34" charset="-122"/>
            </a:endParaRP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Coordinate systems split into two families. The same place gets very different numbers.</a:t>
            </a:r>
            <a:endParaRPr lang="en-US" sz="1500" dirty="0"/>
          </a:p>
        </p:txBody>
      </p:sp>
      <p:sp>
        <p:nvSpPr>
          <p:cNvPr id="5" name="Shape 3"/>
          <p:cNvSpPr/>
          <p:nvPr/>
        </p:nvSpPr>
        <p:spPr>
          <a:xfrm>
            <a:off x="457200" y="1691640"/>
            <a:ext cx="4023360" cy="3063240"/>
          </a:xfrm>
          <a:prstGeom prst="roundRect">
            <a:avLst>
              <a:gd name="adj" fmla="val 238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Text 4"/>
          <p:cNvSpPr/>
          <p:nvPr/>
        </p:nvSpPr>
        <p:spPr>
          <a:xfrm>
            <a:off x="685800" y="187452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ea typeface="Calibri" pitchFamily="34" charset="-122"/>
                <a:cs typeface="Calibri" pitchFamily="34" charset="-120"/>
              </a:rPr>
              <a:t>GEOGRAPHIC</a:t>
            </a:r>
            <a:endParaRPr lang="en-US" sz="1200" dirty="0"/>
          </a:p>
        </p:txBody>
      </p:sp>
      <p:sp>
        <p:nvSpPr>
          <p:cNvPr id="7" name="Text 5"/>
          <p:cNvSpPr/>
          <p:nvPr/>
        </p:nvSpPr>
        <p:spPr>
          <a:xfrm>
            <a:off x="685800" y="2212848"/>
            <a:ext cx="3566160" cy="457200"/>
          </a:xfrm>
          <a:prstGeom prst="rect">
            <a:avLst/>
          </a:prstGeom>
          <a:noFill/>
          <a:ln/>
        </p:spPr>
        <p:txBody>
          <a:bodyPr wrap="square" rtlCol="0" anchor="ctr"/>
          <a:lstStyle/>
          <a:p>
            <a:pPr marL="0" indent="0">
              <a:buNone/>
            </a:pPr>
            <a:r>
              <a:rPr lang="en-US" sz="1900" b="1" dirty="0">
                <a:solidFill>
                  <a:srgbClr val="1A355E"/>
                </a:solidFill>
                <a:latin typeface="Cambria" pitchFamily="34" charset="0"/>
                <a:ea typeface="Cambria" pitchFamily="34" charset="-122"/>
                <a:cs typeface="Cambria" pitchFamily="34" charset="-120"/>
              </a:rPr>
              <a:t>On the curved Earth</a:t>
            </a:r>
            <a:endParaRPr lang="en-US" sz="1900" dirty="0"/>
          </a:p>
        </p:txBody>
      </p:sp>
      <p:sp>
        <p:nvSpPr>
          <p:cNvPr id="8" name="Text 6"/>
          <p:cNvSpPr/>
          <p:nvPr/>
        </p:nvSpPr>
        <p:spPr>
          <a:xfrm>
            <a:off x="685800" y="2743200"/>
            <a:ext cx="3566160" cy="1920240"/>
          </a:xfrm>
          <a:prstGeom prst="rect">
            <a:avLst/>
          </a:prstGeom>
          <a:noFill/>
          <a:ln/>
        </p:spPr>
        <p:txBody>
          <a:bodyPr wrap="square" rtlCol="0" anchor="t"/>
          <a:lstStyle/>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Coordinates are </a:t>
            </a:r>
            <a:r>
              <a:rPr lang="en-US" sz="1300" b="1" dirty="0">
                <a:solidFill>
                  <a:srgbClr val="E64626"/>
                </a:solidFill>
                <a:latin typeface="Calibri" pitchFamily="34" charset="0"/>
                <a:ea typeface="Calibri" pitchFamily="34" charset="-122"/>
                <a:cs typeface="Calibri" pitchFamily="34" charset="-120"/>
              </a:rPr>
              <a:t>angles </a:t>
            </a:r>
            <a:r>
              <a:rPr lang="en-US" sz="1300" dirty="0">
                <a:solidFill>
                  <a:srgbClr val="424242"/>
                </a:solidFill>
                <a:latin typeface="Calibri" pitchFamily="34" charset="0"/>
                <a:ea typeface="Calibri" pitchFamily="34" charset="-122"/>
                <a:cs typeface="Calibri" pitchFamily="34" charset="-120"/>
              </a:rPr>
              <a:t>(degrees)</a:t>
            </a:r>
            <a:endParaRPr lang="en-US" sz="1300" dirty="0"/>
          </a:p>
          <a:p>
            <a:pPr marL="0" indent="0">
              <a:spcAft>
                <a:spcPts val="200"/>
              </a:spcAft>
              <a:buNone/>
            </a:pPr>
            <a:endParaRPr lang="en-US" sz="1300" dirty="0"/>
          </a:p>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Sydney = </a:t>
            </a:r>
            <a:r>
              <a:rPr lang="en-US" sz="1300" b="1" dirty="0">
                <a:solidFill>
                  <a:srgbClr val="1A355E"/>
                </a:solidFill>
                <a:latin typeface="Courier New" pitchFamily="34" charset="0"/>
                <a:ea typeface="Courier New" pitchFamily="34" charset="-122"/>
                <a:cs typeface="Courier New" pitchFamily="34" charset="-120"/>
              </a:rPr>
              <a:t>(−33.87, 151.21)</a:t>
            </a:r>
            <a:endParaRPr lang="en-US" sz="1300" dirty="0"/>
          </a:p>
          <a:p>
            <a:pPr marL="0" indent="0">
              <a:spcAft>
                <a:spcPts val="200"/>
              </a:spcAft>
              <a:buNone/>
            </a:pPr>
            <a:endParaRPr lang="en-US" sz="1300" dirty="0"/>
          </a:p>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No distortion — it's the real Earth</a:t>
            </a:r>
            <a:endParaRPr lang="en-US" sz="1300" dirty="0"/>
          </a:p>
          <a:p>
            <a:pPr marL="0" indent="0">
              <a:spcAft>
                <a:spcPts val="200"/>
              </a:spcAft>
              <a:buNone/>
            </a:pPr>
            <a:endParaRPr lang="en-US" sz="1300" dirty="0"/>
          </a:p>
          <a:p>
            <a:pPr marL="0" indent="0">
              <a:spcAft>
                <a:spcPts val="200"/>
              </a:spcAft>
              <a:buNone/>
            </a:pPr>
            <a:r>
              <a:rPr lang="en-US" sz="1300" b="1" dirty="0">
                <a:solidFill>
                  <a:srgbClr val="71A499"/>
                </a:solidFill>
                <a:latin typeface="Calibri" pitchFamily="34" charset="0"/>
                <a:ea typeface="Calibri" pitchFamily="34" charset="-122"/>
                <a:cs typeface="Calibri" pitchFamily="34" charset="-120"/>
              </a:rPr>
              <a:t>EPSG  </a:t>
            </a:r>
            <a:r>
              <a:rPr lang="en-US" sz="1300" dirty="0">
                <a:solidFill>
                  <a:srgbClr val="424242"/>
                </a:solidFill>
                <a:latin typeface="Courier New" pitchFamily="34" charset="0"/>
                <a:ea typeface="Courier New" pitchFamily="34" charset="-122"/>
                <a:cs typeface="Courier New" pitchFamily="34" charset="-120"/>
              </a:rPr>
              <a:t>4326, 4283, 7844</a:t>
            </a:r>
            <a:endParaRPr lang="en-US" sz="1300" dirty="0"/>
          </a:p>
        </p:txBody>
      </p:sp>
      <p:sp>
        <p:nvSpPr>
          <p:cNvPr id="9" name="Shape 7"/>
          <p:cNvSpPr/>
          <p:nvPr/>
        </p:nvSpPr>
        <p:spPr>
          <a:xfrm>
            <a:off x="4663440" y="1691640"/>
            <a:ext cx="4023360" cy="3063240"/>
          </a:xfrm>
          <a:prstGeom prst="roundRect">
            <a:avLst>
              <a:gd name="adj" fmla="val 238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0" name="Text 8"/>
          <p:cNvSpPr/>
          <p:nvPr/>
        </p:nvSpPr>
        <p:spPr>
          <a:xfrm>
            <a:off x="4892040" y="187452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ea typeface="Calibri" pitchFamily="34" charset="-122"/>
                <a:cs typeface="Calibri" pitchFamily="34" charset="-120"/>
              </a:rPr>
              <a:t>PROJECTED</a:t>
            </a:r>
            <a:endParaRPr lang="en-US" sz="1200" dirty="0"/>
          </a:p>
        </p:txBody>
      </p:sp>
      <p:sp>
        <p:nvSpPr>
          <p:cNvPr id="11" name="Text 9"/>
          <p:cNvSpPr/>
          <p:nvPr/>
        </p:nvSpPr>
        <p:spPr>
          <a:xfrm>
            <a:off x="4892040" y="2212848"/>
            <a:ext cx="3566160" cy="457200"/>
          </a:xfrm>
          <a:prstGeom prst="rect">
            <a:avLst/>
          </a:prstGeom>
          <a:noFill/>
          <a:ln/>
        </p:spPr>
        <p:txBody>
          <a:bodyPr wrap="square" rtlCol="0" anchor="ctr"/>
          <a:lstStyle/>
          <a:p>
            <a:pPr marL="0" indent="0">
              <a:buNone/>
            </a:pPr>
            <a:r>
              <a:rPr lang="en-US" sz="1900" b="1" dirty="0">
                <a:solidFill>
                  <a:srgbClr val="1A355E"/>
                </a:solidFill>
                <a:latin typeface="Cambria" pitchFamily="34" charset="0"/>
                <a:ea typeface="Cambria" pitchFamily="34" charset="-122"/>
                <a:cs typeface="Cambria" pitchFamily="34" charset="-120"/>
              </a:rPr>
              <a:t>On a flat plane</a:t>
            </a:r>
            <a:endParaRPr lang="en-US" sz="1900" dirty="0"/>
          </a:p>
        </p:txBody>
      </p:sp>
      <p:sp>
        <p:nvSpPr>
          <p:cNvPr id="12" name="Text 10"/>
          <p:cNvSpPr/>
          <p:nvPr/>
        </p:nvSpPr>
        <p:spPr>
          <a:xfrm>
            <a:off x="4892040" y="2743200"/>
            <a:ext cx="3566160" cy="1920240"/>
          </a:xfrm>
          <a:prstGeom prst="rect">
            <a:avLst/>
          </a:prstGeom>
          <a:noFill/>
          <a:ln/>
        </p:spPr>
        <p:txBody>
          <a:bodyPr wrap="square" rtlCol="0" anchor="t"/>
          <a:lstStyle/>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Coordinates are </a:t>
            </a:r>
            <a:r>
              <a:rPr lang="en-US" sz="1300" b="1" dirty="0">
                <a:solidFill>
                  <a:srgbClr val="E64626"/>
                </a:solidFill>
                <a:latin typeface="Calibri" pitchFamily="34" charset="0"/>
                <a:ea typeface="Calibri" pitchFamily="34" charset="-122"/>
                <a:cs typeface="Calibri" pitchFamily="34" charset="-120"/>
              </a:rPr>
              <a:t>distances </a:t>
            </a:r>
            <a:r>
              <a:rPr lang="en-US" sz="1300" dirty="0">
                <a:solidFill>
                  <a:srgbClr val="424242"/>
                </a:solidFill>
                <a:latin typeface="Calibri" pitchFamily="34" charset="0"/>
                <a:ea typeface="Calibri" pitchFamily="34" charset="-122"/>
                <a:cs typeface="Calibri" pitchFamily="34" charset="-120"/>
              </a:rPr>
              <a:t>(usually metres)</a:t>
            </a:r>
            <a:endParaRPr lang="en-US" sz="1300" dirty="0"/>
          </a:p>
          <a:p>
            <a:pPr marL="0" indent="0">
              <a:spcAft>
                <a:spcPts val="200"/>
              </a:spcAft>
              <a:buNone/>
            </a:pPr>
            <a:endParaRPr lang="en-US" sz="1300" dirty="0"/>
          </a:p>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Sydney = </a:t>
            </a:r>
            <a:r>
              <a:rPr lang="en-US" sz="1300" b="1" dirty="0">
                <a:solidFill>
                  <a:srgbClr val="1A355E"/>
                </a:solidFill>
                <a:latin typeface="Courier New" pitchFamily="34" charset="0"/>
                <a:ea typeface="Courier New" pitchFamily="34" charset="-122"/>
                <a:cs typeface="Courier New" pitchFamily="34" charset="-120"/>
              </a:rPr>
              <a:t>(334000, 6251000)</a:t>
            </a:r>
            <a:endParaRPr lang="en-US" sz="1300" dirty="0"/>
          </a:p>
          <a:p>
            <a:pPr marL="0" indent="0">
              <a:spcAft>
                <a:spcPts val="200"/>
              </a:spcAft>
              <a:buNone/>
            </a:pPr>
            <a:endParaRPr lang="en-US" sz="1300" dirty="0"/>
          </a:p>
          <a:p>
            <a:pPr marL="0" indent="0">
              <a:spcAft>
                <a:spcPts val="200"/>
              </a:spcAft>
              <a:buNone/>
            </a:pPr>
            <a:r>
              <a:rPr lang="en-US" sz="1300" dirty="0">
                <a:solidFill>
                  <a:srgbClr val="424242"/>
                </a:solidFill>
                <a:latin typeface="Calibri" pitchFamily="34" charset="0"/>
                <a:ea typeface="Calibri" pitchFamily="34" charset="-122"/>
                <a:cs typeface="Calibri" pitchFamily="34" charset="-120"/>
              </a:rPr>
              <a:t>Some distortion — varies by location</a:t>
            </a:r>
            <a:endParaRPr lang="en-US" sz="1300" dirty="0"/>
          </a:p>
          <a:p>
            <a:pPr marL="0" indent="0">
              <a:spcAft>
                <a:spcPts val="200"/>
              </a:spcAft>
              <a:buNone/>
            </a:pPr>
            <a:endParaRPr lang="en-US" sz="1300" dirty="0"/>
          </a:p>
          <a:p>
            <a:pPr marL="0" indent="0">
              <a:spcAft>
                <a:spcPts val="200"/>
              </a:spcAft>
              <a:buNone/>
            </a:pPr>
            <a:r>
              <a:rPr lang="en-US" sz="1300" b="1" dirty="0">
                <a:solidFill>
                  <a:srgbClr val="71A499"/>
                </a:solidFill>
                <a:latin typeface="Calibri" pitchFamily="34" charset="0"/>
                <a:ea typeface="Calibri" pitchFamily="34" charset="-122"/>
                <a:cs typeface="Calibri" pitchFamily="34" charset="-120"/>
              </a:rPr>
              <a:t>EPSG  </a:t>
            </a:r>
            <a:r>
              <a:rPr lang="en-US" sz="1300" dirty="0">
                <a:solidFill>
                  <a:srgbClr val="424242"/>
                </a:solidFill>
                <a:latin typeface="Courier New" pitchFamily="34" charset="0"/>
                <a:ea typeface="Courier New" pitchFamily="34" charset="-122"/>
                <a:cs typeface="Courier New" pitchFamily="34" charset="-120"/>
              </a:rPr>
              <a:t>3857, 3577, 7855</a:t>
            </a:r>
            <a:endParaRPr lang="en-US" sz="1300" dirty="0"/>
          </a:p>
        </p:txBody>
      </p:sp>
      <p:sp>
        <p:nvSpPr>
          <p:cNvPr id="13" name="Text 11"/>
          <p:cNvSpPr/>
          <p:nvPr/>
        </p:nvSpPr>
        <p:spPr>
          <a:xfrm>
            <a:off x="457200" y="4846320"/>
            <a:ext cx="8229600" cy="32004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ea typeface="Calibri" pitchFamily="34" charset="-122"/>
                <a:cs typeface="Calibri" pitchFamily="34" charset="-120"/>
              </a:rPr>
              <a:t>Geographic CRS for storing and mapping. Projected CRS when you need to measure distance or area.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r>
              <a:rPr lang="en-US" sz="3000" b="1" dirty="0">
                <a:solidFill>
                  <a:srgbClr val="E64626"/>
                </a:solidFill>
                <a:latin typeface="Aptos" panose="020B0004020202020204" pitchFamily="34" charset="0"/>
                <a:ea typeface="Cambria" pitchFamily="34" charset="-122"/>
              </a:rPr>
              <a:t>Projections: 3D world, 2D map</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4206240" cy="3200400"/>
          </a:xfrm>
          <a:prstGeom prst="rect">
            <a:avLst/>
          </a:prstGeom>
          <a:noFill/>
          <a:ln/>
        </p:spPr>
        <p:txBody>
          <a:bodyPr wrap="square" rtlCol="0" anchor="t"/>
          <a:lstStyle/>
          <a:p>
            <a:pPr marL="0" indent="0">
              <a:spcAft>
                <a:spcPts val="300"/>
              </a:spcAft>
              <a:buNone/>
            </a:pPr>
            <a:r>
              <a:rPr lang="en-US" sz="1400" b="1" dirty="0">
                <a:solidFill>
                  <a:srgbClr val="1A355E"/>
                </a:solidFill>
                <a:latin typeface="Calibri" pitchFamily="34" charset="0"/>
                <a:ea typeface="Calibri" pitchFamily="34" charset="-122"/>
                <a:cs typeface="Calibri" pitchFamily="34" charset="-120"/>
              </a:rPr>
              <a:t>Every flat map of Earth must distort something.</a:t>
            </a:r>
            <a:endParaRPr lang="en-US" sz="1400" dirty="0"/>
          </a:p>
          <a:p>
            <a:pPr marL="0" indent="0">
              <a:spcAft>
                <a:spcPts val="300"/>
              </a:spcAft>
              <a:buNone/>
            </a:pPr>
            <a:endParaRPr lang="en-US" sz="1400" dirty="0"/>
          </a:p>
          <a:p>
            <a:pPr marL="0" indent="0">
              <a:spcAft>
                <a:spcPts val="300"/>
              </a:spcAft>
              <a:buNone/>
            </a:pPr>
            <a:r>
              <a:rPr lang="en-US" sz="1400" dirty="0">
                <a:solidFill>
                  <a:srgbClr val="424242"/>
                </a:solidFill>
                <a:latin typeface="Calibri" pitchFamily="34" charset="0"/>
                <a:ea typeface="Calibri" pitchFamily="34" charset="-122"/>
                <a:cs typeface="Calibri" pitchFamily="34" charset="-120"/>
              </a:rPr>
              <a:t>A projection is a rule for flattening the globe. Different projections preserve different things:</a:t>
            </a:r>
            <a:endParaRPr lang="en-US" sz="1400" dirty="0"/>
          </a:p>
          <a:p>
            <a:pPr marL="0" indent="0">
              <a:spcAft>
                <a:spcPts val="300"/>
              </a:spcAft>
              <a:buNone/>
            </a:pPr>
            <a:endParaRPr lang="en-US" sz="1400" dirty="0"/>
          </a:p>
          <a:p>
            <a:pPr marL="0" indent="0">
              <a:spcAft>
                <a:spcPts val="300"/>
              </a:spcAft>
              <a:buNone/>
            </a:pPr>
            <a:r>
              <a:rPr lang="en-US" sz="1400" b="1" dirty="0">
                <a:solidFill>
                  <a:srgbClr val="E64626"/>
                </a:solidFill>
                <a:latin typeface="Calibri" pitchFamily="34" charset="0"/>
                <a:ea typeface="Calibri" pitchFamily="34" charset="-122"/>
                <a:cs typeface="Calibri" pitchFamily="34" charset="-120"/>
              </a:rPr>
              <a:t>Shape </a:t>
            </a:r>
            <a:r>
              <a:rPr lang="en-US" sz="1400" dirty="0">
                <a:solidFill>
                  <a:srgbClr val="424242"/>
                </a:solidFill>
                <a:latin typeface="Calibri" pitchFamily="34" charset="0"/>
                <a:ea typeface="Calibri" pitchFamily="34" charset="-122"/>
                <a:cs typeface="Calibri" pitchFamily="34" charset="-120"/>
              </a:rPr>
              <a:t>— Mercator (handy for navigation)</a:t>
            </a:r>
            <a:endParaRPr lang="en-US" sz="1400" dirty="0"/>
          </a:p>
          <a:p>
            <a:pPr marL="0" indent="0">
              <a:spcAft>
                <a:spcPts val="300"/>
              </a:spcAft>
              <a:buNone/>
            </a:pPr>
            <a:r>
              <a:rPr lang="en-US" sz="1400" b="1" dirty="0">
                <a:solidFill>
                  <a:srgbClr val="E64626"/>
                </a:solidFill>
                <a:latin typeface="Calibri" pitchFamily="34" charset="0"/>
                <a:ea typeface="Calibri" pitchFamily="34" charset="-122"/>
                <a:cs typeface="Calibri" pitchFamily="34" charset="-120"/>
              </a:rPr>
              <a:t>Area </a:t>
            </a:r>
            <a:r>
              <a:rPr lang="en-US" sz="1400" dirty="0">
                <a:solidFill>
                  <a:srgbClr val="424242"/>
                </a:solidFill>
                <a:latin typeface="Calibri" pitchFamily="34" charset="0"/>
                <a:ea typeface="Calibri" pitchFamily="34" charset="-122"/>
                <a:cs typeface="Calibri" pitchFamily="34" charset="-120"/>
              </a:rPr>
              <a:t>— Mollweide, equal-area projections</a:t>
            </a:r>
            <a:endParaRPr lang="en-US" sz="1400" dirty="0"/>
          </a:p>
          <a:p>
            <a:pPr marL="0" indent="0">
              <a:spcAft>
                <a:spcPts val="300"/>
              </a:spcAft>
              <a:buNone/>
            </a:pPr>
            <a:r>
              <a:rPr lang="en-US" sz="1400" b="1" dirty="0">
                <a:solidFill>
                  <a:srgbClr val="E64626"/>
                </a:solidFill>
                <a:latin typeface="Calibri" pitchFamily="34" charset="0"/>
                <a:ea typeface="Calibri" pitchFamily="34" charset="-122"/>
                <a:cs typeface="Calibri" pitchFamily="34" charset="-120"/>
              </a:rPr>
              <a:t>Distance </a:t>
            </a:r>
            <a:r>
              <a:rPr lang="en-US" sz="1400" dirty="0">
                <a:solidFill>
                  <a:srgbClr val="424242"/>
                </a:solidFill>
                <a:latin typeface="Calibri" pitchFamily="34" charset="0"/>
                <a:ea typeface="Calibri" pitchFamily="34" charset="-122"/>
                <a:cs typeface="Calibri" pitchFamily="34" charset="-120"/>
              </a:rPr>
              <a:t>— azimuthal equidistant from one point</a:t>
            </a:r>
          </a:p>
          <a:p>
            <a:pPr marL="0" indent="0">
              <a:spcAft>
                <a:spcPts val="300"/>
              </a:spcAft>
              <a:buNone/>
            </a:pPr>
            <a:endParaRPr lang="en-US" sz="1400" dirty="0">
              <a:solidFill>
                <a:srgbClr val="424242"/>
              </a:solidFill>
              <a:latin typeface="Calibri" pitchFamily="34" charset="0"/>
              <a:ea typeface="Calibri" pitchFamily="34" charset="-122"/>
              <a:cs typeface="Calibri" pitchFamily="34" charset="-120"/>
            </a:endParaRPr>
          </a:p>
          <a:p>
            <a:pPr marL="0" indent="0">
              <a:spcAft>
                <a:spcPts val="300"/>
              </a:spcAft>
              <a:buNone/>
            </a:pPr>
            <a:endParaRPr lang="en-US" sz="1400" dirty="0"/>
          </a:p>
        </p:txBody>
      </p:sp>
      <p:sp>
        <p:nvSpPr>
          <p:cNvPr id="5" name="Shape 3"/>
          <p:cNvSpPr/>
          <p:nvPr/>
        </p:nvSpPr>
        <p:spPr>
          <a:xfrm>
            <a:off x="4937760" y="1188720"/>
            <a:ext cx="3749040" cy="3200400"/>
          </a:xfrm>
          <a:prstGeom prst="roundRect">
            <a:avLst>
              <a:gd name="adj" fmla="val 2286"/>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Text 4"/>
          <p:cNvSpPr/>
          <p:nvPr/>
        </p:nvSpPr>
        <p:spPr>
          <a:xfrm>
            <a:off x="5166360" y="1417320"/>
            <a:ext cx="3291840" cy="320040"/>
          </a:xfrm>
          <a:prstGeom prst="rect">
            <a:avLst/>
          </a:prstGeom>
          <a:noFill/>
          <a:ln/>
        </p:spPr>
        <p:txBody>
          <a:bodyPr wrap="square" rtlCol="0" anchor="ctr"/>
          <a:lstStyle/>
          <a:p>
            <a:pPr marL="0" indent="0">
              <a:buNone/>
            </a:pPr>
            <a:r>
              <a:rPr lang="en-US" sz="1200" b="1" kern="0" spc="300" dirty="0">
                <a:solidFill>
                  <a:srgbClr val="D4A574"/>
                </a:solidFill>
                <a:latin typeface="Calibri" pitchFamily="34" charset="0"/>
                <a:ea typeface="Calibri" pitchFamily="34" charset="-122"/>
                <a:cs typeface="Calibri" pitchFamily="34" charset="-120"/>
              </a:rPr>
              <a:t>THE MERCATOR PROBLEM</a:t>
            </a:r>
            <a:endParaRPr lang="en-US" sz="1200" dirty="0"/>
          </a:p>
        </p:txBody>
      </p:sp>
      <p:sp>
        <p:nvSpPr>
          <p:cNvPr id="7" name="Text 5"/>
          <p:cNvSpPr/>
          <p:nvPr/>
        </p:nvSpPr>
        <p:spPr>
          <a:xfrm>
            <a:off x="5166360" y="1783080"/>
            <a:ext cx="3291840" cy="6400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Greenland looks the same size as Africa.</a:t>
            </a:r>
            <a:endParaRPr lang="en-US" sz="2000" dirty="0"/>
          </a:p>
        </p:txBody>
      </p:sp>
      <p:sp>
        <p:nvSpPr>
          <p:cNvPr id="8" name="Text 6"/>
          <p:cNvSpPr/>
          <p:nvPr/>
        </p:nvSpPr>
        <p:spPr>
          <a:xfrm>
            <a:off x="5166360" y="2514600"/>
            <a:ext cx="3291840" cy="457200"/>
          </a:xfrm>
          <a:prstGeom prst="rect">
            <a:avLst/>
          </a:prstGeom>
          <a:noFill/>
          <a:ln/>
        </p:spPr>
        <p:txBody>
          <a:bodyPr wrap="square" rtlCol="0" anchor="ctr"/>
          <a:lstStyle/>
          <a:p>
            <a:pPr marL="0" indent="0">
              <a:buNone/>
            </a:pPr>
            <a:r>
              <a:rPr lang="en-US" sz="1400" i="1" dirty="0">
                <a:solidFill>
                  <a:srgbClr val="D4A574"/>
                </a:solidFill>
                <a:latin typeface="Calibri" pitchFamily="34" charset="0"/>
                <a:ea typeface="Calibri" pitchFamily="34" charset="-122"/>
                <a:cs typeface="Calibri" pitchFamily="34" charset="-120"/>
              </a:rPr>
              <a:t>It isn't. Africa is roughly 14× larger.</a:t>
            </a:r>
            <a:endParaRPr lang="en-US" sz="1400" dirty="0"/>
          </a:p>
        </p:txBody>
      </p:sp>
      <p:sp>
        <p:nvSpPr>
          <p:cNvPr id="9" name="Text 7"/>
          <p:cNvSpPr/>
          <p:nvPr/>
        </p:nvSpPr>
        <p:spPr>
          <a:xfrm>
            <a:off x="5166360" y="3108960"/>
            <a:ext cx="329184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If you compute distances or areas from a Mercator map, you will get the wrong answer. Reproject to an equal-area or equidistant CRS first.</a:t>
            </a:r>
            <a:endParaRPr lang="en-US" sz="1200" dirty="0"/>
          </a:p>
        </p:txBody>
      </p:sp>
      <p:sp>
        <p:nvSpPr>
          <p:cNvPr id="10" name="Text 8"/>
          <p:cNvSpPr/>
          <p:nvPr/>
        </p:nvSpPr>
        <p:spPr>
          <a:xfrm>
            <a:off x="457200" y="4572000"/>
            <a:ext cx="8229600" cy="411480"/>
          </a:xfrm>
          <a:prstGeom prst="rect">
            <a:avLst/>
          </a:prstGeom>
          <a:noFill/>
          <a:ln/>
        </p:spPr>
        <p:txBody>
          <a:bodyPr wrap="square"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Scale is the ratio between map distance and ground distance — it changes with the projection.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6A61D2-7A7D-4890-8486-C6072A4D8B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0" y="-1"/>
            <a:ext cx="5143501" cy="5143501"/>
          </a:xfrm>
          <a:prstGeom prst="rect">
            <a:avLst/>
          </a:prstGeom>
        </p:spPr>
      </p:pic>
    </p:spTree>
    <p:extLst>
      <p:ext uri="{BB962C8B-B14F-4D97-AF65-F5344CB8AC3E}">
        <p14:creationId xmlns:p14="http://schemas.microsoft.com/office/powerpoint/2010/main" val="2300806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AF75BA-CD72-4633-B375-8E8FC22C3D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0694" y="0"/>
            <a:ext cx="6062613" cy="5143500"/>
          </a:xfrm>
          <a:prstGeom prst="rect">
            <a:avLst/>
          </a:prstGeom>
        </p:spPr>
      </p:pic>
      <p:pic>
        <p:nvPicPr>
          <p:cNvPr id="5" name="Picture 4">
            <a:extLst>
              <a:ext uri="{FF2B5EF4-FFF2-40B4-BE49-F238E27FC236}">
                <a16:creationId xmlns:a16="http://schemas.microsoft.com/office/drawing/2014/main" id="{410598A0-0A3F-4221-880B-298A7AEA5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5451" y="0"/>
            <a:ext cx="5413098" cy="5143500"/>
          </a:xfrm>
          <a:prstGeom prst="rect">
            <a:avLst/>
          </a:prstGeom>
        </p:spPr>
      </p:pic>
    </p:spTree>
    <p:extLst>
      <p:ext uri="{BB962C8B-B14F-4D97-AF65-F5344CB8AC3E}">
        <p14:creationId xmlns:p14="http://schemas.microsoft.com/office/powerpoint/2010/main" val="17937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AAA21F-50D5-4D48-A9C3-1BED54921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587375"/>
            <a:ext cx="3968749" cy="3968749"/>
          </a:xfrm>
          <a:prstGeom prst="rect">
            <a:avLst/>
          </a:prstGeom>
        </p:spPr>
      </p:pic>
      <p:pic>
        <p:nvPicPr>
          <p:cNvPr id="3" name="Picture 2">
            <a:extLst>
              <a:ext uri="{FF2B5EF4-FFF2-40B4-BE49-F238E27FC236}">
                <a16:creationId xmlns:a16="http://schemas.microsoft.com/office/drawing/2014/main" id="{6627A553-DA67-4D4F-90CA-1D410748C6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2648" y="1574601"/>
            <a:ext cx="3968751" cy="1994297"/>
          </a:xfrm>
          <a:prstGeom prst="rect">
            <a:avLst/>
          </a:prstGeom>
        </p:spPr>
      </p:pic>
    </p:spTree>
    <p:extLst>
      <p:ext uri="{BB962C8B-B14F-4D97-AF65-F5344CB8AC3E}">
        <p14:creationId xmlns:p14="http://schemas.microsoft.com/office/powerpoint/2010/main" val="4234778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r>
              <a:rPr lang="en-US" sz="3000" b="1" dirty="0">
                <a:solidFill>
                  <a:srgbClr val="E64626"/>
                </a:solidFill>
                <a:latin typeface="Aptos" panose="020B0004020202020204" pitchFamily="34" charset="0"/>
                <a:ea typeface="Cambria" pitchFamily="34" charset="-122"/>
              </a:rPr>
              <a:t>Shapefiles, and reading them in R</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4206240" cy="365760"/>
          </a:xfrm>
          <a:prstGeom prst="rect">
            <a:avLst/>
          </a:prstGeom>
          <a:noFill/>
          <a:ln/>
        </p:spPr>
        <p:txBody>
          <a:bodyPr wrap="square" rtlCol="0" anchor="ctr"/>
          <a:lstStyle/>
          <a:p>
            <a:pPr marL="0" indent="0">
              <a:buNone/>
            </a:pPr>
            <a:r>
              <a:rPr lang="en-US" sz="1500" b="1" dirty="0">
                <a:solidFill>
                  <a:srgbClr val="1A355E"/>
                </a:solidFill>
                <a:latin typeface="Calibri" pitchFamily="34" charset="0"/>
                <a:ea typeface="Calibri" pitchFamily="34" charset="-122"/>
                <a:cs typeface="Calibri" pitchFamily="34" charset="-120"/>
              </a:rPr>
              <a:t>A shapefile is not one file — it's a bundle:</a:t>
            </a:r>
            <a:endParaRPr lang="en-US" sz="1500" dirty="0"/>
          </a:p>
        </p:txBody>
      </p:sp>
      <p:sp>
        <p:nvSpPr>
          <p:cNvPr id="5" name="Text 3"/>
          <p:cNvSpPr/>
          <p:nvPr/>
        </p:nvSpPr>
        <p:spPr>
          <a:xfrm>
            <a:off x="457200" y="1600200"/>
            <a:ext cx="4206240" cy="1900646"/>
          </a:xfrm>
          <a:prstGeom prst="rect">
            <a:avLst/>
          </a:prstGeom>
          <a:noFill/>
          <a:ln/>
        </p:spPr>
        <p:txBody>
          <a:bodyPr wrap="square" rtlCol="0" anchor="t"/>
          <a:lstStyle/>
          <a:p>
            <a:pPr marL="0" indent="0">
              <a:spcAft>
                <a:spcPts val="600"/>
              </a:spcAft>
              <a:buNone/>
            </a:pPr>
            <a:r>
              <a:rPr lang="en-US" sz="1400" b="1" dirty="0">
                <a:solidFill>
                  <a:srgbClr val="E64626"/>
                </a:solidFill>
                <a:latin typeface="Courier New" pitchFamily="34" charset="0"/>
                <a:ea typeface="Courier New" pitchFamily="34" charset="-122"/>
                <a:cs typeface="Courier New" pitchFamily="34" charset="-120"/>
              </a:rPr>
              <a:t>.shp </a:t>
            </a:r>
            <a:r>
              <a:rPr lang="en-US" sz="1400" dirty="0">
                <a:solidFill>
                  <a:srgbClr val="424242"/>
                </a:solidFill>
                <a:latin typeface="Calibri" pitchFamily="34" charset="0"/>
                <a:ea typeface="Calibri" pitchFamily="34" charset="-122"/>
                <a:cs typeface="Calibri" pitchFamily="34" charset="-120"/>
              </a:rPr>
              <a:t>— the geometry (the shapes)</a:t>
            </a:r>
          </a:p>
          <a:p>
            <a:pPr marL="0" indent="0">
              <a:spcAft>
                <a:spcPts val="600"/>
              </a:spcAft>
              <a:buNone/>
            </a:pPr>
            <a:r>
              <a:rPr lang="en-US" sz="1400" b="1" dirty="0">
                <a:solidFill>
                  <a:srgbClr val="E64626"/>
                </a:solidFill>
                <a:latin typeface="Courier New" pitchFamily="34" charset="0"/>
                <a:ea typeface="Courier New" pitchFamily="34" charset="-122"/>
                <a:cs typeface="Courier New" pitchFamily="34" charset="-120"/>
              </a:rPr>
              <a:t>.shx </a:t>
            </a:r>
            <a:r>
              <a:rPr lang="en-US" sz="1400" dirty="0">
                <a:solidFill>
                  <a:srgbClr val="424242"/>
                </a:solidFill>
                <a:latin typeface="Calibri" pitchFamily="34" charset="0"/>
                <a:ea typeface="Calibri" pitchFamily="34" charset="-122"/>
                <a:cs typeface="Calibri" pitchFamily="34" charset="-120"/>
              </a:rPr>
              <a:t>— an index into the shapes</a:t>
            </a:r>
          </a:p>
          <a:p>
            <a:pPr marL="0" indent="0">
              <a:spcAft>
                <a:spcPts val="600"/>
              </a:spcAft>
              <a:buNone/>
            </a:pPr>
            <a:r>
              <a:rPr lang="en-US" sz="1400" b="1" dirty="0">
                <a:solidFill>
                  <a:srgbClr val="E64626"/>
                </a:solidFill>
                <a:latin typeface="Courier New" pitchFamily="34" charset="0"/>
                <a:ea typeface="Courier New" pitchFamily="34" charset="-122"/>
                <a:cs typeface="Courier New" pitchFamily="34" charset="-120"/>
              </a:rPr>
              <a:t>.dbf </a:t>
            </a:r>
            <a:r>
              <a:rPr lang="en-US" sz="1400" dirty="0">
                <a:solidFill>
                  <a:srgbClr val="424242"/>
                </a:solidFill>
                <a:latin typeface="Calibri" pitchFamily="34" charset="0"/>
                <a:ea typeface="Calibri" pitchFamily="34" charset="-122"/>
                <a:cs typeface="Calibri" pitchFamily="34" charset="-120"/>
              </a:rPr>
              <a:t>— the attribute table</a:t>
            </a:r>
          </a:p>
          <a:p>
            <a:pPr marL="0" indent="0">
              <a:spcAft>
                <a:spcPts val="600"/>
              </a:spcAft>
              <a:buNone/>
            </a:pPr>
            <a:r>
              <a:rPr lang="en-US" sz="1400" b="1" dirty="0">
                <a:solidFill>
                  <a:srgbClr val="E64626"/>
                </a:solidFill>
                <a:latin typeface="Courier New" pitchFamily="34" charset="0"/>
                <a:cs typeface="Courier New" pitchFamily="34" charset="-120"/>
              </a:rPr>
              <a:t>.</a:t>
            </a:r>
            <a:r>
              <a:rPr lang="en-US" sz="1400" b="1" dirty="0" err="1">
                <a:solidFill>
                  <a:srgbClr val="E64626"/>
                </a:solidFill>
                <a:latin typeface="Courier New" pitchFamily="34" charset="0"/>
                <a:cs typeface="Courier New" pitchFamily="34" charset="-120"/>
              </a:rPr>
              <a:t>prj</a:t>
            </a:r>
            <a:r>
              <a:rPr lang="en-US" sz="1400" b="1" dirty="0">
                <a:solidFill>
                  <a:srgbClr val="E64626"/>
                </a:solidFill>
                <a:latin typeface="Courier New" pitchFamily="34" charset="0"/>
                <a:cs typeface="Courier New" pitchFamily="34" charset="-120"/>
              </a:rPr>
              <a:t> </a:t>
            </a:r>
            <a:r>
              <a:rPr lang="en-US" sz="1400" dirty="0">
                <a:solidFill>
                  <a:srgbClr val="424242"/>
                </a:solidFill>
                <a:latin typeface="Calibri" pitchFamily="34" charset="0"/>
                <a:ea typeface="Calibri" pitchFamily="34" charset="-122"/>
                <a:cs typeface="Calibri" pitchFamily="34" charset="-120"/>
              </a:rPr>
              <a:t>— the CRS (optional but always include it)</a:t>
            </a:r>
          </a:p>
          <a:p>
            <a:pPr marL="0" indent="0">
              <a:spcAft>
                <a:spcPts val="600"/>
              </a:spcAft>
              <a:buNone/>
            </a:pPr>
            <a:r>
              <a:rPr lang="en-US" sz="1400" b="1" dirty="0">
                <a:solidFill>
                  <a:srgbClr val="E64626"/>
                </a:solidFill>
                <a:latin typeface="Courier New" pitchFamily="34" charset="0"/>
                <a:cs typeface="Courier New" pitchFamily="34" charset="-120"/>
              </a:rPr>
              <a:t>.</a:t>
            </a:r>
            <a:r>
              <a:rPr lang="en-US" sz="1400" b="1" dirty="0" err="1">
                <a:solidFill>
                  <a:srgbClr val="E64626"/>
                </a:solidFill>
                <a:latin typeface="Courier New" pitchFamily="34" charset="0"/>
                <a:cs typeface="Courier New" pitchFamily="34" charset="-120"/>
              </a:rPr>
              <a:t>cpg</a:t>
            </a:r>
            <a:r>
              <a:rPr lang="en-US" sz="1400" b="1" dirty="0">
                <a:solidFill>
                  <a:srgbClr val="E64626"/>
                </a:solidFill>
                <a:latin typeface="Courier New" pitchFamily="34" charset="0"/>
                <a:cs typeface="Courier New" pitchFamily="34" charset="-120"/>
              </a:rPr>
              <a:t> </a:t>
            </a:r>
            <a:r>
              <a:rPr lang="en-US" sz="1400" dirty="0">
                <a:solidFill>
                  <a:srgbClr val="424242"/>
                </a:solidFill>
                <a:latin typeface="Calibri" pitchFamily="34" charset="0"/>
                <a:ea typeface="Calibri" pitchFamily="34" charset="-122"/>
                <a:cs typeface="Calibri" pitchFamily="34" charset="-120"/>
              </a:rPr>
              <a:t>— character encoding</a:t>
            </a:r>
          </a:p>
          <a:p>
            <a:pPr marL="0" indent="0">
              <a:spcAft>
                <a:spcPts val="600"/>
              </a:spcAft>
              <a:buNone/>
            </a:pPr>
            <a:r>
              <a:rPr lang="en-US" sz="1400" b="1" dirty="0">
                <a:solidFill>
                  <a:srgbClr val="E64626"/>
                </a:solidFill>
                <a:latin typeface="Courier New" pitchFamily="34" charset="0"/>
                <a:cs typeface="Courier New" pitchFamily="34" charset="-120"/>
              </a:rPr>
              <a:t>.</a:t>
            </a:r>
            <a:r>
              <a:rPr lang="en-US" sz="1400" b="1" dirty="0" err="1">
                <a:solidFill>
                  <a:srgbClr val="E64626"/>
                </a:solidFill>
                <a:latin typeface="Courier New" pitchFamily="34" charset="0"/>
                <a:cs typeface="Courier New" pitchFamily="34" charset="-120"/>
              </a:rPr>
              <a:t>shx</a:t>
            </a:r>
            <a:r>
              <a:rPr lang="en-US" sz="1400" b="1" dirty="0">
                <a:solidFill>
                  <a:srgbClr val="E64626"/>
                </a:solidFill>
                <a:latin typeface="Courier New" pitchFamily="34" charset="0"/>
                <a:cs typeface="Courier New" pitchFamily="34" charset="-120"/>
              </a:rPr>
              <a:t> </a:t>
            </a:r>
            <a:r>
              <a:rPr lang="en-US" sz="1400" dirty="0">
                <a:solidFill>
                  <a:srgbClr val="424242"/>
                </a:solidFill>
                <a:latin typeface="Calibri" pitchFamily="34" charset="0"/>
                <a:ea typeface="Calibri" pitchFamily="34" charset="-122"/>
                <a:cs typeface="Calibri" pitchFamily="34" charset="-120"/>
              </a:rPr>
              <a:t>— metadata, e.g. who made it</a:t>
            </a:r>
            <a:br>
              <a:rPr lang="en-US" sz="1400" dirty="0">
                <a:solidFill>
                  <a:srgbClr val="424242"/>
                </a:solidFill>
                <a:latin typeface="Calibri" pitchFamily="34" charset="0"/>
                <a:ea typeface="Calibri" pitchFamily="34" charset="-122"/>
                <a:cs typeface="Calibri" pitchFamily="34" charset="-120"/>
              </a:rPr>
            </a:br>
            <a:br>
              <a:rPr lang="en-US" sz="1400" dirty="0">
                <a:solidFill>
                  <a:srgbClr val="424242"/>
                </a:solidFill>
                <a:latin typeface="Calibri" pitchFamily="34" charset="0"/>
                <a:ea typeface="Calibri" pitchFamily="34" charset="-122"/>
                <a:cs typeface="Calibri" pitchFamily="34" charset="-120"/>
              </a:rPr>
            </a:br>
            <a:endParaRPr lang="en-US" sz="1400" dirty="0">
              <a:solidFill>
                <a:srgbClr val="424242"/>
              </a:solidFill>
              <a:latin typeface="Calibri" pitchFamily="34" charset="0"/>
              <a:ea typeface="Calibri" pitchFamily="34" charset="-122"/>
              <a:cs typeface="Calibri" pitchFamily="34" charset="-120"/>
            </a:endParaRPr>
          </a:p>
          <a:p>
            <a:pPr marL="0" indent="0">
              <a:spcAft>
                <a:spcPts val="600"/>
              </a:spcAft>
              <a:buNone/>
            </a:pPr>
            <a:endParaRPr lang="en-US" sz="1400" dirty="0"/>
          </a:p>
        </p:txBody>
      </p:sp>
      <p:sp>
        <p:nvSpPr>
          <p:cNvPr id="6" name="Text 4"/>
          <p:cNvSpPr/>
          <p:nvPr/>
        </p:nvSpPr>
        <p:spPr>
          <a:xfrm>
            <a:off x="457200" y="3585751"/>
            <a:ext cx="4206240" cy="365760"/>
          </a:xfrm>
          <a:prstGeom prst="rect">
            <a:avLst/>
          </a:prstGeom>
          <a:noFill/>
          <a:ln/>
        </p:spPr>
        <p:txBody>
          <a:bodyPr wrap="square" rtlCol="0" anchor="ctr"/>
          <a:lstStyle/>
          <a:p>
            <a:pPr marL="0" indent="0">
              <a:buNone/>
            </a:pPr>
            <a:r>
              <a:rPr lang="en-US" sz="1200" i="1" dirty="0">
                <a:solidFill>
                  <a:srgbClr val="E64626"/>
                </a:solidFill>
                <a:latin typeface="Calibri" pitchFamily="34" charset="0"/>
                <a:ea typeface="Calibri" pitchFamily="34" charset="-122"/>
                <a:cs typeface="Calibri" pitchFamily="34" charset="-120"/>
              </a:rPr>
              <a:t>If you move a shapefile, move all files together.</a:t>
            </a:r>
            <a:endParaRPr lang="en-US" sz="1200" dirty="0"/>
          </a:p>
        </p:txBody>
      </p:sp>
      <p:sp>
        <p:nvSpPr>
          <p:cNvPr id="7" name="Shape 5"/>
          <p:cNvSpPr/>
          <p:nvPr/>
        </p:nvSpPr>
        <p:spPr>
          <a:xfrm>
            <a:off x="4846320" y="1188720"/>
            <a:ext cx="3840480" cy="3383280"/>
          </a:xfrm>
          <a:prstGeom prst="roundRect">
            <a:avLst>
              <a:gd name="adj" fmla="val 2162"/>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074920" y="1371600"/>
            <a:ext cx="3383280" cy="274320"/>
          </a:xfrm>
          <a:prstGeom prst="rect">
            <a:avLst/>
          </a:prstGeom>
          <a:noFill/>
          <a:ln/>
        </p:spPr>
        <p:txBody>
          <a:bodyPr wrap="square" rtlCol="0" anchor="ctr"/>
          <a:lstStyle/>
          <a:p>
            <a:pPr marL="0" indent="0">
              <a:buNone/>
            </a:pPr>
            <a:r>
              <a:rPr lang="en-US" sz="1100" b="1" kern="0" spc="300" dirty="0">
                <a:solidFill>
                  <a:srgbClr val="D4A574"/>
                </a:solidFill>
                <a:latin typeface="Calibri" pitchFamily="34" charset="0"/>
                <a:ea typeface="Calibri" pitchFamily="34" charset="-122"/>
                <a:cs typeface="Calibri" pitchFamily="34" charset="-120"/>
              </a:rPr>
              <a:t>IN R</a:t>
            </a:r>
            <a:endParaRPr lang="en-US" sz="1100" dirty="0"/>
          </a:p>
        </p:txBody>
      </p:sp>
      <p:sp>
        <p:nvSpPr>
          <p:cNvPr id="9" name="Text 7"/>
          <p:cNvSpPr/>
          <p:nvPr/>
        </p:nvSpPr>
        <p:spPr>
          <a:xfrm>
            <a:off x="5074920" y="1691640"/>
            <a:ext cx="338328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sf package</a:t>
            </a:r>
            <a:endParaRPr lang="en-US" sz="1800" dirty="0"/>
          </a:p>
        </p:txBody>
      </p:sp>
      <p:sp>
        <p:nvSpPr>
          <p:cNvPr id="10" name="Text 8"/>
          <p:cNvSpPr/>
          <p:nvPr/>
        </p:nvSpPr>
        <p:spPr>
          <a:xfrm>
            <a:off x="5074920" y="2194560"/>
            <a:ext cx="3383280" cy="2377440"/>
          </a:xfrm>
          <a:prstGeom prst="rect">
            <a:avLst/>
          </a:prstGeom>
          <a:noFill/>
          <a:ln/>
        </p:spPr>
        <p:txBody>
          <a:bodyPr wrap="square" rtlCol="0" anchor="t"/>
          <a:lstStyle/>
          <a:p>
            <a:pPr marL="0" indent="0">
              <a:spcAft>
                <a:spcPts val="100"/>
              </a:spcAft>
              <a:buNone/>
            </a:pPr>
            <a:r>
              <a:rPr lang="en-US" sz="1050" dirty="0">
                <a:solidFill>
                  <a:srgbClr val="D4A574"/>
                </a:solidFill>
                <a:latin typeface="Courier New" pitchFamily="34" charset="0"/>
                <a:ea typeface="Courier New" pitchFamily="34" charset="-122"/>
                <a:cs typeface="Courier New" pitchFamily="34" charset="-120"/>
              </a:rPr>
              <a:t>library(sf)</a:t>
            </a:r>
            <a:endParaRPr lang="en-US" sz="1050" dirty="0"/>
          </a:p>
          <a:p>
            <a:pPr marL="0" indent="0">
              <a:spcAft>
                <a:spcPts val="100"/>
              </a:spcAft>
              <a:buNone/>
            </a:pP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districts &lt;- read_sf(</a:t>
            </a: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  "districts.shp")</a:t>
            </a:r>
            <a:endParaRPr lang="en-US" sz="1050" dirty="0"/>
          </a:p>
          <a:p>
            <a:pPr marL="0" indent="0">
              <a:spcAft>
                <a:spcPts val="100"/>
              </a:spcAft>
              <a:buNone/>
            </a:pP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hpai_sf &lt;- hpai |&gt;</a:t>
            </a: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  st_as_sf(</a:t>
            </a: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    coords = c("lon", "lat")) |&gt;</a:t>
            </a:r>
            <a:endParaRPr lang="en-US" sz="1050" dirty="0"/>
          </a:p>
          <a:p>
            <a:pPr marL="0" indent="0">
              <a:spcAft>
                <a:spcPts val="100"/>
              </a:spcAft>
              <a:buNone/>
            </a:pPr>
            <a:r>
              <a:rPr lang="en-US" sz="1050" dirty="0">
                <a:solidFill>
                  <a:srgbClr val="FFFFFF"/>
                </a:solidFill>
                <a:latin typeface="Courier New" pitchFamily="34" charset="0"/>
                <a:ea typeface="Courier New" pitchFamily="34" charset="-122"/>
                <a:cs typeface="Courier New" pitchFamily="34" charset="-120"/>
              </a:rPr>
              <a:t>  st_set_crs("EPSG:4326")</a:t>
            </a:r>
            <a:endParaRPr lang="en-US" sz="1050" dirty="0"/>
          </a:p>
        </p:txBody>
      </p:sp>
      <p:sp>
        <p:nvSpPr>
          <p:cNvPr id="11" name="Text 9"/>
          <p:cNvSpPr/>
          <p:nvPr/>
        </p:nvSpPr>
        <p:spPr>
          <a:xfrm>
            <a:off x="457200" y="4709160"/>
            <a:ext cx="8229600" cy="32004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sf treats spatial data as a data frame with one extra column (geometry).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Tobler's laws of geography</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rPr>
              <a:t>Two deceptively simple statements …</a:t>
            </a:r>
          </a:p>
        </p:txBody>
      </p:sp>
      <p:sp>
        <p:nvSpPr>
          <p:cNvPr id="5" name="Left card bg"/>
          <p:cNvSpPr/>
          <p:nvPr/>
        </p:nvSpPr>
        <p:spPr>
          <a:xfrm>
            <a:off x="457200" y="1691640"/>
            <a:ext cx="4023360" cy="2880360"/>
          </a:xfrm>
          <a:prstGeom prst="roundRect">
            <a:avLst>
              <a:gd name="adj" fmla="val 238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Left tag"/>
          <p:cNvSpPr/>
          <p:nvPr/>
        </p:nvSpPr>
        <p:spPr>
          <a:xfrm>
            <a:off x="685800" y="187452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rPr>
              <a:t>FIRST LAW — 1970</a:t>
            </a:r>
          </a:p>
        </p:txBody>
      </p:sp>
      <p:sp>
        <p:nvSpPr>
          <p:cNvPr id="7" name="Left header"/>
          <p:cNvSpPr/>
          <p:nvPr/>
        </p:nvSpPr>
        <p:spPr>
          <a:xfrm>
            <a:off x="685800" y="2212848"/>
            <a:ext cx="3566160" cy="457200"/>
          </a:xfrm>
          <a:prstGeom prst="rect">
            <a:avLst/>
          </a:prstGeom>
          <a:noFill/>
          <a:ln/>
        </p:spPr>
        <p:txBody>
          <a:bodyPr wrap="square" rtlCol="0" anchor="t"/>
          <a:lstStyle/>
          <a:p>
            <a:pPr marL="0" indent="0">
              <a:buNone/>
            </a:pPr>
            <a:r>
              <a:rPr lang="en-US" sz="1700" b="1" dirty="0">
                <a:solidFill>
                  <a:srgbClr val="1A355E"/>
                </a:solidFill>
                <a:latin typeface="Cambria" pitchFamily="34" charset="0"/>
              </a:rPr>
              <a:t>Near things are related</a:t>
            </a:r>
          </a:p>
        </p:txBody>
      </p:sp>
      <p:sp>
        <p:nvSpPr>
          <p:cNvPr id="8" name="Left quote"/>
          <p:cNvSpPr/>
          <p:nvPr/>
        </p:nvSpPr>
        <p:spPr>
          <a:xfrm>
            <a:off x="685800" y="2697480"/>
            <a:ext cx="3566160" cy="731520"/>
          </a:xfrm>
          <a:prstGeom prst="rect">
            <a:avLst/>
          </a:prstGeom>
          <a:noFill/>
          <a:ln/>
        </p:spPr>
        <p:txBody>
          <a:bodyPr wrap="square" rtlCol="0" anchor="t"/>
          <a:lstStyle/>
          <a:p>
            <a:pPr marL="0" indent="0">
              <a:buNone/>
            </a:pPr>
            <a:r>
              <a:rPr lang="en-US" sz="1200" i="1" dirty="0">
                <a:solidFill>
                  <a:srgbClr val="424242"/>
                </a:solidFill>
                <a:latin typeface="Calibri" pitchFamily="34" charset="0"/>
              </a:rPr>
              <a:t>“Everything is related to everything else, but near things are more related than distant things.”</a:t>
            </a:r>
          </a:p>
        </p:txBody>
      </p:sp>
      <p:sp>
        <p:nvSpPr>
          <p:cNvPr id="9" name="Left body"/>
          <p:cNvSpPr/>
          <p:nvPr/>
        </p:nvSpPr>
        <p:spPr>
          <a:xfrm>
            <a:off x="685800" y="3520440"/>
            <a:ext cx="3566160" cy="960120"/>
          </a:xfrm>
          <a:prstGeom prst="rect">
            <a:avLst/>
          </a:prstGeom>
          <a:noFill/>
          <a:ln/>
        </p:spPr>
        <p:txBody>
          <a:bodyPr wrap="square" rtlCol="0" anchor="t"/>
          <a:lstStyle/>
          <a:p>
            <a:pPr marL="182880" indent="-182880">
              <a:spcAft>
                <a:spcPts val="400"/>
              </a:spcAft>
              <a:buChar char="•"/>
            </a:pPr>
            <a:r>
              <a:rPr lang="en-US" sz="1100" dirty="0">
                <a:solidFill>
                  <a:srgbClr val="424242"/>
                </a:solidFill>
                <a:latin typeface="Calibri" pitchFamily="34" charset="0"/>
              </a:rPr>
              <a:t>The basis of spatial autocorrelation, Moran's I, Gi*, and kernel density</a:t>
            </a:r>
          </a:p>
          <a:p>
            <a:pPr marL="182880" indent="-182880">
              <a:buChar char="•"/>
            </a:pPr>
            <a:r>
              <a:rPr lang="en-US" sz="1100" dirty="0">
                <a:solidFill>
                  <a:srgbClr val="424242"/>
                </a:solidFill>
                <a:latin typeface="Calibri" pitchFamily="34" charset="0"/>
              </a:rPr>
              <a:t>Breaks the classic assumption that observations are independent</a:t>
            </a:r>
          </a:p>
        </p:txBody>
      </p:sp>
      <p:sp>
        <p:nvSpPr>
          <p:cNvPr id="10" name="Right card bg"/>
          <p:cNvSpPr/>
          <p:nvPr/>
        </p:nvSpPr>
        <p:spPr>
          <a:xfrm>
            <a:off x="4663440" y="1691640"/>
            <a:ext cx="4023360" cy="2880360"/>
          </a:xfrm>
          <a:prstGeom prst="roundRect">
            <a:avLst>
              <a:gd name="adj" fmla="val 238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1" name="Right tag"/>
          <p:cNvSpPr/>
          <p:nvPr/>
        </p:nvSpPr>
        <p:spPr>
          <a:xfrm>
            <a:off x="4892040" y="1874520"/>
            <a:ext cx="3566160" cy="320040"/>
          </a:xfrm>
          <a:prstGeom prst="rect">
            <a:avLst/>
          </a:prstGeom>
          <a:noFill/>
          <a:ln/>
        </p:spPr>
        <p:txBody>
          <a:bodyPr wrap="square" rtlCol="0" anchor="ctr"/>
          <a:lstStyle/>
          <a:p>
            <a:pPr marL="0" indent="0">
              <a:buNone/>
            </a:pPr>
            <a:r>
              <a:rPr lang="en-US" sz="1200" b="1" kern="0" spc="300" dirty="0">
                <a:solidFill>
                  <a:srgbClr val="D4A574"/>
                </a:solidFill>
                <a:latin typeface="Calibri" pitchFamily="34" charset="0"/>
              </a:rPr>
              <a:t>SECOND LAW — 1999</a:t>
            </a:r>
          </a:p>
        </p:txBody>
      </p:sp>
      <p:sp>
        <p:nvSpPr>
          <p:cNvPr id="12" name="Right header"/>
          <p:cNvSpPr/>
          <p:nvPr/>
        </p:nvSpPr>
        <p:spPr>
          <a:xfrm>
            <a:off x="4892040" y="2212848"/>
            <a:ext cx="3566160" cy="457200"/>
          </a:xfrm>
          <a:prstGeom prst="rect">
            <a:avLst/>
          </a:prstGeom>
          <a:noFill/>
          <a:ln/>
        </p:spPr>
        <p:txBody>
          <a:bodyPr wrap="square" rtlCol="0" anchor="t"/>
          <a:lstStyle/>
          <a:p>
            <a:pPr marL="0" indent="0">
              <a:buNone/>
            </a:pPr>
            <a:r>
              <a:rPr lang="en-US" sz="1700" b="1" dirty="0">
                <a:solidFill>
                  <a:srgbClr val="FFFFFF"/>
                </a:solidFill>
                <a:latin typeface="Cambria" pitchFamily="34" charset="0"/>
              </a:rPr>
              <a:t>What's outside still matters</a:t>
            </a:r>
          </a:p>
        </p:txBody>
      </p:sp>
      <p:sp>
        <p:nvSpPr>
          <p:cNvPr id="13" name="Right quote"/>
          <p:cNvSpPr/>
          <p:nvPr/>
        </p:nvSpPr>
        <p:spPr>
          <a:xfrm>
            <a:off x="4892040" y="2697480"/>
            <a:ext cx="3566160" cy="731520"/>
          </a:xfrm>
          <a:prstGeom prst="rect">
            <a:avLst/>
          </a:prstGeom>
          <a:noFill/>
          <a:ln/>
        </p:spPr>
        <p:txBody>
          <a:bodyPr wrap="square" rtlCol="0" anchor="t"/>
          <a:lstStyle/>
          <a:p>
            <a:pPr marL="0" indent="0">
              <a:buNone/>
            </a:pPr>
            <a:r>
              <a:rPr lang="en-US" sz="1200" i="1" dirty="0">
                <a:solidFill>
                  <a:srgbClr val="D4A574"/>
                </a:solidFill>
                <a:latin typeface="Calibri" pitchFamily="34" charset="0"/>
              </a:rPr>
              <a:t>“The phenomenon external to an area of interest affects what goes on inside.”</a:t>
            </a:r>
          </a:p>
        </p:txBody>
      </p:sp>
      <p:sp>
        <p:nvSpPr>
          <p:cNvPr id="14" name="Right body"/>
          <p:cNvSpPr/>
          <p:nvPr/>
        </p:nvSpPr>
        <p:spPr>
          <a:xfrm>
            <a:off x="4892040" y="3520440"/>
            <a:ext cx="3566160" cy="960120"/>
          </a:xfrm>
          <a:prstGeom prst="rect">
            <a:avLst/>
          </a:prstGeom>
          <a:noFill/>
          <a:ln/>
        </p:spPr>
        <p:txBody>
          <a:bodyPr wrap="square" rtlCol="0" anchor="t"/>
          <a:lstStyle/>
          <a:p>
            <a:pPr marL="182880" indent="-182880">
              <a:spcAft>
                <a:spcPts val="400"/>
              </a:spcAft>
              <a:buClr>
                <a:srgbClr val="D4A574"/>
              </a:buClr>
              <a:buChar char="•"/>
            </a:pPr>
            <a:r>
              <a:rPr lang="en-US" sz="1100" dirty="0">
                <a:solidFill>
                  <a:srgbClr val="FFFFFF"/>
                </a:solidFill>
                <a:latin typeface="Calibri" pitchFamily="34" charset="0"/>
              </a:rPr>
              <a:t>A caution about arbitrary borders — disease doesn't stop at a district line</a:t>
            </a:r>
          </a:p>
          <a:p>
            <a:pPr marL="182880" indent="-182880">
              <a:buClr>
                <a:srgbClr val="D4A574"/>
              </a:buClr>
              <a:buChar char="•"/>
            </a:pPr>
            <a:r>
              <a:rPr lang="en-US" sz="1100" dirty="0">
                <a:solidFill>
                  <a:srgbClr val="FFFFFF"/>
                </a:solidFill>
                <a:latin typeface="Calibri" pitchFamily="34" charset="0"/>
              </a:rPr>
              <a:t>Relevant whenever you subset a study area — e.g. Kerala from India</a:t>
            </a:r>
          </a:p>
        </p:txBody>
      </p:sp>
      <p:sp>
        <p:nvSpPr>
          <p:cNvPr id="15" name="Footer"/>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rPr>
              <a:t>Together: patterns are locally connected, and no study-area boundary is truly closed.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Patterns in space </a:t>
            </a:r>
            <a:r>
              <a:rPr lang="en-US" sz="2400" b="1" dirty="0">
                <a:solidFill>
                  <a:srgbClr val="E64626"/>
                </a:solidFill>
                <a:latin typeface="Aptos" panose="020B0004020202020204" pitchFamily="34" charset="0"/>
                <a:ea typeface="Cambria" pitchFamily="34" charset="-122"/>
              </a:rPr>
              <a:t>– clusters and spatial autocorrelation</a:t>
            </a:r>
            <a:endParaRPr lang="en-US" sz="3000" b="1" dirty="0">
              <a:solidFill>
                <a:srgbClr val="E64626"/>
              </a:solidFill>
              <a:latin typeface="Aptos" panose="020B0004020202020204" pitchFamily="34" charset="0"/>
              <a:ea typeface="Cambria" pitchFamily="34" charset="-122"/>
            </a:endParaRP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88720"/>
            <a:ext cx="8229600" cy="457200"/>
          </a:xfrm>
          <a:prstGeom prst="rect">
            <a:avLst/>
          </a:prstGeom>
          <a:noFill/>
          <a:ln/>
        </p:spPr>
        <p:txBody>
          <a:bodyPr wrap="square" rtlCol="0" anchor="ctr"/>
          <a:lstStyle/>
          <a:p>
            <a:pPr marL="0" indent="0">
              <a:buNone/>
            </a:pPr>
            <a:r>
              <a:rPr lang="en-US" sz="1600" i="1" dirty="0">
                <a:solidFill>
                  <a:srgbClr val="6B7280"/>
                </a:solidFill>
                <a:latin typeface="Aptos" panose="020B0004020202020204" pitchFamily="34" charset="0"/>
                <a:ea typeface="Calibri" pitchFamily="34" charset="-122"/>
                <a:cs typeface="Calibri" pitchFamily="34" charset="-120"/>
              </a:rPr>
              <a:t>One idea — near things are related — four different ways to test it.</a:t>
            </a:r>
          </a:p>
        </p:txBody>
      </p:sp>
      <p:sp>
        <p:nvSpPr>
          <p:cNvPr id="10" name="Card1 bg"/>
          <p:cNvSpPr/>
          <p:nvPr/>
        </p:nvSpPr>
        <p:spPr>
          <a:xfrm>
            <a:off x="457200" y="1828800"/>
            <a:ext cx="192024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1" name="Card1 circle"/>
          <p:cNvSpPr/>
          <p:nvPr/>
        </p:nvSpPr>
        <p:spPr>
          <a:xfrm>
            <a:off x="1067120" y="2011680"/>
            <a:ext cx="700000" cy="700000"/>
          </a:xfrm>
          <a:prstGeom prst="ellipse">
            <a:avLst/>
          </a:prstGeom>
          <a:solidFill>
            <a:srgbClr val="E64626"/>
          </a:solidFill>
          <a:ln>
            <a:noFill/>
          </a:ln>
        </p:spPr>
        <p:txBody>
          <a:bodyPr wrap="square" lIns="0" tIns="0" rIns="0" bIns="0" anchor="ctr" anchorCtr="1"/>
          <a:lstStyle/>
          <a:p>
            <a:pPr algn="ctr">
              <a:buNone/>
            </a:pPr>
            <a:r>
              <a:rPr lang="en-US" sz="2400" b="1" dirty="0">
                <a:solidFill>
                  <a:srgbClr val="FFFFFF"/>
                </a:solidFill>
                <a:latin typeface="Cambria" pitchFamily="34" charset="0"/>
              </a:rPr>
              <a:t>1</a:t>
            </a:r>
          </a:p>
        </p:txBody>
      </p:sp>
      <p:sp>
        <p:nvSpPr>
          <p:cNvPr id="12" name="Card1 tag"/>
          <p:cNvSpPr/>
          <p:nvPr/>
        </p:nvSpPr>
        <p:spPr>
          <a:xfrm>
            <a:off x="502920" y="2803120"/>
            <a:ext cx="1828800" cy="228600"/>
          </a:xfrm>
          <a:prstGeom prst="rect">
            <a:avLst/>
          </a:prstGeom>
          <a:noFill/>
          <a:ln/>
        </p:spPr>
        <p:txBody>
          <a:bodyPr wrap="square" lIns="0" rIns="0" rtlCol="0" anchor="ctr"/>
          <a:lstStyle/>
          <a:p>
            <a:pPr algn="ctr">
              <a:buNone/>
            </a:pPr>
            <a:r>
              <a:rPr lang="en-US" sz="1050" b="1" kern="0" spc="200" dirty="0">
                <a:solidFill>
                  <a:srgbClr val="71A499"/>
                </a:solidFill>
                <a:latin typeface="Calibri" pitchFamily="34" charset="0"/>
              </a:rPr>
              <a:t>GLOBAL</a:t>
            </a:r>
          </a:p>
        </p:txBody>
      </p:sp>
      <p:sp>
        <p:nvSpPr>
          <p:cNvPr id="13" name="Card1 title"/>
          <p:cNvSpPr/>
          <p:nvPr/>
        </p:nvSpPr>
        <p:spPr>
          <a:xfrm>
            <a:off x="502920" y="3077440"/>
            <a:ext cx="1828800" cy="480060"/>
          </a:xfrm>
          <a:prstGeom prst="rect">
            <a:avLst/>
          </a:prstGeom>
          <a:noFill/>
          <a:ln/>
        </p:spPr>
        <p:txBody>
          <a:bodyPr wrap="square" lIns="0" rIns="0" rtlCol="0" anchor="t"/>
          <a:lstStyle/>
          <a:p>
            <a:pPr algn="ctr">
              <a:buNone/>
            </a:pPr>
            <a:r>
              <a:rPr lang="en-US" sz="1500" b="1" dirty="0">
                <a:solidFill>
                  <a:srgbClr val="1A355E"/>
                </a:solidFill>
                <a:latin typeface="Cambria" pitchFamily="34" charset="0"/>
              </a:rPr>
              <a:t>Moran's I</a:t>
            </a:r>
          </a:p>
        </p:txBody>
      </p:sp>
      <p:sp>
        <p:nvSpPr>
          <p:cNvPr id="14" name="Card1 desc"/>
          <p:cNvSpPr/>
          <p:nvPr/>
        </p:nvSpPr>
        <p:spPr>
          <a:xfrm>
            <a:off x="502920" y="3603370"/>
            <a:ext cx="182880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Is there clustering anywhere on the map?</a:t>
            </a:r>
          </a:p>
        </p:txBody>
      </p:sp>
      <p:sp>
        <p:nvSpPr>
          <p:cNvPr id="20" name="Card2 bg"/>
          <p:cNvSpPr/>
          <p:nvPr/>
        </p:nvSpPr>
        <p:spPr>
          <a:xfrm>
            <a:off x="2560320" y="1828800"/>
            <a:ext cx="192024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21" name="Card2 circle"/>
          <p:cNvSpPr/>
          <p:nvPr/>
        </p:nvSpPr>
        <p:spPr>
          <a:xfrm>
            <a:off x="3170240" y="2011680"/>
            <a:ext cx="700000" cy="700000"/>
          </a:xfrm>
          <a:prstGeom prst="ellipse">
            <a:avLst/>
          </a:prstGeom>
          <a:solidFill>
            <a:srgbClr val="E64626"/>
          </a:solidFill>
          <a:ln>
            <a:noFill/>
          </a:ln>
        </p:spPr>
        <p:txBody>
          <a:bodyPr wrap="square" lIns="0" tIns="0" rIns="0" bIns="0" anchor="ctr" anchorCtr="1"/>
          <a:lstStyle/>
          <a:p>
            <a:pPr algn="ctr">
              <a:buNone/>
            </a:pPr>
            <a:r>
              <a:rPr lang="en-US" sz="2400" b="1" dirty="0">
                <a:solidFill>
                  <a:srgbClr val="FFFFFF"/>
                </a:solidFill>
                <a:latin typeface="Cambria" pitchFamily="34" charset="0"/>
              </a:rPr>
              <a:t>2</a:t>
            </a:r>
          </a:p>
        </p:txBody>
      </p:sp>
      <p:sp>
        <p:nvSpPr>
          <p:cNvPr id="22" name="Card2 tag"/>
          <p:cNvSpPr/>
          <p:nvPr/>
        </p:nvSpPr>
        <p:spPr>
          <a:xfrm>
            <a:off x="2606040" y="2803120"/>
            <a:ext cx="1828800" cy="228600"/>
          </a:xfrm>
          <a:prstGeom prst="rect">
            <a:avLst/>
          </a:prstGeom>
          <a:noFill/>
          <a:ln/>
        </p:spPr>
        <p:txBody>
          <a:bodyPr wrap="square" lIns="0" rIns="0" rtlCol="0" anchor="ctr"/>
          <a:lstStyle/>
          <a:p>
            <a:pPr algn="ctr">
              <a:buNone/>
            </a:pPr>
            <a:r>
              <a:rPr lang="en-US" sz="1050" b="1" kern="0" spc="200" dirty="0">
                <a:solidFill>
                  <a:srgbClr val="71A499"/>
                </a:solidFill>
                <a:latin typeface="Calibri" pitchFamily="34" charset="0"/>
              </a:rPr>
              <a:t>LOCAL</a:t>
            </a:r>
          </a:p>
        </p:txBody>
      </p:sp>
      <p:sp>
        <p:nvSpPr>
          <p:cNvPr id="23" name="Card2 title"/>
          <p:cNvSpPr/>
          <p:nvPr/>
        </p:nvSpPr>
        <p:spPr>
          <a:xfrm>
            <a:off x="2606040" y="3077440"/>
            <a:ext cx="1828800" cy="480060"/>
          </a:xfrm>
          <a:prstGeom prst="rect">
            <a:avLst/>
          </a:prstGeom>
          <a:noFill/>
          <a:ln/>
        </p:spPr>
        <p:txBody>
          <a:bodyPr wrap="square" lIns="0" rIns="0" rtlCol="0" anchor="t"/>
          <a:lstStyle/>
          <a:p>
            <a:pPr algn="ctr">
              <a:buNone/>
            </a:pPr>
            <a:r>
              <a:rPr lang="en-US" sz="1500" b="1" dirty="0">
                <a:solidFill>
                  <a:srgbClr val="1A355E"/>
                </a:solidFill>
                <a:latin typeface="Cambria" pitchFamily="34" charset="0"/>
              </a:rPr>
              <a:t>Gi* (Getis–Ord)</a:t>
            </a:r>
          </a:p>
        </p:txBody>
      </p:sp>
      <p:sp>
        <p:nvSpPr>
          <p:cNvPr id="24" name="Card2 desc"/>
          <p:cNvSpPr/>
          <p:nvPr/>
        </p:nvSpPr>
        <p:spPr>
          <a:xfrm>
            <a:off x="2606040" y="3603370"/>
            <a:ext cx="182880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Where are the hot and cold spots?</a:t>
            </a:r>
          </a:p>
        </p:txBody>
      </p:sp>
      <p:sp>
        <p:nvSpPr>
          <p:cNvPr id="30" name="Card3 bg"/>
          <p:cNvSpPr/>
          <p:nvPr/>
        </p:nvSpPr>
        <p:spPr>
          <a:xfrm>
            <a:off x="4663440" y="1828800"/>
            <a:ext cx="192024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31" name="Card3 circle"/>
          <p:cNvSpPr/>
          <p:nvPr/>
        </p:nvSpPr>
        <p:spPr>
          <a:xfrm>
            <a:off x="5273360" y="2011680"/>
            <a:ext cx="700000" cy="700000"/>
          </a:xfrm>
          <a:prstGeom prst="ellipse">
            <a:avLst/>
          </a:prstGeom>
          <a:solidFill>
            <a:srgbClr val="E64626"/>
          </a:solidFill>
          <a:ln>
            <a:noFill/>
          </a:ln>
        </p:spPr>
        <p:txBody>
          <a:bodyPr wrap="square" lIns="0" tIns="0" rIns="0" bIns="0" anchor="ctr" anchorCtr="1"/>
          <a:lstStyle/>
          <a:p>
            <a:pPr algn="ctr">
              <a:buNone/>
            </a:pPr>
            <a:r>
              <a:rPr lang="en-US" sz="2400" b="1" dirty="0">
                <a:solidFill>
                  <a:srgbClr val="FFFFFF"/>
                </a:solidFill>
                <a:latin typeface="Cambria" pitchFamily="34" charset="0"/>
              </a:rPr>
              <a:t>3</a:t>
            </a:r>
          </a:p>
        </p:txBody>
      </p:sp>
      <p:sp>
        <p:nvSpPr>
          <p:cNvPr id="32" name="Card3 tag"/>
          <p:cNvSpPr/>
          <p:nvPr/>
        </p:nvSpPr>
        <p:spPr>
          <a:xfrm>
            <a:off x="4709160" y="2803120"/>
            <a:ext cx="1828800" cy="228600"/>
          </a:xfrm>
          <a:prstGeom prst="rect">
            <a:avLst/>
          </a:prstGeom>
          <a:noFill/>
          <a:ln/>
        </p:spPr>
        <p:txBody>
          <a:bodyPr wrap="square" lIns="0" rIns="0" rtlCol="0" anchor="ctr"/>
          <a:lstStyle/>
          <a:p>
            <a:pPr algn="ctr">
              <a:buNone/>
            </a:pPr>
            <a:r>
              <a:rPr lang="en-US" sz="1050" b="1" kern="0" spc="200" dirty="0">
                <a:solidFill>
                  <a:srgbClr val="71A499"/>
                </a:solidFill>
                <a:latin typeface="Calibri" pitchFamily="34" charset="0"/>
              </a:rPr>
              <a:t>CONTINUOUS</a:t>
            </a:r>
          </a:p>
        </p:txBody>
      </p:sp>
      <p:sp>
        <p:nvSpPr>
          <p:cNvPr id="33" name="Card3 title"/>
          <p:cNvSpPr/>
          <p:nvPr/>
        </p:nvSpPr>
        <p:spPr>
          <a:xfrm>
            <a:off x="4709160" y="3077440"/>
            <a:ext cx="1828800" cy="480060"/>
          </a:xfrm>
          <a:prstGeom prst="rect">
            <a:avLst/>
          </a:prstGeom>
          <a:noFill/>
          <a:ln/>
        </p:spPr>
        <p:txBody>
          <a:bodyPr wrap="square" lIns="0" rIns="0" rtlCol="0" anchor="t"/>
          <a:lstStyle/>
          <a:p>
            <a:pPr algn="ctr">
              <a:buNone/>
            </a:pPr>
            <a:r>
              <a:rPr lang="en-US" sz="1500" b="1" dirty="0">
                <a:solidFill>
                  <a:srgbClr val="1A355E"/>
                </a:solidFill>
                <a:latin typeface="Cambria" pitchFamily="34" charset="0"/>
              </a:rPr>
              <a:t>Kernel density</a:t>
            </a:r>
          </a:p>
        </p:txBody>
      </p:sp>
      <p:sp>
        <p:nvSpPr>
          <p:cNvPr id="34" name="Card3 desc"/>
          <p:cNvSpPr/>
          <p:nvPr/>
        </p:nvSpPr>
        <p:spPr>
          <a:xfrm>
            <a:off x="4709160" y="3603370"/>
            <a:ext cx="182880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What does the risk surface look like?</a:t>
            </a:r>
          </a:p>
        </p:txBody>
      </p:sp>
      <p:sp>
        <p:nvSpPr>
          <p:cNvPr id="40" name="Card4 bg"/>
          <p:cNvSpPr/>
          <p:nvPr/>
        </p:nvSpPr>
        <p:spPr>
          <a:xfrm>
            <a:off x="6766560" y="1828800"/>
            <a:ext cx="1920240" cy="2743200"/>
          </a:xfrm>
          <a:prstGeom prst="roundRect">
            <a:avLst>
              <a:gd name="adj" fmla="val 3500"/>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41" name="Card4 circle"/>
          <p:cNvSpPr/>
          <p:nvPr/>
        </p:nvSpPr>
        <p:spPr>
          <a:xfrm>
            <a:off x="7376480" y="2011680"/>
            <a:ext cx="700000" cy="700000"/>
          </a:xfrm>
          <a:prstGeom prst="ellipse">
            <a:avLst/>
          </a:prstGeom>
          <a:solidFill>
            <a:srgbClr val="E64626"/>
          </a:solidFill>
          <a:ln>
            <a:noFill/>
          </a:ln>
        </p:spPr>
        <p:txBody>
          <a:bodyPr wrap="square" lIns="0" tIns="0" rIns="0" bIns="0" anchor="ctr" anchorCtr="1"/>
          <a:lstStyle/>
          <a:p>
            <a:pPr algn="ctr">
              <a:buNone/>
            </a:pPr>
            <a:r>
              <a:rPr lang="en-US" sz="2400" b="1" dirty="0">
                <a:solidFill>
                  <a:srgbClr val="FFFFFF"/>
                </a:solidFill>
                <a:latin typeface="Cambria" pitchFamily="34" charset="0"/>
              </a:rPr>
              <a:t>4</a:t>
            </a:r>
          </a:p>
        </p:txBody>
      </p:sp>
      <p:sp>
        <p:nvSpPr>
          <p:cNvPr id="42" name="Card4 tag"/>
          <p:cNvSpPr/>
          <p:nvPr/>
        </p:nvSpPr>
        <p:spPr>
          <a:xfrm>
            <a:off x="6812280" y="2803120"/>
            <a:ext cx="1828800" cy="228600"/>
          </a:xfrm>
          <a:prstGeom prst="rect">
            <a:avLst/>
          </a:prstGeom>
          <a:noFill/>
          <a:ln/>
        </p:spPr>
        <p:txBody>
          <a:bodyPr wrap="square" lIns="0" rIns="0" rtlCol="0" anchor="ctr"/>
          <a:lstStyle/>
          <a:p>
            <a:pPr algn="ctr">
              <a:buNone/>
            </a:pPr>
            <a:r>
              <a:rPr lang="en-US" sz="1050" b="1" kern="0" spc="200" dirty="0">
                <a:solidFill>
                  <a:srgbClr val="71A499"/>
                </a:solidFill>
                <a:latin typeface="Calibri" pitchFamily="34" charset="0"/>
              </a:rPr>
              <a:t>SIGNIFICANCE</a:t>
            </a:r>
          </a:p>
        </p:txBody>
      </p:sp>
      <p:sp>
        <p:nvSpPr>
          <p:cNvPr id="43" name="Card4 title"/>
          <p:cNvSpPr/>
          <p:nvPr/>
        </p:nvSpPr>
        <p:spPr>
          <a:xfrm>
            <a:off x="6812280" y="3077440"/>
            <a:ext cx="1828800" cy="480060"/>
          </a:xfrm>
          <a:prstGeom prst="rect">
            <a:avLst/>
          </a:prstGeom>
          <a:noFill/>
          <a:ln/>
        </p:spPr>
        <p:txBody>
          <a:bodyPr wrap="square" lIns="0" rIns="0" rtlCol="0" anchor="t"/>
          <a:lstStyle/>
          <a:p>
            <a:pPr algn="ctr">
              <a:buNone/>
            </a:pPr>
            <a:r>
              <a:rPr lang="en-US" sz="1500" b="1" dirty="0">
                <a:solidFill>
                  <a:srgbClr val="1A355E"/>
                </a:solidFill>
                <a:latin typeface="Cambria" pitchFamily="34" charset="0"/>
              </a:rPr>
              <a:t>SaTScan</a:t>
            </a:r>
          </a:p>
        </p:txBody>
      </p:sp>
      <p:sp>
        <p:nvSpPr>
          <p:cNvPr id="44" name="Card4 desc"/>
          <p:cNvSpPr/>
          <p:nvPr/>
        </p:nvSpPr>
        <p:spPr>
          <a:xfrm>
            <a:off x="6812280" y="3603370"/>
            <a:ext cx="1828800" cy="868680"/>
          </a:xfrm>
          <a:prstGeom prst="rect">
            <a:avLst/>
          </a:prstGeom>
          <a:noFill/>
          <a:ln/>
        </p:spPr>
        <p:txBody>
          <a:bodyPr wrap="square" lIns="0" rIns="0" rtlCol="0" anchor="t"/>
          <a:lstStyle/>
          <a:p>
            <a:pPr algn="ctr">
              <a:buNone/>
            </a:pPr>
            <a:r>
              <a:rPr lang="en-US" sz="1050" i="1" dirty="0">
                <a:solidFill>
                  <a:srgbClr val="424242"/>
                </a:solidFill>
                <a:latin typeface="Calibri" pitchFamily="34" charset="0"/>
              </a:rPr>
              <a:t>Is a specific cluster too unlikely to be chance?</a:t>
            </a:r>
          </a:p>
        </p:txBody>
      </p:sp>
      <p:sp>
        <p:nvSpPr>
          <p:cNvPr id="50" name="Footer"/>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Aptos" panose="020B0004020202020204" pitchFamily="34" charset="0"/>
                <a:ea typeface="Calibri" pitchFamily="34" charset="-122"/>
                <a:cs typeface="Calibri" pitchFamily="34" charset="-120"/>
              </a:rPr>
              <a:t>Same question — where do we look for signal — four different lenses.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From global to local: Gi*</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rPr>
              <a:t>Moran's I gives one number for the whole map. Gi* gives one for every district.</a:t>
            </a:r>
          </a:p>
        </p:txBody>
      </p:sp>
      <p:sp>
        <p:nvSpPr>
          <p:cNvPr id="5" name="Left card bg"/>
          <p:cNvSpPr/>
          <p:nvPr/>
        </p:nvSpPr>
        <p:spPr>
          <a:xfrm>
            <a:off x="457200" y="1691640"/>
            <a:ext cx="4023360" cy="2880360"/>
          </a:xfrm>
          <a:prstGeom prst="roundRect">
            <a:avLst>
              <a:gd name="adj" fmla="val 238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Left tag"/>
          <p:cNvSpPr/>
          <p:nvPr/>
        </p:nvSpPr>
        <p:spPr>
          <a:xfrm>
            <a:off x="685800" y="187452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rPr>
              <a:t>GLOBAL — MORAN'S I</a:t>
            </a:r>
          </a:p>
        </p:txBody>
      </p:sp>
      <p:sp>
        <p:nvSpPr>
          <p:cNvPr id="7" name="Left header"/>
          <p:cNvSpPr/>
          <p:nvPr/>
        </p:nvSpPr>
        <p:spPr>
          <a:xfrm>
            <a:off x="685800" y="2212848"/>
            <a:ext cx="3566160" cy="640080"/>
          </a:xfrm>
          <a:prstGeom prst="rect">
            <a:avLst/>
          </a:prstGeom>
          <a:noFill/>
          <a:ln/>
        </p:spPr>
        <p:txBody>
          <a:bodyPr wrap="square" rtlCol="0" anchor="t"/>
          <a:lstStyle/>
          <a:p>
            <a:pPr marL="0" indent="0">
              <a:buNone/>
            </a:pPr>
            <a:r>
              <a:rPr lang="en-US" sz="1700" b="1" dirty="0">
                <a:solidFill>
                  <a:srgbClr val="1A355E"/>
                </a:solidFill>
                <a:latin typeface="Cambria" pitchFamily="34" charset="0"/>
              </a:rPr>
              <a:t>One statistic for the whole area</a:t>
            </a:r>
          </a:p>
        </p:txBody>
      </p:sp>
      <p:sp>
        <p:nvSpPr>
          <p:cNvPr id="8" name="Left body"/>
          <p:cNvSpPr/>
          <p:nvPr/>
        </p:nvSpPr>
        <p:spPr>
          <a:xfrm>
            <a:off x="685800" y="2926080"/>
            <a:ext cx="3566160" cy="1554480"/>
          </a:xfrm>
          <a:prstGeom prst="rect">
            <a:avLst/>
          </a:prstGeom>
          <a:noFill/>
          <a:ln/>
        </p:spPr>
        <p:txBody>
          <a:bodyPr wrap="square" rtlCol="0" anchor="t"/>
          <a:lstStyle/>
          <a:p>
            <a:pPr marL="0" indent="0">
              <a:spcAft>
                <a:spcPts val="600"/>
              </a:spcAft>
              <a:buNone/>
            </a:pPr>
            <a:r>
              <a:rPr lang="en-US" sz="1300" dirty="0">
                <a:solidFill>
                  <a:srgbClr val="424242"/>
                </a:solidFill>
                <a:latin typeface="Calibri" pitchFamily="34" charset="0"/>
              </a:rPr>
              <a:t>Tests clustering across the whole study area</a:t>
            </a:r>
          </a:p>
          <a:p>
            <a:pPr marL="0" indent="0">
              <a:spcAft>
                <a:spcPts val="600"/>
              </a:spcAft>
              <a:buNone/>
            </a:pPr>
            <a:r>
              <a:rPr lang="en-US" sz="1300" dirty="0">
                <a:solidFill>
                  <a:srgbClr val="424242"/>
                </a:solidFill>
                <a:latin typeface="Calibri" pitchFamily="34" charset="0"/>
              </a:rPr>
              <a:t>Answers: is there </a:t>
            </a:r>
            <a:r>
              <a:rPr lang="en-US" sz="1300" b="1" dirty="0">
                <a:solidFill>
                  <a:srgbClr val="E64626"/>
                </a:solidFill>
                <a:latin typeface="Calibri" pitchFamily="34" charset="0"/>
              </a:rPr>
              <a:t>any</a:t>
            </a:r>
            <a:r>
              <a:rPr lang="en-US" sz="1300" dirty="0">
                <a:solidFill>
                  <a:srgbClr val="424242"/>
                </a:solidFill>
                <a:latin typeface="Calibri" pitchFamily="34" charset="0"/>
              </a:rPr>
              <a:t> pattern at all?</a:t>
            </a:r>
          </a:p>
          <a:p>
            <a:pPr marL="0" indent="0">
              <a:buNone/>
            </a:pPr>
            <a:r>
              <a:rPr lang="en-US" sz="1300" dirty="0">
                <a:solidFill>
                  <a:srgbClr val="424242"/>
                </a:solidFill>
                <a:latin typeface="Calibri" pitchFamily="34" charset="0"/>
              </a:rPr>
              <a:t>Output: a single I statistic and one P-value for the whole map</a:t>
            </a:r>
          </a:p>
        </p:txBody>
      </p:sp>
      <p:sp>
        <p:nvSpPr>
          <p:cNvPr id="9" name="Right card bg"/>
          <p:cNvSpPr/>
          <p:nvPr/>
        </p:nvSpPr>
        <p:spPr>
          <a:xfrm>
            <a:off x="4663440" y="1691640"/>
            <a:ext cx="4023360" cy="2880360"/>
          </a:xfrm>
          <a:prstGeom prst="roundRect">
            <a:avLst>
              <a:gd name="adj" fmla="val 238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0" name="Right tag"/>
          <p:cNvSpPr/>
          <p:nvPr/>
        </p:nvSpPr>
        <p:spPr>
          <a:xfrm>
            <a:off x="4892040" y="1874520"/>
            <a:ext cx="3566160" cy="320040"/>
          </a:xfrm>
          <a:prstGeom prst="rect">
            <a:avLst/>
          </a:prstGeom>
          <a:noFill/>
          <a:ln/>
        </p:spPr>
        <p:txBody>
          <a:bodyPr wrap="square" rtlCol="0" anchor="ctr"/>
          <a:lstStyle/>
          <a:p>
            <a:pPr marL="0" indent="0">
              <a:buNone/>
            </a:pPr>
            <a:r>
              <a:rPr lang="en-US" sz="1200" b="1" kern="0" spc="300" dirty="0">
                <a:solidFill>
                  <a:srgbClr val="D4A574"/>
                </a:solidFill>
                <a:latin typeface="Calibri" pitchFamily="34" charset="0"/>
              </a:rPr>
              <a:t>LOCAL — GI*</a:t>
            </a:r>
          </a:p>
        </p:txBody>
      </p:sp>
      <p:sp>
        <p:nvSpPr>
          <p:cNvPr id="11" name="Right header"/>
          <p:cNvSpPr/>
          <p:nvPr/>
        </p:nvSpPr>
        <p:spPr>
          <a:xfrm>
            <a:off x="4892040" y="2212848"/>
            <a:ext cx="3566160" cy="640080"/>
          </a:xfrm>
          <a:prstGeom prst="rect">
            <a:avLst/>
          </a:prstGeom>
          <a:noFill/>
          <a:ln/>
        </p:spPr>
        <p:txBody>
          <a:bodyPr wrap="square" rtlCol="0" anchor="t"/>
          <a:lstStyle/>
          <a:p>
            <a:pPr marL="0" indent="0">
              <a:buNone/>
            </a:pPr>
            <a:r>
              <a:rPr lang="en-US" sz="1700" b="1" dirty="0">
                <a:solidFill>
                  <a:srgbClr val="FFFFFF"/>
                </a:solidFill>
                <a:latin typeface="Cambria" pitchFamily="34" charset="0"/>
              </a:rPr>
              <a:t>One statistic per district</a:t>
            </a:r>
          </a:p>
        </p:txBody>
      </p:sp>
      <p:sp>
        <p:nvSpPr>
          <p:cNvPr id="12" name="Right body"/>
          <p:cNvSpPr/>
          <p:nvPr/>
        </p:nvSpPr>
        <p:spPr>
          <a:xfrm>
            <a:off x="4892040" y="2926080"/>
            <a:ext cx="3566160" cy="1554480"/>
          </a:xfrm>
          <a:prstGeom prst="rect">
            <a:avLst/>
          </a:prstGeom>
          <a:noFill/>
          <a:ln/>
        </p:spPr>
        <p:txBody>
          <a:bodyPr wrap="square" rtlCol="0" anchor="t"/>
          <a:lstStyle/>
          <a:p>
            <a:pPr marL="0" indent="0">
              <a:spcAft>
                <a:spcPts val="600"/>
              </a:spcAft>
              <a:buNone/>
            </a:pPr>
            <a:r>
              <a:rPr lang="en-US" sz="1300" dirty="0">
                <a:solidFill>
                  <a:srgbClr val="FFFFFF"/>
                </a:solidFill>
                <a:latin typeface="Calibri" pitchFamily="34" charset="0"/>
              </a:rPr>
              <a:t>Tests each district against its neighbours</a:t>
            </a:r>
          </a:p>
          <a:p>
            <a:pPr marL="0" indent="0">
              <a:spcAft>
                <a:spcPts val="600"/>
              </a:spcAft>
              <a:buNone/>
            </a:pPr>
            <a:r>
              <a:rPr lang="en-US" sz="1300" dirty="0">
                <a:solidFill>
                  <a:srgbClr val="FFFFFF"/>
                </a:solidFill>
                <a:latin typeface="Calibri" pitchFamily="34" charset="0"/>
              </a:rPr>
              <a:t>Answers: </a:t>
            </a:r>
            <a:r>
              <a:rPr lang="en-US" sz="1300" b="1" i="1" dirty="0">
                <a:solidFill>
                  <a:srgbClr val="D4A574"/>
                </a:solidFill>
                <a:latin typeface="Calibri" pitchFamily="34" charset="0"/>
              </a:rPr>
              <a:t>where</a:t>
            </a:r>
            <a:r>
              <a:rPr lang="en-US" sz="1300" dirty="0">
                <a:solidFill>
                  <a:srgbClr val="FFFFFF"/>
                </a:solidFill>
                <a:latin typeface="Calibri" pitchFamily="34" charset="0"/>
              </a:rPr>
              <a:t> are the hot and cold spots?</a:t>
            </a:r>
          </a:p>
          <a:p>
            <a:pPr marL="0" indent="0">
              <a:buNone/>
            </a:pPr>
            <a:r>
              <a:rPr lang="en-US" sz="1300" dirty="0">
                <a:solidFill>
                  <a:srgbClr val="FFFFFF"/>
                </a:solidFill>
                <a:latin typeface="Calibri" pitchFamily="34" charset="0"/>
              </a:rPr>
              <a:t>Output: a z-score and P-value for every district</a:t>
            </a:r>
          </a:p>
        </p:txBody>
      </p:sp>
      <p:sp>
        <p:nvSpPr>
          <p:cNvPr id="13" name="Footer"/>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rPr>
              <a:t>A high, significant Gi* z-score marks a hot spot; a low, significant one marks a cold spot.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A smooth surface: kernel density</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88720"/>
            <a:ext cx="8229600" cy="457200"/>
          </a:xfrm>
          <a:prstGeom prst="rect">
            <a:avLst/>
          </a:prstGeom>
          <a:noFill/>
          <a:ln/>
        </p:spPr>
        <p:txBody>
          <a:bodyPr wrap="square" rtlCol="0" anchor="ctr"/>
          <a:lstStyle/>
          <a:p>
            <a:pPr marL="0" indent="0">
              <a:buNone/>
            </a:pPr>
            <a:r>
              <a:rPr lang="en-US" sz="1600" i="1" dirty="0">
                <a:solidFill>
                  <a:srgbClr val="6B7280"/>
                </a:solidFill>
                <a:latin typeface="Aptos" panose="020B0004020202020204" pitchFamily="34" charset="0"/>
              </a:rPr>
              <a:t>Turns individual points into a continuous surface — no administrative boundaries needed.</a:t>
            </a:r>
          </a:p>
        </p:txBody>
      </p:sp>
      <p:sp>
        <p:nvSpPr>
          <p:cNvPr id="5" name="Card1 bg"/>
          <p:cNvSpPr/>
          <p:nvPr/>
        </p:nvSpPr>
        <p:spPr>
          <a:xfrm>
            <a:off x="457200" y="1828800"/>
            <a:ext cx="256032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Card1 num"/>
          <p:cNvSpPr/>
          <p:nvPr/>
        </p:nvSpPr>
        <p:spPr>
          <a:xfrm>
            <a:off x="685800" y="2011680"/>
            <a:ext cx="2103120" cy="640080"/>
          </a:xfrm>
          <a:prstGeom prst="rect">
            <a:avLst/>
          </a:prstGeom>
          <a:noFill/>
          <a:ln/>
        </p:spPr>
        <p:txBody>
          <a:bodyPr wrap="square" rtlCol="0" anchor="ctr"/>
          <a:lstStyle/>
          <a:p>
            <a:pPr marL="0" indent="0" algn="ctr">
              <a:buNone/>
            </a:pPr>
            <a:r>
              <a:rPr lang="en-US" sz="4000" b="1" dirty="0">
                <a:solidFill>
                  <a:srgbClr val="D4A574"/>
                </a:solidFill>
                <a:latin typeface="Cambria" pitchFamily="34" charset="0"/>
              </a:rPr>
              <a:t>1</a:t>
            </a:r>
          </a:p>
        </p:txBody>
      </p:sp>
      <p:sp>
        <p:nvSpPr>
          <p:cNvPr id="7" name="Card1 title"/>
          <p:cNvSpPr/>
          <p:nvPr/>
        </p:nvSpPr>
        <p:spPr>
          <a:xfrm>
            <a:off x="685800" y="2651760"/>
            <a:ext cx="210312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rPr>
              <a:t>Place a bump</a:t>
            </a:r>
          </a:p>
        </p:txBody>
      </p:sp>
      <p:sp>
        <p:nvSpPr>
          <p:cNvPr id="8" name="Card1 line"/>
          <p:cNvSpPr/>
          <p:nvPr/>
        </p:nvSpPr>
        <p:spPr>
          <a:xfrm>
            <a:off x="1462405" y="3154680"/>
            <a:ext cx="548640" cy="0"/>
          </a:xfrm>
          <a:prstGeom prst="line">
            <a:avLst/>
          </a:prstGeom>
          <a:noFill/>
          <a:ln w="25400">
            <a:solidFill>
              <a:srgbClr val="D4A574"/>
            </a:solidFill>
            <a:prstDash val="solid"/>
          </a:ln>
        </p:spPr>
        <p:txBody>
          <a:bodyPr/>
          <a:lstStyle/>
          <a:p>
            <a:endParaRPr lang="en-AU"/>
          </a:p>
        </p:txBody>
      </p:sp>
      <p:sp>
        <p:nvSpPr>
          <p:cNvPr id="9" name="Card1 desc"/>
          <p:cNvSpPr/>
          <p:nvPr/>
        </p:nvSpPr>
        <p:spPr>
          <a:xfrm>
            <a:off x="685800" y="3337560"/>
            <a:ext cx="2103120" cy="1097280"/>
          </a:xfrm>
          <a:prstGeom prst="rect">
            <a:avLst/>
          </a:prstGeom>
          <a:noFill/>
          <a:ln/>
        </p:spPr>
        <p:txBody>
          <a:bodyPr wrap="square" rtlCol="0" anchor="t"/>
          <a:lstStyle/>
          <a:p>
            <a:pPr marL="0" indent="0" algn="ctr">
              <a:buNone/>
            </a:pPr>
            <a:r>
              <a:rPr lang="en-US" sz="1300" dirty="0">
                <a:solidFill>
                  <a:srgbClr val="424242"/>
                </a:solidFill>
                <a:latin typeface="Calibri" pitchFamily="34" charset="0"/>
              </a:rPr>
              <a:t>Each outbreak point gets a small, smooth probability bump around it.</a:t>
            </a:r>
          </a:p>
        </p:txBody>
      </p:sp>
      <p:sp>
        <p:nvSpPr>
          <p:cNvPr id="10" name="Card2 bg"/>
          <p:cNvSpPr/>
          <p:nvPr/>
        </p:nvSpPr>
        <p:spPr>
          <a:xfrm>
            <a:off x="3291840" y="1828800"/>
            <a:ext cx="256032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1" name="Card2 num"/>
          <p:cNvSpPr/>
          <p:nvPr/>
        </p:nvSpPr>
        <p:spPr>
          <a:xfrm>
            <a:off x="3520440" y="2011680"/>
            <a:ext cx="2103120" cy="640080"/>
          </a:xfrm>
          <a:prstGeom prst="rect">
            <a:avLst/>
          </a:prstGeom>
          <a:noFill/>
          <a:ln/>
        </p:spPr>
        <p:txBody>
          <a:bodyPr wrap="square" rtlCol="0" anchor="ctr"/>
          <a:lstStyle/>
          <a:p>
            <a:pPr marL="0" indent="0" algn="ctr">
              <a:buNone/>
            </a:pPr>
            <a:r>
              <a:rPr lang="en-US" sz="4000" b="1" dirty="0">
                <a:solidFill>
                  <a:srgbClr val="D4A574"/>
                </a:solidFill>
                <a:latin typeface="Cambria" pitchFamily="34" charset="0"/>
              </a:rPr>
              <a:t>2</a:t>
            </a:r>
          </a:p>
        </p:txBody>
      </p:sp>
      <p:sp>
        <p:nvSpPr>
          <p:cNvPr id="12" name="Card2 title"/>
          <p:cNvSpPr/>
          <p:nvPr/>
        </p:nvSpPr>
        <p:spPr>
          <a:xfrm>
            <a:off x="3520440" y="2651760"/>
            <a:ext cx="210312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rPr>
              <a:t>Choose a bandwidth</a:t>
            </a:r>
          </a:p>
        </p:txBody>
      </p:sp>
      <p:sp>
        <p:nvSpPr>
          <p:cNvPr id="13" name="Card2 line"/>
          <p:cNvSpPr/>
          <p:nvPr/>
        </p:nvSpPr>
        <p:spPr>
          <a:xfrm>
            <a:off x="4297045" y="3154680"/>
            <a:ext cx="548640" cy="0"/>
          </a:xfrm>
          <a:prstGeom prst="line">
            <a:avLst/>
          </a:prstGeom>
          <a:noFill/>
          <a:ln w="25400">
            <a:solidFill>
              <a:srgbClr val="D4A574"/>
            </a:solidFill>
            <a:prstDash val="solid"/>
          </a:ln>
        </p:spPr>
        <p:txBody>
          <a:bodyPr/>
          <a:lstStyle/>
          <a:p>
            <a:endParaRPr lang="en-AU"/>
          </a:p>
        </p:txBody>
      </p:sp>
      <p:sp>
        <p:nvSpPr>
          <p:cNvPr id="14" name="Card2 desc"/>
          <p:cNvSpPr/>
          <p:nvPr/>
        </p:nvSpPr>
        <p:spPr>
          <a:xfrm>
            <a:off x="3520440" y="3337560"/>
            <a:ext cx="2103120" cy="1097280"/>
          </a:xfrm>
          <a:prstGeom prst="rect">
            <a:avLst/>
          </a:prstGeom>
          <a:noFill/>
          <a:ln/>
        </p:spPr>
        <p:txBody>
          <a:bodyPr wrap="square" rtlCol="0" anchor="t"/>
          <a:lstStyle/>
          <a:p>
            <a:pPr marL="0" indent="0" algn="ctr">
              <a:buNone/>
            </a:pPr>
            <a:r>
              <a:rPr lang="en-US" sz="1300" dirty="0">
                <a:solidFill>
                  <a:srgbClr val="424242"/>
                </a:solidFill>
                <a:latin typeface="Calibri" pitchFamily="34" charset="0"/>
              </a:rPr>
              <a:t>Bump width controls smoothness — too narrow is noisy, too wide blurs real hotspots.</a:t>
            </a:r>
          </a:p>
        </p:txBody>
      </p:sp>
      <p:sp>
        <p:nvSpPr>
          <p:cNvPr id="15" name="Card3 bg"/>
          <p:cNvSpPr/>
          <p:nvPr/>
        </p:nvSpPr>
        <p:spPr>
          <a:xfrm>
            <a:off x="6126480" y="1828800"/>
            <a:ext cx="2560320" cy="274320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6" name="Card3 num"/>
          <p:cNvSpPr/>
          <p:nvPr/>
        </p:nvSpPr>
        <p:spPr>
          <a:xfrm>
            <a:off x="6355080" y="2011680"/>
            <a:ext cx="2103120" cy="640080"/>
          </a:xfrm>
          <a:prstGeom prst="rect">
            <a:avLst/>
          </a:prstGeom>
          <a:noFill/>
          <a:ln/>
        </p:spPr>
        <p:txBody>
          <a:bodyPr wrap="square" rtlCol="0" anchor="ctr"/>
          <a:lstStyle/>
          <a:p>
            <a:pPr marL="0" indent="0" algn="ctr">
              <a:buNone/>
            </a:pPr>
            <a:r>
              <a:rPr lang="en-US" sz="4000" b="1" dirty="0">
                <a:solidFill>
                  <a:srgbClr val="D4A574"/>
                </a:solidFill>
                <a:latin typeface="Cambria" pitchFamily="34" charset="0"/>
              </a:rPr>
              <a:t>3</a:t>
            </a:r>
          </a:p>
        </p:txBody>
      </p:sp>
      <p:sp>
        <p:nvSpPr>
          <p:cNvPr id="17" name="Card3 title"/>
          <p:cNvSpPr/>
          <p:nvPr/>
        </p:nvSpPr>
        <p:spPr>
          <a:xfrm>
            <a:off x="6355080" y="2651760"/>
            <a:ext cx="210312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rPr>
              <a:t>Sum the bumps</a:t>
            </a:r>
          </a:p>
        </p:txBody>
      </p:sp>
      <p:sp>
        <p:nvSpPr>
          <p:cNvPr id="18" name="Card3 desc"/>
          <p:cNvSpPr/>
          <p:nvPr/>
        </p:nvSpPr>
        <p:spPr>
          <a:xfrm>
            <a:off x="6355080" y="3337560"/>
            <a:ext cx="2103120" cy="1097280"/>
          </a:xfrm>
          <a:prstGeom prst="rect">
            <a:avLst/>
          </a:prstGeom>
          <a:noFill/>
          <a:ln/>
        </p:spPr>
        <p:txBody>
          <a:bodyPr wrap="square" rtlCol="0" anchor="t"/>
          <a:lstStyle/>
          <a:p>
            <a:pPr marL="0" indent="0" algn="ctr">
              <a:buNone/>
            </a:pPr>
            <a:r>
              <a:rPr lang="en-US" sz="1300" dirty="0">
                <a:solidFill>
                  <a:srgbClr val="424242"/>
                </a:solidFill>
                <a:latin typeface="Calibri" pitchFamily="34" charset="0"/>
              </a:rPr>
              <a:t>Overlapping bumps add up into one surface — peaks mark higher-risk areas.</a:t>
            </a:r>
          </a:p>
        </p:txBody>
      </p:sp>
      <p:sp>
        <p:nvSpPr>
          <p:cNvPr id="19" name="Footer"/>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rPr>
              <a:t>Useful when the point itself is the unit of interest — e.g. household-level cases, not district totals.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Cluster detection: SaTScan</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rPr>
              <a:t>Kulldorff's spatial scan statistic slides a window around the map and tests every candidate cluster.</a:t>
            </a:r>
          </a:p>
        </p:txBody>
      </p:sp>
      <p:sp>
        <p:nvSpPr>
          <p:cNvPr id="5" name="Left card bg"/>
          <p:cNvSpPr/>
          <p:nvPr/>
        </p:nvSpPr>
        <p:spPr>
          <a:xfrm>
            <a:off x="457200" y="1691640"/>
            <a:ext cx="4023360" cy="2880360"/>
          </a:xfrm>
          <a:prstGeom prst="roundRect">
            <a:avLst>
              <a:gd name="adj" fmla="val 238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Left tag"/>
          <p:cNvSpPr/>
          <p:nvPr/>
        </p:nvSpPr>
        <p:spPr>
          <a:xfrm>
            <a:off x="685800" y="187452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rPr>
              <a:t>HOW IT WORKS</a:t>
            </a:r>
          </a:p>
        </p:txBody>
      </p:sp>
      <p:sp>
        <p:nvSpPr>
          <p:cNvPr id="7" name="Left header"/>
          <p:cNvSpPr/>
          <p:nvPr/>
        </p:nvSpPr>
        <p:spPr>
          <a:xfrm>
            <a:off x="685800" y="2212848"/>
            <a:ext cx="3566160" cy="457200"/>
          </a:xfrm>
          <a:prstGeom prst="rect">
            <a:avLst/>
          </a:prstGeom>
          <a:noFill/>
          <a:ln/>
        </p:spPr>
        <p:txBody>
          <a:bodyPr wrap="square" rtlCol="0" anchor="t"/>
          <a:lstStyle/>
          <a:p>
            <a:pPr marL="0" indent="0">
              <a:buNone/>
            </a:pPr>
            <a:r>
              <a:rPr lang="en-US" sz="1700" b="1" dirty="0">
                <a:solidFill>
                  <a:srgbClr val="1A355E"/>
                </a:solidFill>
                <a:latin typeface="Cambria" pitchFamily="34" charset="0"/>
              </a:rPr>
              <a:t>Scan every candidate cluster</a:t>
            </a:r>
          </a:p>
        </p:txBody>
      </p:sp>
      <p:sp>
        <p:nvSpPr>
          <p:cNvPr id="8" name="Left body"/>
          <p:cNvSpPr/>
          <p:nvPr/>
        </p:nvSpPr>
        <p:spPr>
          <a:xfrm>
            <a:off x="685800" y="2743200"/>
            <a:ext cx="3566160" cy="1737360"/>
          </a:xfrm>
          <a:prstGeom prst="rect">
            <a:avLst/>
          </a:prstGeom>
          <a:noFill/>
          <a:ln/>
        </p:spPr>
        <p:txBody>
          <a:bodyPr wrap="square" rtlCol="0" anchor="t"/>
          <a:lstStyle/>
          <a:p>
            <a:pPr marL="182880" indent="-182880">
              <a:spcAft>
                <a:spcPts val="500"/>
              </a:spcAft>
              <a:buChar char="•"/>
            </a:pPr>
            <a:r>
              <a:rPr lang="en-US" sz="1200" dirty="0">
                <a:solidFill>
                  <a:srgbClr val="424242"/>
                </a:solidFill>
                <a:latin typeface="Calibri" pitchFamily="34" charset="0"/>
              </a:rPr>
              <a:t>Move a circular window of varying size across the map</a:t>
            </a:r>
          </a:p>
          <a:p>
            <a:pPr marL="182880" indent="-182880">
              <a:spcAft>
                <a:spcPts val="500"/>
              </a:spcAft>
              <a:buChar char="•"/>
            </a:pPr>
            <a:r>
              <a:rPr lang="en-US" sz="1200" dirty="0">
                <a:solidFill>
                  <a:srgbClr val="424242"/>
                </a:solidFill>
                <a:latin typeface="Calibri" pitchFamily="34" charset="0"/>
              </a:rPr>
              <a:t>Compare observed vs expected cases inside each window</a:t>
            </a:r>
          </a:p>
          <a:p>
            <a:pPr marL="182880" indent="-182880">
              <a:spcAft>
                <a:spcPts val="500"/>
              </a:spcAft>
              <a:buChar char="•"/>
            </a:pPr>
            <a:r>
              <a:rPr lang="en-US" sz="1200" dirty="0">
                <a:solidFill>
                  <a:srgbClr val="424242"/>
                </a:solidFill>
                <a:latin typeface="Calibri" pitchFamily="34" charset="0"/>
              </a:rPr>
              <a:t>Keep the window with the highest likelihood ratio — the “most likely cluster”</a:t>
            </a:r>
          </a:p>
          <a:p>
            <a:pPr marL="182880" indent="-182880">
              <a:buChar char="•"/>
            </a:pPr>
            <a:r>
              <a:rPr lang="en-US" sz="1200" dirty="0">
                <a:solidFill>
                  <a:srgbClr val="424242"/>
                </a:solidFill>
                <a:latin typeface="Calibri" pitchFamily="34" charset="0"/>
              </a:rPr>
              <a:t>Test significance with Monte Carlo simulation (thousands of random relabellings)</a:t>
            </a:r>
          </a:p>
        </p:txBody>
      </p:sp>
      <p:sp>
        <p:nvSpPr>
          <p:cNvPr id="9" name="Right card bg"/>
          <p:cNvSpPr/>
          <p:nvPr/>
        </p:nvSpPr>
        <p:spPr>
          <a:xfrm>
            <a:off x="4663440" y="1691640"/>
            <a:ext cx="4023360" cy="2880360"/>
          </a:xfrm>
          <a:prstGeom prst="roundRect">
            <a:avLst>
              <a:gd name="adj" fmla="val 238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0" name="Right tag"/>
          <p:cNvSpPr/>
          <p:nvPr/>
        </p:nvSpPr>
        <p:spPr>
          <a:xfrm>
            <a:off x="4892040" y="1874520"/>
            <a:ext cx="3566160" cy="320040"/>
          </a:xfrm>
          <a:prstGeom prst="rect">
            <a:avLst/>
          </a:prstGeom>
          <a:noFill/>
          <a:ln/>
        </p:spPr>
        <p:txBody>
          <a:bodyPr wrap="square" rtlCol="0" anchor="ctr"/>
          <a:lstStyle/>
          <a:p>
            <a:pPr marL="0" indent="0">
              <a:buNone/>
            </a:pPr>
            <a:r>
              <a:rPr lang="en-US" sz="1200" b="1" kern="0" spc="300" dirty="0">
                <a:solidFill>
                  <a:srgbClr val="D4A574"/>
                </a:solidFill>
                <a:latin typeface="Calibri" pitchFamily="34" charset="0"/>
              </a:rPr>
              <a:t>WHY IT MATTERS</a:t>
            </a:r>
          </a:p>
        </p:txBody>
      </p:sp>
      <p:sp>
        <p:nvSpPr>
          <p:cNvPr id="11" name="Right header"/>
          <p:cNvSpPr/>
          <p:nvPr/>
        </p:nvSpPr>
        <p:spPr>
          <a:xfrm>
            <a:off x="4892040" y="2212848"/>
            <a:ext cx="3566160" cy="457200"/>
          </a:xfrm>
          <a:prstGeom prst="rect">
            <a:avLst/>
          </a:prstGeom>
          <a:noFill/>
          <a:ln/>
        </p:spPr>
        <p:txBody>
          <a:bodyPr wrap="square" rtlCol="0" anchor="t"/>
          <a:lstStyle/>
          <a:p>
            <a:pPr marL="0" indent="0">
              <a:buNone/>
            </a:pPr>
            <a:r>
              <a:rPr lang="en-US" sz="1700" b="1" dirty="0">
                <a:solidFill>
                  <a:srgbClr val="FFFFFF"/>
                </a:solidFill>
                <a:latin typeface="Cambria" pitchFamily="34" charset="0"/>
              </a:rPr>
              <a:t>Pinpoints the cluster itself</a:t>
            </a:r>
          </a:p>
        </p:txBody>
      </p:sp>
      <p:sp>
        <p:nvSpPr>
          <p:cNvPr id="12" name="Right body"/>
          <p:cNvSpPr/>
          <p:nvPr/>
        </p:nvSpPr>
        <p:spPr>
          <a:xfrm>
            <a:off x="4892040" y="2743200"/>
            <a:ext cx="3566160" cy="1737360"/>
          </a:xfrm>
          <a:prstGeom prst="rect">
            <a:avLst/>
          </a:prstGeom>
          <a:noFill/>
          <a:ln/>
        </p:spPr>
        <p:txBody>
          <a:bodyPr wrap="square" rtlCol="0" anchor="t"/>
          <a:lstStyle/>
          <a:p>
            <a:pPr marL="182880" indent="-182880">
              <a:spcAft>
                <a:spcPts val="500"/>
              </a:spcAft>
              <a:buClr>
                <a:srgbClr val="D4A574"/>
              </a:buClr>
              <a:buChar char="•"/>
            </a:pPr>
            <a:r>
              <a:rPr lang="en-US" sz="1200" dirty="0">
                <a:solidFill>
                  <a:srgbClr val="FFFFFF"/>
                </a:solidFill>
                <a:latin typeface="Calibri" pitchFamily="34" charset="0"/>
              </a:rPr>
              <a:t>Doesn't require pre-drawn admin boundaries</a:t>
            </a:r>
          </a:p>
          <a:p>
            <a:pPr marL="182880" indent="-182880">
              <a:spcAft>
                <a:spcPts val="500"/>
              </a:spcAft>
              <a:buClr>
                <a:srgbClr val="D4A574"/>
              </a:buClr>
              <a:buChar char="•"/>
            </a:pPr>
            <a:r>
              <a:rPr lang="en-US" sz="1200" dirty="0">
                <a:solidFill>
                  <a:srgbClr val="FFFFFF"/>
                </a:solidFill>
                <a:latin typeface="Calibri" pitchFamily="34" charset="0"/>
              </a:rPr>
              <a:t>Gives location, size, AND significance in one test</a:t>
            </a:r>
          </a:p>
          <a:p>
            <a:pPr marL="182880" indent="-182880">
              <a:spcAft>
                <a:spcPts val="500"/>
              </a:spcAft>
              <a:buClr>
                <a:srgbClr val="D4A574"/>
              </a:buClr>
              <a:buChar char="•"/>
            </a:pPr>
            <a:r>
              <a:rPr lang="en-US" sz="1200" dirty="0">
                <a:solidFill>
                  <a:srgbClr val="FFFFFF"/>
                </a:solidFill>
                <a:latin typeface="Calibri" pitchFamily="34" charset="0"/>
              </a:rPr>
              <a:t>A standard tool in outbreak investigation worldwide</a:t>
            </a:r>
          </a:p>
          <a:p>
            <a:pPr marL="182880" indent="-182880">
              <a:buClr>
                <a:srgbClr val="D4A574"/>
              </a:buClr>
              <a:buChar char="•"/>
            </a:pPr>
            <a:r>
              <a:rPr lang="en-US" sz="1200" dirty="0">
                <a:solidFill>
                  <a:srgbClr val="FFFFFF"/>
                </a:solidFill>
                <a:latin typeface="Calibri" pitchFamily="34" charset="0"/>
              </a:rPr>
              <a:t>Free standalone software: </a:t>
            </a:r>
            <a:r>
              <a:rPr lang="en-US" sz="1200" b="1" dirty="0">
                <a:solidFill>
                  <a:srgbClr val="D4A574"/>
                </a:solidFill>
                <a:latin typeface="Courier New" pitchFamily="34" charset="0"/>
              </a:rPr>
              <a:t>satscan.org</a:t>
            </a:r>
          </a:p>
        </p:txBody>
      </p:sp>
      <p:sp>
        <p:nvSpPr>
          <p:cNvPr id="13" name="Footer"/>
          <p:cNvSpPr/>
          <p:nvPr/>
        </p:nvSpPr>
        <p:spPr>
          <a:xfrm>
            <a:off x="457200" y="4709160"/>
            <a:ext cx="8229600" cy="32004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rPr>
              <a:t>Unlike Moran's I or Gi*, SaTScan tells you exactly where the cluster boundary sits.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Choosing a clustering method</a:t>
            </a:r>
          </a:p>
        </p:txBody>
      </p:sp>
      <p:sp>
        <p:nvSpPr>
          <p:cNvPr id="3" name="Rule"/>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ubtitle"/>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rPr>
              <a:t>Match the tool to the question you're asking and the data you have.</a:t>
            </a:r>
          </a:p>
        </p:txBody>
      </p:sp>
      <p:sp>
        <p:nvSpPr>
          <p:cNvPr id="5" name="Header bg"/>
          <p:cNvSpPr/>
          <p:nvPr/>
        </p:nvSpPr>
        <p:spPr>
          <a:xfrm>
            <a:off x="457200" y="1691640"/>
            <a:ext cx="8229600" cy="502920"/>
          </a:xfrm>
          <a:prstGeom prst="rect">
            <a:avLst/>
          </a:prstGeom>
          <a:solidFill>
            <a:srgbClr val="1A355E"/>
          </a:solidFill>
          <a:ln>
            <a:noFill/>
          </a:ln>
        </p:spPr>
        <p:txBody>
          <a:bodyPr/>
          <a:lstStyle/>
          <a:p>
            <a:endParaRPr lang="en-AU"/>
          </a:p>
        </p:txBody>
      </p:sp>
      <p:sp>
        <p:nvSpPr>
          <p:cNvPr id="6" name="Header col1"/>
          <p:cNvSpPr/>
          <p:nvPr/>
        </p:nvSpPr>
        <p:spPr>
          <a:xfrm>
            <a:off x="548640" y="1691640"/>
            <a:ext cx="1417320" cy="502920"/>
          </a:xfrm>
          <a:prstGeom prst="rect">
            <a:avLst/>
          </a:prstGeom>
          <a:noFill/>
          <a:ln/>
        </p:spPr>
        <p:txBody>
          <a:bodyPr wrap="square" lIns="0" rtlCol="0" anchor="ctr"/>
          <a:lstStyle/>
          <a:p>
            <a:pPr marL="0" indent="0">
              <a:buNone/>
            </a:pPr>
            <a:r>
              <a:rPr lang="en-US" sz="1100" b="1" kern="0" spc="150" dirty="0">
                <a:solidFill>
                  <a:srgbClr val="FFFFFF"/>
                </a:solidFill>
                <a:latin typeface="Calibri" pitchFamily="34" charset="0"/>
              </a:rPr>
              <a:t>METHOD</a:t>
            </a:r>
          </a:p>
        </p:txBody>
      </p:sp>
      <p:sp>
        <p:nvSpPr>
          <p:cNvPr id="7" name="Header col2"/>
          <p:cNvSpPr/>
          <p:nvPr/>
        </p:nvSpPr>
        <p:spPr>
          <a:xfrm>
            <a:off x="2148840" y="1691640"/>
            <a:ext cx="2617440" cy="502920"/>
          </a:xfrm>
          <a:prstGeom prst="rect">
            <a:avLst/>
          </a:prstGeom>
          <a:noFill/>
          <a:ln/>
        </p:spPr>
        <p:txBody>
          <a:bodyPr wrap="square" lIns="0" rtlCol="0" anchor="ctr"/>
          <a:lstStyle/>
          <a:p>
            <a:pPr marL="0" indent="0">
              <a:buNone/>
            </a:pPr>
            <a:r>
              <a:rPr lang="en-US" sz="1100" b="1" kern="0" spc="150" dirty="0">
                <a:solidFill>
                  <a:srgbClr val="FFFFFF"/>
                </a:solidFill>
                <a:latin typeface="Calibri" pitchFamily="34" charset="0"/>
              </a:rPr>
              <a:t>QUESTION IT ANSWERS</a:t>
            </a:r>
          </a:p>
        </p:txBody>
      </p:sp>
      <p:sp>
        <p:nvSpPr>
          <p:cNvPr id="8" name="Header col3"/>
          <p:cNvSpPr/>
          <p:nvPr/>
        </p:nvSpPr>
        <p:spPr>
          <a:xfrm>
            <a:off x="4948840" y="1691640"/>
            <a:ext cx="1617600" cy="502920"/>
          </a:xfrm>
          <a:prstGeom prst="rect">
            <a:avLst/>
          </a:prstGeom>
          <a:noFill/>
          <a:ln/>
        </p:spPr>
        <p:txBody>
          <a:bodyPr wrap="square" lIns="0" rtlCol="0" anchor="ctr"/>
          <a:lstStyle/>
          <a:p>
            <a:pPr marL="0" indent="0">
              <a:buNone/>
            </a:pPr>
            <a:r>
              <a:rPr lang="en-US" sz="1100" b="1" kern="0" spc="150" dirty="0">
                <a:solidFill>
                  <a:srgbClr val="FFFFFF"/>
                </a:solidFill>
                <a:latin typeface="Calibri" pitchFamily="34" charset="0"/>
              </a:rPr>
              <a:t>INPUT DATA</a:t>
            </a:r>
          </a:p>
        </p:txBody>
      </p:sp>
      <p:sp>
        <p:nvSpPr>
          <p:cNvPr id="9" name="Header col4"/>
          <p:cNvSpPr/>
          <p:nvPr/>
        </p:nvSpPr>
        <p:spPr>
          <a:xfrm>
            <a:off x="6748440" y="1691640"/>
            <a:ext cx="1846960" cy="502920"/>
          </a:xfrm>
          <a:prstGeom prst="rect">
            <a:avLst/>
          </a:prstGeom>
          <a:noFill/>
          <a:ln/>
        </p:spPr>
        <p:txBody>
          <a:bodyPr wrap="square" lIns="0" rtlCol="0" anchor="ctr"/>
          <a:lstStyle/>
          <a:p>
            <a:pPr marL="0" indent="0">
              <a:buNone/>
            </a:pPr>
            <a:r>
              <a:rPr lang="en-US" sz="1100" b="1" kern="0" spc="150" dirty="0">
                <a:solidFill>
                  <a:srgbClr val="FFFFFF"/>
                </a:solidFill>
                <a:latin typeface="Calibri" pitchFamily="34" charset="0"/>
              </a:rPr>
              <a:t>OUTPUT</a:t>
            </a:r>
          </a:p>
        </p:txBody>
      </p:sp>
      <p:sp>
        <p:nvSpPr>
          <p:cNvPr id="10" name="Row1 bg"/>
          <p:cNvSpPr/>
          <p:nvPr/>
        </p:nvSpPr>
        <p:spPr>
          <a:xfrm>
            <a:off x="457200" y="2194560"/>
            <a:ext cx="8229600" cy="570090"/>
          </a:xfrm>
          <a:prstGeom prst="rect">
            <a:avLst/>
          </a:prstGeom>
          <a:solidFill>
            <a:srgbClr val="F1F1F1"/>
          </a:solidFill>
          <a:ln>
            <a:noFill/>
          </a:ln>
        </p:spPr>
        <p:txBody>
          <a:bodyPr/>
          <a:lstStyle/>
          <a:p>
            <a:endParaRPr lang="en-AU"/>
          </a:p>
        </p:txBody>
      </p:sp>
      <p:sp>
        <p:nvSpPr>
          <p:cNvPr id="11" name="Row1 col1"/>
          <p:cNvSpPr/>
          <p:nvPr/>
        </p:nvSpPr>
        <p:spPr>
          <a:xfrm>
            <a:off x="548640" y="2194560"/>
            <a:ext cx="1417320" cy="570090"/>
          </a:xfrm>
          <a:prstGeom prst="rect">
            <a:avLst/>
          </a:prstGeom>
          <a:noFill/>
          <a:ln/>
        </p:spPr>
        <p:txBody>
          <a:bodyPr wrap="square" lIns="0" rtlCol="0" anchor="ctr"/>
          <a:lstStyle/>
          <a:p>
            <a:pPr marL="0" indent="0">
              <a:buNone/>
            </a:pPr>
            <a:r>
              <a:rPr lang="en-US" sz="1100" b="1" dirty="0">
                <a:solidFill>
                  <a:srgbClr val="1A355E"/>
                </a:solidFill>
                <a:latin typeface="Cambria" pitchFamily="34" charset="0"/>
              </a:rPr>
              <a:t>Moran's I</a:t>
            </a:r>
          </a:p>
        </p:txBody>
      </p:sp>
      <p:sp>
        <p:nvSpPr>
          <p:cNvPr id="12" name="Row1 col2"/>
          <p:cNvSpPr/>
          <p:nvPr/>
        </p:nvSpPr>
        <p:spPr>
          <a:xfrm>
            <a:off x="2148840" y="2194560"/>
            <a:ext cx="261744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Is there clustering anywhere on the map?</a:t>
            </a:r>
          </a:p>
        </p:txBody>
      </p:sp>
      <p:sp>
        <p:nvSpPr>
          <p:cNvPr id="13" name="Row1 col3"/>
          <p:cNvSpPr/>
          <p:nvPr/>
        </p:nvSpPr>
        <p:spPr>
          <a:xfrm>
            <a:off x="4948840" y="2194560"/>
            <a:ext cx="161760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Areal counts + neighbours</a:t>
            </a:r>
          </a:p>
        </p:txBody>
      </p:sp>
      <p:sp>
        <p:nvSpPr>
          <p:cNvPr id="14" name="Row1 col4"/>
          <p:cNvSpPr/>
          <p:nvPr/>
        </p:nvSpPr>
        <p:spPr>
          <a:xfrm>
            <a:off x="6748440" y="2194560"/>
            <a:ext cx="184696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One global statistic</a:t>
            </a:r>
          </a:p>
        </p:txBody>
      </p:sp>
      <p:sp>
        <p:nvSpPr>
          <p:cNvPr id="20" name="Row2 col1"/>
          <p:cNvSpPr/>
          <p:nvPr/>
        </p:nvSpPr>
        <p:spPr>
          <a:xfrm>
            <a:off x="548640" y="2764650"/>
            <a:ext cx="1417320" cy="570090"/>
          </a:xfrm>
          <a:prstGeom prst="rect">
            <a:avLst/>
          </a:prstGeom>
          <a:noFill/>
          <a:ln/>
        </p:spPr>
        <p:txBody>
          <a:bodyPr wrap="square" lIns="0" rtlCol="0" anchor="ctr"/>
          <a:lstStyle/>
          <a:p>
            <a:pPr marL="0" indent="0">
              <a:buNone/>
            </a:pPr>
            <a:r>
              <a:rPr lang="en-US" sz="1100" b="1" dirty="0">
                <a:solidFill>
                  <a:srgbClr val="1A355E"/>
                </a:solidFill>
                <a:latin typeface="Cambria" pitchFamily="34" charset="0"/>
              </a:rPr>
              <a:t>Gi*</a:t>
            </a:r>
          </a:p>
        </p:txBody>
      </p:sp>
      <p:sp>
        <p:nvSpPr>
          <p:cNvPr id="21" name="Row2 col2"/>
          <p:cNvSpPr/>
          <p:nvPr/>
        </p:nvSpPr>
        <p:spPr>
          <a:xfrm>
            <a:off x="2148840" y="2764650"/>
            <a:ext cx="261744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Where are the hot and cold spots?</a:t>
            </a:r>
          </a:p>
        </p:txBody>
      </p:sp>
      <p:sp>
        <p:nvSpPr>
          <p:cNvPr id="22" name="Row2 col3"/>
          <p:cNvSpPr/>
          <p:nvPr/>
        </p:nvSpPr>
        <p:spPr>
          <a:xfrm>
            <a:off x="4948840" y="2764650"/>
            <a:ext cx="161760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Areal counts + neighbours</a:t>
            </a:r>
          </a:p>
        </p:txBody>
      </p:sp>
      <p:sp>
        <p:nvSpPr>
          <p:cNvPr id="23" name="Row2 col4"/>
          <p:cNvSpPr/>
          <p:nvPr/>
        </p:nvSpPr>
        <p:spPr>
          <a:xfrm>
            <a:off x="6748440" y="2764650"/>
            <a:ext cx="184696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Z-score per area</a:t>
            </a:r>
          </a:p>
        </p:txBody>
      </p:sp>
      <p:sp>
        <p:nvSpPr>
          <p:cNvPr id="30" name="Row3 bg"/>
          <p:cNvSpPr/>
          <p:nvPr/>
        </p:nvSpPr>
        <p:spPr>
          <a:xfrm>
            <a:off x="457200" y="3334740"/>
            <a:ext cx="8229600" cy="570090"/>
          </a:xfrm>
          <a:prstGeom prst="rect">
            <a:avLst/>
          </a:prstGeom>
          <a:solidFill>
            <a:srgbClr val="F1F1F1"/>
          </a:solidFill>
          <a:ln>
            <a:noFill/>
          </a:ln>
        </p:spPr>
        <p:txBody>
          <a:bodyPr/>
          <a:lstStyle/>
          <a:p>
            <a:endParaRPr lang="en-AU"/>
          </a:p>
        </p:txBody>
      </p:sp>
      <p:sp>
        <p:nvSpPr>
          <p:cNvPr id="31" name="Row3 col1"/>
          <p:cNvSpPr/>
          <p:nvPr/>
        </p:nvSpPr>
        <p:spPr>
          <a:xfrm>
            <a:off x="548640" y="3334740"/>
            <a:ext cx="1417320" cy="570090"/>
          </a:xfrm>
          <a:prstGeom prst="rect">
            <a:avLst/>
          </a:prstGeom>
          <a:noFill/>
          <a:ln/>
        </p:spPr>
        <p:txBody>
          <a:bodyPr wrap="square" lIns="0" rtlCol="0" anchor="ctr"/>
          <a:lstStyle/>
          <a:p>
            <a:pPr marL="0" indent="0">
              <a:buNone/>
            </a:pPr>
            <a:r>
              <a:rPr lang="en-US" sz="1100" b="1" dirty="0">
                <a:solidFill>
                  <a:srgbClr val="1A355E"/>
                </a:solidFill>
                <a:latin typeface="Cambria" pitchFamily="34" charset="0"/>
              </a:rPr>
              <a:t>Kernel density</a:t>
            </a:r>
          </a:p>
        </p:txBody>
      </p:sp>
      <p:sp>
        <p:nvSpPr>
          <p:cNvPr id="32" name="Row3 col2"/>
          <p:cNvSpPr/>
          <p:nvPr/>
        </p:nvSpPr>
        <p:spPr>
          <a:xfrm>
            <a:off x="2148840" y="3334740"/>
            <a:ext cx="261744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What does the risk surface look like?</a:t>
            </a:r>
          </a:p>
        </p:txBody>
      </p:sp>
      <p:sp>
        <p:nvSpPr>
          <p:cNvPr id="33" name="Row3 col3"/>
          <p:cNvSpPr/>
          <p:nvPr/>
        </p:nvSpPr>
        <p:spPr>
          <a:xfrm>
            <a:off x="4948840" y="3334740"/>
            <a:ext cx="161760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Point locations</a:t>
            </a:r>
          </a:p>
        </p:txBody>
      </p:sp>
      <p:sp>
        <p:nvSpPr>
          <p:cNvPr id="34" name="Row3 col4"/>
          <p:cNvSpPr/>
          <p:nvPr/>
        </p:nvSpPr>
        <p:spPr>
          <a:xfrm>
            <a:off x="6748440" y="3334740"/>
            <a:ext cx="184696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Continuous surface</a:t>
            </a:r>
          </a:p>
        </p:txBody>
      </p:sp>
      <p:sp>
        <p:nvSpPr>
          <p:cNvPr id="40" name="Row4 col1"/>
          <p:cNvSpPr/>
          <p:nvPr/>
        </p:nvSpPr>
        <p:spPr>
          <a:xfrm>
            <a:off x="548640" y="3904830"/>
            <a:ext cx="1417320" cy="570090"/>
          </a:xfrm>
          <a:prstGeom prst="rect">
            <a:avLst/>
          </a:prstGeom>
          <a:noFill/>
          <a:ln/>
        </p:spPr>
        <p:txBody>
          <a:bodyPr wrap="square" lIns="0" rtlCol="0" anchor="ctr"/>
          <a:lstStyle/>
          <a:p>
            <a:pPr marL="0" indent="0">
              <a:buNone/>
            </a:pPr>
            <a:r>
              <a:rPr lang="en-US" sz="1100" b="1" dirty="0">
                <a:solidFill>
                  <a:srgbClr val="1A355E"/>
                </a:solidFill>
                <a:latin typeface="Cambria" pitchFamily="34" charset="0"/>
              </a:rPr>
              <a:t>SaTScan</a:t>
            </a:r>
          </a:p>
        </p:txBody>
      </p:sp>
      <p:sp>
        <p:nvSpPr>
          <p:cNvPr id="41" name="Row4 col2"/>
          <p:cNvSpPr/>
          <p:nvPr/>
        </p:nvSpPr>
        <p:spPr>
          <a:xfrm>
            <a:off x="2148840" y="3904830"/>
            <a:ext cx="261744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Where's the most likely cluster, and is it real?</a:t>
            </a:r>
          </a:p>
        </p:txBody>
      </p:sp>
      <p:sp>
        <p:nvSpPr>
          <p:cNvPr id="42" name="Row4 col3"/>
          <p:cNvSpPr/>
          <p:nvPr/>
        </p:nvSpPr>
        <p:spPr>
          <a:xfrm>
            <a:off x="4948840" y="3904830"/>
            <a:ext cx="161760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Points or areal counts</a:t>
            </a:r>
          </a:p>
        </p:txBody>
      </p:sp>
      <p:sp>
        <p:nvSpPr>
          <p:cNvPr id="43" name="Row4 col4"/>
          <p:cNvSpPr/>
          <p:nvPr/>
        </p:nvSpPr>
        <p:spPr>
          <a:xfrm>
            <a:off x="6748440" y="3904830"/>
            <a:ext cx="1846960" cy="570090"/>
          </a:xfrm>
          <a:prstGeom prst="rect">
            <a:avLst/>
          </a:prstGeom>
          <a:noFill/>
          <a:ln/>
        </p:spPr>
        <p:txBody>
          <a:bodyPr wrap="square" lIns="0" rtlCol="0" anchor="ctr"/>
          <a:lstStyle/>
          <a:p>
            <a:pPr marL="0" indent="0">
              <a:buNone/>
            </a:pPr>
            <a:r>
              <a:rPr lang="en-US" sz="1100" dirty="0">
                <a:solidFill>
                  <a:srgbClr val="424242"/>
                </a:solidFill>
                <a:latin typeface="Calibri" pitchFamily="34" charset="0"/>
              </a:rPr>
              <a:t>Cluster location &amp; P-value</a:t>
            </a:r>
          </a:p>
        </p:txBody>
      </p:sp>
      <p:sp>
        <p:nvSpPr>
          <p:cNvPr id="50" name="Divider1"/>
          <p:cNvSpPr/>
          <p:nvPr/>
        </p:nvSpPr>
        <p:spPr>
          <a:xfrm>
            <a:off x="457200" y="2764650"/>
            <a:ext cx="8229600" cy="0"/>
          </a:xfrm>
          <a:prstGeom prst="line">
            <a:avLst/>
          </a:prstGeom>
          <a:noFill/>
          <a:ln w="6350">
            <a:solidFill>
              <a:srgbClr val="D9D9D9"/>
            </a:solidFill>
          </a:ln>
        </p:spPr>
        <p:txBody>
          <a:bodyPr/>
          <a:lstStyle/>
          <a:p>
            <a:endParaRPr lang="en-AU"/>
          </a:p>
        </p:txBody>
      </p:sp>
      <p:sp>
        <p:nvSpPr>
          <p:cNvPr id="51" name="Divider2"/>
          <p:cNvSpPr/>
          <p:nvPr/>
        </p:nvSpPr>
        <p:spPr>
          <a:xfrm>
            <a:off x="457200" y="3334740"/>
            <a:ext cx="8229600" cy="0"/>
          </a:xfrm>
          <a:prstGeom prst="line">
            <a:avLst/>
          </a:prstGeom>
          <a:noFill/>
          <a:ln w="6350">
            <a:solidFill>
              <a:srgbClr val="D9D9D9"/>
            </a:solidFill>
          </a:ln>
        </p:spPr>
        <p:txBody>
          <a:bodyPr/>
          <a:lstStyle/>
          <a:p>
            <a:endParaRPr lang="en-AU"/>
          </a:p>
        </p:txBody>
      </p:sp>
      <p:sp>
        <p:nvSpPr>
          <p:cNvPr id="52" name="Divider3"/>
          <p:cNvSpPr/>
          <p:nvPr/>
        </p:nvSpPr>
        <p:spPr>
          <a:xfrm>
            <a:off x="457200" y="3904830"/>
            <a:ext cx="8229600" cy="0"/>
          </a:xfrm>
          <a:prstGeom prst="line">
            <a:avLst/>
          </a:prstGeom>
          <a:noFill/>
          <a:ln w="6350">
            <a:solidFill>
              <a:srgbClr val="D9D9D9"/>
            </a:solidFill>
          </a:ln>
        </p:spPr>
        <p:txBody>
          <a:bodyPr/>
          <a:lstStyle/>
          <a:p>
            <a:endParaRPr lang="en-AU"/>
          </a:p>
        </p:txBody>
      </p:sp>
      <p:sp>
        <p:nvSpPr>
          <p:cNvPr id="53" name="Divider4"/>
          <p:cNvSpPr/>
          <p:nvPr/>
        </p:nvSpPr>
        <p:spPr>
          <a:xfrm>
            <a:off x="457200" y="4474920"/>
            <a:ext cx="8229600" cy="0"/>
          </a:xfrm>
          <a:prstGeom prst="line">
            <a:avLst/>
          </a:prstGeom>
          <a:noFill/>
          <a:ln w="6350">
            <a:solidFill>
              <a:srgbClr val="D9D9D9"/>
            </a:solidFill>
          </a:ln>
        </p:spPr>
        <p:txBody>
          <a:bodyPr/>
          <a:lstStyle/>
          <a:p>
            <a:endParaRPr lang="en-AU"/>
          </a:p>
        </p:txBody>
      </p:sp>
      <p:sp>
        <p:nvSpPr>
          <p:cNvPr id="60" name="Footer"/>
          <p:cNvSpPr/>
          <p:nvPr/>
        </p:nvSpPr>
        <p:spPr>
          <a:xfrm>
            <a:off x="457200" y="4622800"/>
            <a:ext cx="8229600" cy="320040"/>
          </a:xfrm>
          <a:prstGeom prst="rect">
            <a:avLst/>
          </a:prstGeom>
          <a:noFill/>
          <a:ln/>
        </p:spPr>
        <p:txBody>
          <a:bodyPr wrap="square" rtlCol="0" anchor="ctr"/>
          <a:lstStyle/>
          <a:p>
            <a:pPr marL="0" indent="0" algn="ctr">
              <a:buNone/>
            </a:pPr>
            <a:r>
              <a:rPr lang="en-US" sz="1200" i="1" dirty="0">
                <a:solidFill>
                  <a:srgbClr val="E64626"/>
                </a:solidFill>
                <a:latin typeface="Calibri" pitchFamily="34" charset="0"/>
              </a:rPr>
              <a:t>No single method is “best” — together they triangulate on where, and how confidently, an observed pattern could be real.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Patterns in time</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43000"/>
            <a:ext cx="8229600" cy="457200"/>
          </a:xfrm>
          <a:prstGeom prst="rect">
            <a:avLst/>
          </a:prstGeom>
          <a:noFill/>
          <a:ln/>
        </p:spPr>
        <p:txBody>
          <a:bodyPr wrap="square" lIns="0" tIns="0" rIns="0" bIns="0" rtlCol="0" anchor="ctr"/>
          <a:lstStyle/>
          <a:p>
            <a:pPr marL="0" indent="0">
              <a:buNone/>
            </a:pPr>
            <a:r>
              <a:rPr lang="en-US" sz="2200" i="1" dirty="0">
                <a:solidFill>
                  <a:srgbClr val="1A355E"/>
                </a:solidFill>
                <a:latin typeface="Cambria" pitchFamily="34" charset="0"/>
                <a:ea typeface="Cambria" pitchFamily="34" charset="-122"/>
                <a:cs typeface="Cambria" pitchFamily="34" charset="-120"/>
              </a:rPr>
              <a:t>We've asked where. Now ask when.</a:t>
            </a:r>
            <a:endParaRPr lang="en-US" sz="2200" dirty="0"/>
          </a:p>
        </p:txBody>
      </p:sp>
      <p:sp>
        <p:nvSpPr>
          <p:cNvPr id="5" name="Shape 3"/>
          <p:cNvSpPr/>
          <p:nvPr/>
        </p:nvSpPr>
        <p:spPr>
          <a:xfrm>
            <a:off x="457200" y="1874520"/>
            <a:ext cx="2651760" cy="28346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6" name="Text 4"/>
          <p:cNvSpPr/>
          <p:nvPr/>
        </p:nvSpPr>
        <p:spPr>
          <a:xfrm>
            <a:off x="685800" y="214884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Aggregation</a:t>
            </a:r>
            <a:endParaRPr lang="en-US" sz="1700" dirty="0"/>
          </a:p>
        </p:txBody>
      </p:sp>
      <p:sp>
        <p:nvSpPr>
          <p:cNvPr id="7" name="Shape 5"/>
          <p:cNvSpPr/>
          <p:nvPr/>
        </p:nvSpPr>
        <p:spPr>
          <a:xfrm>
            <a:off x="1508760" y="278892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8" name="Text 6"/>
          <p:cNvSpPr/>
          <p:nvPr/>
        </p:nvSpPr>
        <p:spPr>
          <a:xfrm>
            <a:off x="731520" y="2971800"/>
            <a:ext cx="2103120" cy="155448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Events → counts per time unit. Day, week, month, year — pick the unit that matches the question.</a:t>
            </a:r>
            <a:endParaRPr lang="en-US" sz="1300" dirty="0">
              <a:latin typeface="Aptos" panose="020B0004020202020204" pitchFamily="34" charset="0"/>
            </a:endParaRPr>
          </a:p>
        </p:txBody>
      </p:sp>
      <p:sp>
        <p:nvSpPr>
          <p:cNvPr id="9" name="Shape 7"/>
          <p:cNvSpPr/>
          <p:nvPr/>
        </p:nvSpPr>
        <p:spPr>
          <a:xfrm>
            <a:off x="3246120" y="1874520"/>
            <a:ext cx="2651760" cy="28346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0" name="Text 8"/>
          <p:cNvSpPr/>
          <p:nvPr/>
        </p:nvSpPr>
        <p:spPr>
          <a:xfrm>
            <a:off x="3474720" y="214884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Patterns</a:t>
            </a:r>
            <a:endParaRPr lang="en-US" sz="1700" dirty="0"/>
          </a:p>
        </p:txBody>
      </p:sp>
      <p:sp>
        <p:nvSpPr>
          <p:cNvPr id="11" name="Shape 9"/>
          <p:cNvSpPr/>
          <p:nvPr/>
        </p:nvSpPr>
        <p:spPr>
          <a:xfrm>
            <a:off x="4297680" y="278892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12" name="Text 10"/>
          <p:cNvSpPr/>
          <p:nvPr/>
        </p:nvSpPr>
        <p:spPr>
          <a:xfrm>
            <a:off x="3520440" y="2971800"/>
            <a:ext cx="2103120" cy="155448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Pull the series apart into a slow trend, a recurring season, and the noise left over.</a:t>
            </a:r>
            <a:endParaRPr lang="en-US" sz="1300" dirty="0">
              <a:latin typeface="Aptos" panose="020B0004020202020204" pitchFamily="34" charset="0"/>
            </a:endParaRPr>
          </a:p>
        </p:txBody>
      </p:sp>
      <p:sp>
        <p:nvSpPr>
          <p:cNvPr id="13" name="Shape 11"/>
          <p:cNvSpPr/>
          <p:nvPr/>
        </p:nvSpPr>
        <p:spPr>
          <a:xfrm>
            <a:off x="6035040" y="1874520"/>
            <a:ext cx="2651760" cy="2834640"/>
          </a:xfrm>
          <a:prstGeom prst="roundRect">
            <a:avLst>
              <a:gd name="adj" fmla="val 2759"/>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14" name="Text 12"/>
          <p:cNvSpPr/>
          <p:nvPr/>
        </p:nvSpPr>
        <p:spPr>
          <a:xfrm>
            <a:off x="6263640" y="2148840"/>
            <a:ext cx="2194560" cy="457200"/>
          </a:xfrm>
          <a:prstGeom prst="rect">
            <a:avLst/>
          </a:prstGeom>
          <a:noFill/>
          <a:ln/>
        </p:spPr>
        <p:txBody>
          <a:bodyPr wrap="square" rtlCol="0" anchor="ctr"/>
          <a:lstStyle/>
          <a:p>
            <a:pPr marL="0" indent="0" algn="ctr">
              <a:buNone/>
            </a:pPr>
            <a:r>
              <a:rPr lang="en-US" sz="1700" b="1" dirty="0">
                <a:solidFill>
                  <a:srgbClr val="1A355E"/>
                </a:solidFill>
                <a:latin typeface="Cambria" pitchFamily="34" charset="0"/>
                <a:ea typeface="Cambria" pitchFamily="34" charset="-122"/>
                <a:cs typeface="Cambria" pitchFamily="34" charset="-120"/>
              </a:rPr>
              <a:t>Autocorrelation</a:t>
            </a:r>
            <a:endParaRPr lang="en-US" sz="1700" dirty="0"/>
          </a:p>
        </p:txBody>
      </p:sp>
      <p:sp>
        <p:nvSpPr>
          <p:cNvPr id="15" name="Shape 13"/>
          <p:cNvSpPr/>
          <p:nvPr/>
        </p:nvSpPr>
        <p:spPr>
          <a:xfrm>
            <a:off x="7086600" y="2788920"/>
            <a:ext cx="548640" cy="0"/>
          </a:xfrm>
          <a:prstGeom prst="line">
            <a:avLst/>
          </a:prstGeom>
          <a:noFill/>
          <a:ln w="25400">
            <a:solidFill>
              <a:srgbClr val="D4A574"/>
            </a:solidFill>
            <a:prstDash val="solid"/>
          </a:ln>
        </p:spPr>
        <p:txBody>
          <a:bodyPr/>
          <a:lstStyle/>
          <a:p>
            <a:endParaRPr lang="en-AU">
              <a:latin typeface="Aptos" panose="020B0004020202020204" pitchFamily="34" charset="0"/>
            </a:endParaRPr>
          </a:p>
        </p:txBody>
      </p:sp>
      <p:sp>
        <p:nvSpPr>
          <p:cNvPr id="16" name="Text 14"/>
          <p:cNvSpPr/>
          <p:nvPr/>
        </p:nvSpPr>
        <p:spPr>
          <a:xfrm>
            <a:off x="6309360" y="2971800"/>
            <a:ext cx="2103120" cy="1554480"/>
          </a:xfrm>
          <a:prstGeom prst="rect">
            <a:avLst/>
          </a:prstGeom>
          <a:noFill/>
          <a:ln/>
        </p:spPr>
        <p:txBody>
          <a:bodyPr wrap="square" rtlCol="0" anchor="t"/>
          <a:lstStyle/>
          <a:p>
            <a:pPr marL="0" indent="0" algn="ctr">
              <a:buNone/>
            </a:pPr>
            <a:r>
              <a:rPr lang="en-US" sz="1300" dirty="0">
                <a:solidFill>
                  <a:srgbClr val="424242"/>
                </a:solidFill>
                <a:latin typeface="Aptos" panose="020B0004020202020204" pitchFamily="34" charset="0"/>
                <a:ea typeface="Calibri" pitchFamily="34" charset="-122"/>
                <a:cs typeface="Calibri" pitchFamily="34" charset="-120"/>
              </a:rPr>
              <a:t>Tobler's law on the clock. Events nearby in time tend to be related — outbreaks cluster into episodes.</a:t>
            </a:r>
            <a:endParaRPr lang="en-US" sz="1300" dirty="0">
              <a:latin typeface="Aptos" panose="020B0004020202020204" pitchFamily="34" charset="0"/>
            </a:endParaRPr>
          </a:p>
        </p:txBody>
      </p:sp>
      <p:sp>
        <p:nvSpPr>
          <p:cNvPr id="17" name="Text 15"/>
          <p:cNvSpPr/>
          <p:nvPr/>
        </p:nvSpPr>
        <p:spPr>
          <a:xfrm>
            <a:off x="457200" y="4800600"/>
            <a:ext cx="8229600" cy="274320"/>
          </a:xfrm>
          <a:prstGeom prst="rect">
            <a:avLst/>
          </a:prstGeom>
          <a:noFill/>
          <a:ln/>
        </p:spPr>
        <p:txBody>
          <a:bodyPr wrap="square" rtlCol="0" anchor="ctr"/>
          <a:lstStyle/>
          <a:p>
            <a:pPr marL="0" indent="0" algn="ctr">
              <a:buNone/>
            </a:pPr>
            <a:r>
              <a:rPr lang="en-US" sz="1300" i="1" dirty="0">
                <a:solidFill>
                  <a:srgbClr val="6B7280"/>
                </a:solidFill>
                <a:latin typeface="Aptos" panose="020B0004020202020204" pitchFamily="34" charset="0"/>
                <a:ea typeface="Calibri" pitchFamily="34" charset="-122"/>
                <a:cs typeface="Calibri" pitchFamily="34" charset="-120"/>
              </a:rPr>
              <a:t>Same investigative logic — different axis.</a:t>
            </a:r>
            <a:endParaRPr lang="en-US" sz="1300" dirty="0">
              <a:latin typeface="Aptos" panose="020B00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Anatomy of a time-series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43000"/>
            <a:ext cx="8229600" cy="365760"/>
          </a:xfrm>
          <a:prstGeom prst="rect">
            <a:avLst/>
          </a:prstGeom>
          <a:noFill/>
          <a:ln/>
        </p:spPr>
        <p:txBody>
          <a:bodyPr wrap="square" rtlCol="0" anchor="ctr"/>
          <a:lstStyle/>
          <a:p>
            <a:pPr marL="0" indent="0">
              <a:buNone/>
            </a:pPr>
            <a:r>
              <a:rPr lang="en-US" sz="1500" i="1" dirty="0">
                <a:solidFill>
                  <a:srgbClr val="6B7280"/>
                </a:solidFill>
                <a:latin typeface="Aptos" panose="020B0004020202020204" pitchFamily="34" charset="0"/>
                <a:ea typeface="Calibri" pitchFamily="34" charset="-122"/>
                <a:cs typeface="Calibri" pitchFamily="34" charset="-120"/>
              </a:rPr>
              <a:t>Most disease time-series can be thought of as the sum of three pieces.</a:t>
            </a:r>
            <a:endParaRPr lang="en-US" sz="1500" dirty="0">
              <a:latin typeface="Aptos" panose="020B0004020202020204" pitchFamily="34" charset="0"/>
            </a:endParaRPr>
          </a:p>
        </p:txBody>
      </p:sp>
      <p:sp>
        <p:nvSpPr>
          <p:cNvPr id="5" name="Shape 3"/>
          <p:cNvSpPr/>
          <p:nvPr/>
        </p:nvSpPr>
        <p:spPr>
          <a:xfrm>
            <a:off x="457200" y="1691640"/>
            <a:ext cx="4023360" cy="3017520"/>
          </a:xfrm>
          <a:prstGeom prst="roundRect">
            <a:avLst>
              <a:gd name="adj" fmla="val 1818"/>
            </a:avLst>
          </a:prstGeom>
          <a:solidFill>
            <a:srgbClr val="F1F1F1"/>
          </a:solidFill>
          <a:ln w="12700">
            <a:solidFill>
              <a:srgbClr val="F1F1F1"/>
            </a:solidFill>
            <a:prstDash val="solid"/>
          </a:ln>
        </p:spPr>
        <p:txBody>
          <a:bodyPr/>
          <a:lstStyle/>
          <a:p>
            <a:endParaRPr lang="en-AU">
              <a:latin typeface="Aptos" panose="020B0004020202020204" pitchFamily="34" charset="0"/>
            </a:endParaRPr>
          </a:p>
        </p:txBody>
      </p:sp>
      <p:sp>
        <p:nvSpPr>
          <p:cNvPr id="6" name="Text 4"/>
          <p:cNvSpPr/>
          <p:nvPr/>
        </p:nvSpPr>
        <p:spPr>
          <a:xfrm>
            <a:off x="640080" y="1783080"/>
            <a:ext cx="3657600" cy="320040"/>
          </a:xfrm>
          <a:prstGeom prst="rect">
            <a:avLst/>
          </a:prstGeom>
          <a:noFill/>
          <a:ln/>
        </p:spPr>
        <p:txBody>
          <a:bodyPr wrap="square" rtlCol="0" anchor="ctr"/>
          <a:lstStyle/>
          <a:p>
            <a:pPr marL="0" indent="0">
              <a:buNone/>
            </a:pPr>
            <a:r>
              <a:rPr lang="en-US" sz="1200" b="1" kern="0" spc="300" dirty="0">
                <a:solidFill>
                  <a:srgbClr val="71A499"/>
                </a:solidFill>
                <a:latin typeface="Aptos" panose="020B0004020202020204" pitchFamily="34" charset="0"/>
                <a:ea typeface="Calibri" pitchFamily="34" charset="-122"/>
                <a:cs typeface="Calibri" pitchFamily="34" charset="-120"/>
              </a:rPr>
              <a:t>WHAT YOU OBSERVE</a:t>
            </a:r>
            <a:endParaRPr lang="en-US" sz="1200" dirty="0">
              <a:latin typeface="Aptos" panose="020B0004020202020204" pitchFamily="34" charset="0"/>
            </a:endParaRPr>
          </a:p>
        </p:txBody>
      </p:sp>
      <p:sp>
        <p:nvSpPr>
          <p:cNvPr id="7" name="Shape 5"/>
          <p:cNvSpPr/>
          <p:nvPr/>
        </p:nvSpPr>
        <p:spPr>
          <a:xfrm>
            <a:off x="731520" y="3337560"/>
            <a:ext cx="3474720" cy="0"/>
          </a:xfrm>
          <a:prstGeom prst="line">
            <a:avLst/>
          </a:prstGeom>
          <a:noFill/>
          <a:ln w="6350">
            <a:solidFill>
              <a:srgbClr val="6B7280"/>
            </a:solidFill>
            <a:prstDash val="dash"/>
          </a:ln>
        </p:spPr>
        <p:txBody>
          <a:bodyPr/>
          <a:lstStyle/>
          <a:p>
            <a:endParaRPr lang="en-AU">
              <a:latin typeface="Aptos" panose="020B0004020202020204" pitchFamily="34" charset="0"/>
            </a:endParaRPr>
          </a:p>
        </p:txBody>
      </p:sp>
      <p:sp>
        <p:nvSpPr>
          <p:cNvPr id="8" name="Shape 6"/>
          <p:cNvSpPr/>
          <p:nvPr/>
        </p:nvSpPr>
        <p:spPr>
          <a:xfrm>
            <a:off x="731520" y="4086454"/>
            <a:ext cx="496389" cy="0"/>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9" name="Shape 7"/>
          <p:cNvSpPr/>
          <p:nvPr/>
        </p:nvSpPr>
        <p:spPr>
          <a:xfrm>
            <a:off x="1227909" y="3358957"/>
            <a:ext cx="496389" cy="323332"/>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0" name="Shape 8"/>
          <p:cNvSpPr/>
          <p:nvPr/>
        </p:nvSpPr>
        <p:spPr>
          <a:xfrm>
            <a:off x="1724297" y="3682289"/>
            <a:ext cx="496389" cy="154534"/>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1" name="Shape 9"/>
          <p:cNvSpPr/>
          <p:nvPr/>
        </p:nvSpPr>
        <p:spPr>
          <a:xfrm flipV="1">
            <a:off x="2220686" y="3830289"/>
            <a:ext cx="241663" cy="1"/>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2" name="Shape 10"/>
          <p:cNvSpPr/>
          <p:nvPr/>
        </p:nvSpPr>
        <p:spPr>
          <a:xfrm>
            <a:off x="2508070" y="3232953"/>
            <a:ext cx="705394" cy="0"/>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3" name="Shape 11"/>
          <p:cNvSpPr/>
          <p:nvPr/>
        </p:nvSpPr>
        <p:spPr>
          <a:xfrm>
            <a:off x="3213463" y="2427000"/>
            <a:ext cx="496389" cy="385145"/>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4" name="Shape 12"/>
          <p:cNvSpPr/>
          <p:nvPr/>
        </p:nvSpPr>
        <p:spPr>
          <a:xfrm>
            <a:off x="3709851" y="2812146"/>
            <a:ext cx="496389" cy="218724"/>
          </a:xfrm>
          <a:prstGeom prst="line">
            <a:avLst/>
          </a:prstGeom>
          <a:noFill/>
          <a:ln w="25400">
            <a:solidFill>
              <a:srgbClr val="E64626"/>
            </a:solidFill>
            <a:prstDash val="solid"/>
          </a:ln>
        </p:spPr>
        <p:txBody>
          <a:bodyPr/>
          <a:lstStyle/>
          <a:p>
            <a:endParaRPr lang="en-AU">
              <a:latin typeface="Aptos" panose="020B0004020202020204" pitchFamily="34" charset="0"/>
            </a:endParaRPr>
          </a:p>
        </p:txBody>
      </p:sp>
      <p:sp>
        <p:nvSpPr>
          <p:cNvPr id="15" name="Text 13"/>
          <p:cNvSpPr/>
          <p:nvPr/>
        </p:nvSpPr>
        <p:spPr>
          <a:xfrm>
            <a:off x="4526280" y="2926080"/>
            <a:ext cx="365760" cy="548640"/>
          </a:xfrm>
          <a:prstGeom prst="rect">
            <a:avLst/>
          </a:prstGeom>
          <a:noFill/>
          <a:ln/>
        </p:spPr>
        <p:txBody>
          <a:bodyPr wrap="square" rtlCol="0" anchor="ctr"/>
          <a:lstStyle/>
          <a:p>
            <a:pPr marL="0" indent="0" algn="ctr">
              <a:buNone/>
            </a:pPr>
            <a:r>
              <a:rPr lang="en-US" sz="3200" b="1" dirty="0">
                <a:solidFill>
                  <a:srgbClr val="1A355E"/>
                </a:solidFill>
                <a:latin typeface="Aptos" panose="020B0004020202020204" pitchFamily="34" charset="0"/>
                <a:ea typeface="Cambria" pitchFamily="34" charset="-122"/>
                <a:cs typeface="Cambria" pitchFamily="34" charset="-120"/>
              </a:rPr>
              <a:t>=</a:t>
            </a:r>
            <a:endParaRPr lang="en-US" sz="3200" dirty="0">
              <a:latin typeface="Aptos" panose="020B0004020202020204" pitchFamily="34" charset="0"/>
            </a:endParaRPr>
          </a:p>
        </p:txBody>
      </p:sp>
      <p:sp>
        <p:nvSpPr>
          <p:cNvPr id="16" name="Shape 14"/>
          <p:cNvSpPr/>
          <p:nvPr/>
        </p:nvSpPr>
        <p:spPr>
          <a:xfrm>
            <a:off x="4937760" y="1691640"/>
            <a:ext cx="3749040" cy="914400"/>
          </a:xfrm>
          <a:prstGeom prst="roundRect">
            <a:avLst>
              <a:gd name="adj" fmla="val 6000"/>
            </a:avLst>
          </a:prstGeom>
          <a:solidFill>
            <a:srgbClr val="F1F1F1"/>
          </a:solidFill>
          <a:ln w="12700">
            <a:solidFill>
              <a:srgbClr val="F1F1F1"/>
            </a:solidFill>
            <a:prstDash val="solid"/>
          </a:ln>
        </p:spPr>
        <p:txBody>
          <a:bodyPr/>
          <a:lstStyle/>
          <a:p>
            <a:endParaRPr lang="en-AU">
              <a:latin typeface="Aptos" panose="020B0004020202020204" pitchFamily="34" charset="0"/>
            </a:endParaRPr>
          </a:p>
        </p:txBody>
      </p:sp>
      <p:sp>
        <p:nvSpPr>
          <p:cNvPr id="17" name="Text 15"/>
          <p:cNvSpPr/>
          <p:nvPr/>
        </p:nvSpPr>
        <p:spPr>
          <a:xfrm>
            <a:off x="5120640" y="1783080"/>
            <a:ext cx="3383280" cy="320040"/>
          </a:xfrm>
          <a:prstGeom prst="rect">
            <a:avLst/>
          </a:prstGeom>
          <a:noFill/>
          <a:ln/>
        </p:spPr>
        <p:txBody>
          <a:bodyPr wrap="square" rtlCol="0" anchor="ctr"/>
          <a:lstStyle/>
          <a:p>
            <a:pPr marL="0" indent="0">
              <a:buNone/>
            </a:pPr>
            <a:r>
              <a:rPr lang="en-US" sz="1200" b="1" kern="0" spc="300" dirty="0">
                <a:solidFill>
                  <a:srgbClr val="71A499"/>
                </a:solidFill>
                <a:latin typeface="Aptos" panose="020B0004020202020204" pitchFamily="34" charset="0"/>
                <a:ea typeface="Calibri" pitchFamily="34" charset="-122"/>
                <a:cs typeface="Calibri" pitchFamily="34" charset="-120"/>
              </a:rPr>
              <a:t>TREND</a:t>
            </a:r>
            <a:endParaRPr lang="en-US" sz="1200" dirty="0">
              <a:latin typeface="Aptos" panose="020B0004020202020204" pitchFamily="34" charset="0"/>
            </a:endParaRPr>
          </a:p>
        </p:txBody>
      </p:sp>
      <p:sp>
        <p:nvSpPr>
          <p:cNvPr id="18" name="Shape 16"/>
          <p:cNvSpPr/>
          <p:nvPr/>
        </p:nvSpPr>
        <p:spPr>
          <a:xfrm>
            <a:off x="5212080" y="2286000"/>
            <a:ext cx="3200400" cy="0"/>
          </a:xfrm>
          <a:prstGeom prst="line">
            <a:avLst/>
          </a:prstGeom>
          <a:noFill/>
          <a:ln w="6350">
            <a:solidFill>
              <a:srgbClr val="6B7280"/>
            </a:solidFill>
            <a:prstDash val="dash"/>
          </a:ln>
        </p:spPr>
        <p:txBody>
          <a:bodyPr/>
          <a:lstStyle/>
          <a:p>
            <a:endParaRPr lang="en-AU">
              <a:latin typeface="Aptos" panose="020B0004020202020204" pitchFamily="34" charset="0"/>
            </a:endParaRPr>
          </a:p>
        </p:txBody>
      </p:sp>
      <p:sp>
        <p:nvSpPr>
          <p:cNvPr id="19" name="Shape 17"/>
          <p:cNvSpPr/>
          <p:nvPr/>
        </p:nvSpPr>
        <p:spPr>
          <a:xfrm>
            <a:off x="5212080" y="2368296"/>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0" name="Shape 18"/>
          <p:cNvSpPr/>
          <p:nvPr/>
        </p:nvSpPr>
        <p:spPr>
          <a:xfrm>
            <a:off x="5669280" y="2346350"/>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1" name="Shape 19"/>
          <p:cNvSpPr/>
          <p:nvPr/>
        </p:nvSpPr>
        <p:spPr>
          <a:xfrm>
            <a:off x="6126480" y="2324405"/>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2" name="Shape 20"/>
          <p:cNvSpPr/>
          <p:nvPr/>
        </p:nvSpPr>
        <p:spPr>
          <a:xfrm>
            <a:off x="6583680" y="2299716"/>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3" name="Shape 21"/>
          <p:cNvSpPr/>
          <p:nvPr/>
        </p:nvSpPr>
        <p:spPr>
          <a:xfrm>
            <a:off x="7040880" y="2272284"/>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4" name="Shape 22"/>
          <p:cNvSpPr/>
          <p:nvPr/>
        </p:nvSpPr>
        <p:spPr>
          <a:xfrm>
            <a:off x="7498080" y="2242109"/>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5" name="Shape 23"/>
          <p:cNvSpPr/>
          <p:nvPr/>
        </p:nvSpPr>
        <p:spPr>
          <a:xfrm>
            <a:off x="7955280" y="2225650"/>
            <a:ext cx="457200" cy="0"/>
          </a:xfrm>
          <a:prstGeom prst="line">
            <a:avLst/>
          </a:prstGeom>
          <a:noFill/>
          <a:ln w="25400">
            <a:solidFill>
              <a:srgbClr val="1A355E"/>
            </a:solidFill>
            <a:prstDash val="solid"/>
          </a:ln>
        </p:spPr>
        <p:txBody>
          <a:bodyPr/>
          <a:lstStyle/>
          <a:p>
            <a:endParaRPr lang="en-AU">
              <a:latin typeface="Aptos" panose="020B0004020202020204" pitchFamily="34" charset="0"/>
            </a:endParaRPr>
          </a:p>
        </p:txBody>
      </p:sp>
      <p:sp>
        <p:nvSpPr>
          <p:cNvPr id="26" name="Shape 24"/>
          <p:cNvSpPr/>
          <p:nvPr/>
        </p:nvSpPr>
        <p:spPr>
          <a:xfrm>
            <a:off x="4937760" y="2697480"/>
            <a:ext cx="3749040" cy="914400"/>
          </a:xfrm>
          <a:prstGeom prst="roundRect">
            <a:avLst>
              <a:gd name="adj" fmla="val 6000"/>
            </a:avLst>
          </a:prstGeom>
          <a:solidFill>
            <a:srgbClr val="F1F1F1"/>
          </a:solidFill>
          <a:ln w="12700">
            <a:solidFill>
              <a:srgbClr val="F1F1F1"/>
            </a:solidFill>
            <a:prstDash val="solid"/>
          </a:ln>
        </p:spPr>
        <p:txBody>
          <a:bodyPr/>
          <a:lstStyle/>
          <a:p>
            <a:endParaRPr lang="en-AU">
              <a:latin typeface="Aptos" panose="020B0004020202020204" pitchFamily="34" charset="0"/>
            </a:endParaRPr>
          </a:p>
        </p:txBody>
      </p:sp>
      <p:sp>
        <p:nvSpPr>
          <p:cNvPr id="27" name="Text 25"/>
          <p:cNvSpPr/>
          <p:nvPr/>
        </p:nvSpPr>
        <p:spPr>
          <a:xfrm>
            <a:off x="5120640" y="2788920"/>
            <a:ext cx="3383280" cy="320040"/>
          </a:xfrm>
          <a:prstGeom prst="rect">
            <a:avLst/>
          </a:prstGeom>
          <a:noFill/>
          <a:ln/>
        </p:spPr>
        <p:txBody>
          <a:bodyPr wrap="square" rtlCol="0" anchor="ctr"/>
          <a:lstStyle/>
          <a:p>
            <a:pPr marL="0" indent="0">
              <a:buNone/>
            </a:pPr>
            <a:r>
              <a:rPr lang="en-US" sz="1200" b="1" kern="0" spc="300" dirty="0">
                <a:solidFill>
                  <a:srgbClr val="71A499"/>
                </a:solidFill>
                <a:latin typeface="Aptos" panose="020B0004020202020204" pitchFamily="34" charset="0"/>
                <a:ea typeface="Calibri" pitchFamily="34" charset="-122"/>
                <a:cs typeface="Calibri" pitchFamily="34" charset="-120"/>
              </a:rPr>
              <a:t>SEASONAL</a:t>
            </a:r>
            <a:endParaRPr lang="en-US" sz="1200" dirty="0">
              <a:latin typeface="Aptos" panose="020B0004020202020204" pitchFamily="34" charset="0"/>
            </a:endParaRPr>
          </a:p>
        </p:txBody>
      </p:sp>
      <p:sp>
        <p:nvSpPr>
          <p:cNvPr id="28" name="Shape 26"/>
          <p:cNvSpPr/>
          <p:nvPr/>
        </p:nvSpPr>
        <p:spPr>
          <a:xfrm>
            <a:off x="5212080" y="3291840"/>
            <a:ext cx="3200400" cy="0"/>
          </a:xfrm>
          <a:prstGeom prst="line">
            <a:avLst/>
          </a:prstGeom>
          <a:noFill/>
          <a:ln w="6350">
            <a:solidFill>
              <a:srgbClr val="6B7280"/>
            </a:solidFill>
            <a:prstDash val="dash"/>
          </a:ln>
        </p:spPr>
        <p:txBody>
          <a:bodyPr/>
          <a:lstStyle/>
          <a:p>
            <a:endParaRPr lang="en-AU">
              <a:latin typeface="Aptos" panose="020B0004020202020204" pitchFamily="34" charset="0"/>
            </a:endParaRPr>
          </a:p>
        </p:txBody>
      </p:sp>
      <p:sp>
        <p:nvSpPr>
          <p:cNvPr id="29" name="Shape 27"/>
          <p:cNvSpPr/>
          <p:nvPr/>
        </p:nvSpPr>
        <p:spPr>
          <a:xfrm>
            <a:off x="5212080" y="3291840"/>
            <a:ext cx="400050" cy="0"/>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0" name="Shape 28"/>
          <p:cNvSpPr/>
          <p:nvPr/>
        </p:nvSpPr>
        <p:spPr>
          <a:xfrm>
            <a:off x="5612130" y="3195828"/>
            <a:ext cx="400050" cy="82296"/>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1" name="Shape 29"/>
          <p:cNvSpPr/>
          <p:nvPr/>
        </p:nvSpPr>
        <p:spPr>
          <a:xfrm>
            <a:off x="6012180" y="3278124"/>
            <a:ext cx="400050" cy="109728"/>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2" name="Shape 30"/>
          <p:cNvSpPr/>
          <p:nvPr/>
        </p:nvSpPr>
        <p:spPr>
          <a:xfrm>
            <a:off x="6412230" y="3387852"/>
            <a:ext cx="400050" cy="0"/>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3" name="Shape 31"/>
          <p:cNvSpPr/>
          <p:nvPr/>
        </p:nvSpPr>
        <p:spPr>
          <a:xfrm>
            <a:off x="6812280" y="3291840"/>
            <a:ext cx="400050" cy="0"/>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4" name="Shape 32"/>
          <p:cNvSpPr/>
          <p:nvPr/>
        </p:nvSpPr>
        <p:spPr>
          <a:xfrm>
            <a:off x="7212330" y="3195828"/>
            <a:ext cx="400050" cy="82296"/>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5" name="Shape 33"/>
          <p:cNvSpPr/>
          <p:nvPr/>
        </p:nvSpPr>
        <p:spPr>
          <a:xfrm>
            <a:off x="7612380" y="3278124"/>
            <a:ext cx="400050" cy="109728"/>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6" name="Shape 34"/>
          <p:cNvSpPr/>
          <p:nvPr/>
        </p:nvSpPr>
        <p:spPr>
          <a:xfrm>
            <a:off x="8012430" y="3387852"/>
            <a:ext cx="400050" cy="0"/>
          </a:xfrm>
          <a:prstGeom prst="line">
            <a:avLst/>
          </a:prstGeom>
          <a:noFill/>
          <a:ln w="25400">
            <a:solidFill>
              <a:srgbClr val="71A499"/>
            </a:solidFill>
            <a:prstDash val="solid"/>
          </a:ln>
        </p:spPr>
        <p:txBody>
          <a:bodyPr/>
          <a:lstStyle/>
          <a:p>
            <a:endParaRPr lang="en-AU">
              <a:latin typeface="Aptos" panose="020B0004020202020204" pitchFamily="34" charset="0"/>
            </a:endParaRPr>
          </a:p>
        </p:txBody>
      </p:sp>
      <p:sp>
        <p:nvSpPr>
          <p:cNvPr id="37" name="Shape 35"/>
          <p:cNvSpPr/>
          <p:nvPr/>
        </p:nvSpPr>
        <p:spPr>
          <a:xfrm>
            <a:off x="4937760" y="3703320"/>
            <a:ext cx="3749040" cy="1005840"/>
          </a:xfrm>
          <a:prstGeom prst="roundRect">
            <a:avLst>
              <a:gd name="adj" fmla="val 5455"/>
            </a:avLst>
          </a:prstGeom>
          <a:solidFill>
            <a:srgbClr val="F1F1F1"/>
          </a:solidFill>
          <a:ln w="12700">
            <a:solidFill>
              <a:srgbClr val="F1F1F1"/>
            </a:solidFill>
            <a:prstDash val="solid"/>
          </a:ln>
        </p:spPr>
        <p:txBody>
          <a:bodyPr/>
          <a:lstStyle/>
          <a:p>
            <a:endParaRPr lang="en-AU">
              <a:latin typeface="Aptos" panose="020B0004020202020204" pitchFamily="34" charset="0"/>
            </a:endParaRPr>
          </a:p>
        </p:txBody>
      </p:sp>
      <p:sp>
        <p:nvSpPr>
          <p:cNvPr id="38" name="Text 36"/>
          <p:cNvSpPr/>
          <p:nvPr/>
        </p:nvSpPr>
        <p:spPr>
          <a:xfrm>
            <a:off x="5120640" y="3794760"/>
            <a:ext cx="3383280" cy="320040"/>
          </a:xfrm>
          <a:prstGeom prst="rect">
            <a:avLst/>
          </a:prstGeom>
          <a:noFill/>
          <a:ln/>
        </p:spPr>
        <p:txBody>
          <a:bodyPr wrap="square" rtlCol="0" anchor="ctr"/>
          <a:lstStyle/>
          <a:p>
            <a:pPr marL="0" indent="0">
              <a:buNone/>
            </a:pPr>
            <a:r>
              <a:rPr lang="en-US" sz="1200" b="1" kern="0" spc="300" dirty="0">
                <a:solidFill>
                  <a:srgbClr val="71A499"/>
                </a:solidFill>
                <a:latin typeface="Aptos" panose="020B0004020202020204" pitchFamily="34" charset="0"/>
                <a:ea typeface="Calibri" pitchFamily="34" charset="-122"/>
                <a:cs typeface="Calibri" pitchFamily="34" charset="-120"/>
              </a:rPr>
              <a:t>NOISE</a:t>
            </a:r>
            <a:endParaRPr lang="en-US" sz="1200" dirty="0">
              <a:latin typeface="Aptos" panose="020B0004020202020204" pitchFamily="34" charset="0"/>
            </a:endParaRPr>
          </a:p>
        </p:txBody>
      </p:sp>
      <p:sp>
        <p:nvSpPr>
          <p:cNvPr id="39" name="Shape 37"/>
          <p:cNvSpPr/>
          <p:nvPr/>
        </p:nvSpPr>
        <p:spPr>
          <a:xfrm>
            <a:off x="5212080" y="4343400"/>
            <a:ext cx="3200400" cy="0"/>
          </a:xfrm>
          <a:prstGeom prst="line">
            <a:avLst/>
          </a:prstGeom>
          <a:noFill/>
          <a:ln w="6350">
            <a:solidFill>
              <a:srgbClr val="6B7280"/>
            </a:solidFill>
            <a:prstDash val="dash"/>
          </a:ln>
        </p:spPr>
        <p:txBody>
          <a:bodyPr/>
          <a:lstStyle/>
          <a:p>
            <a:endParaRPr lang="en-AU">
              <a:latin typeface="Aptos" panose="020B0004020202020204" pitchFamily="34" charset="0"/>
            </a:endParaRPr>
          </a:p>
        </p:txBody>
      </p:sp>
      <p:sp>
        <p:nvSpPr>
          <p:cNvPr id="40" name="Shape 38"/>
          <p:cNvSpPr/>
          <p:nvPr/>
        </p:nvSpPr>
        <p:spPr>
          <a:xfrm>
            <a:off x="5212080" y="4361688"/>
            <a:ext cx="400050" cy="0"/>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1" name="Shape 39"/>
          <p:cNvSpPr/>
          <p:nvPr/>
        </p:nvSpPr>
        <p:spPr>
          <a:xfrm>
            <a:off x="5612130" y="4299509"/>
            <a:ext cx="400050" cy="80467"/>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2" name="Shape 40"/>
          <p:cNvSpPr/>
          <p:nvPr/>
        </p:nvSpPr>
        <p:spPr>
          <a:xfrm>
            <a:off x="6012180" y="4379976"/>
            <a:ext cx="400050" cy="0"/>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3" name="Shape 41"/>
          <p:cNvSpPr/>
          <p:nvPr/>
        </p:nvSpPr>
        <p:spPr>
          <a:xfrm>
            <a:off x="6412230" y="4284878"/>
            <a:ext cx="400050" cy="65837"/>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4" name="Shape 42"/>
          <p:cNvSpPr/>
          <p:nvPr/>
        </p:nvSpPr>
        <p:spPr>
          <a:xfrm>
            <a:off x="6812280" y="4350715"/>
            <a:ext cx="400050" cy="0"/>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5" name="Shape 43"/>
          <p:cNvSpPr/>
          <p:nvPr/>
        </p:nvSpPr>
        <p:spPr>
          <a:xfrm>
            <a:off x="7212330" y="4343400"/>
            <a:ext cx="400050" cy="29260"/>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6" name="Shape 44"/>
          <p:cNvSpPr/>
          <p:nvPr/>
        </p:nvSpPr>
        <p:spPr>
          <a:xfrm>
            <a:off x="7612380" y="4372661"/>
            <a:ext cx="400050" cy="0"/>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7" name="Shape 45"/>
          <p:cNvSpPr/>
          <p:nvPr/>
        </p:nvSpPr>
        <p:spPr>
          <a:xfrm>
            <a:off x="7955280" y="4258361"/>
            <a:ext cx="457200" cy="85039"/>
          </a:xfrm>
          <a:prstGeom prst="line">
            <a:avLst/>
          </a:prstGeom>
          <a:noFill/>
          <a:ln w="25400">
            <a:solidFill>
              <a:srgbClr val="6B7280"/>
            </a:solidFill>
            <a:prstDash val="solid"/>
          </a:ln>
        </p:spPr>
        <p:txBody>
          <a:bodyPr/>
          <a:lstStyle/>
          <a:p>
            <a:endParaRPr lang="en-AU">
              <a:latin typeface="Aptos" panose="020B0004020202020204" pitchFamily="34" charset="0"/>
            </a:endParaRPr>
          </a:p>
        </p:txBody>
      </p:sp>
      <p:sp>
        <p:nvSpPr>
          <p:cNvPr id="48" name="Text 46"/>
          <p:cNvSpPr/>
          <p:nvPr/>
        </p:nvSpPr>
        <p:spPr>
          <a:xfrm>
            <a:off x="457200" y="4800600"/>
            <a:ext cx="8229600" cy="274320"/>
          </a:xfrm>
          <a:prstGeom prst="rect">
            <a:avLst/>
          </a:prstGeom>
          <a:noFill/>
          <a:ln/>
        </p:spPr>
        <p:txBody>
          <a:bodyPr wrap="square" rtlCol="0" anchor="ctr"/>
          <a:lstStyle/>
          <a:p>
            <a:pPr marL="0" indent="0" algn="ctr">
              <a:buNone/>
            </a:pPr>
            <a:r>
              <a:rPr lang="en-US" sz="1200" i="1" dirty="0">
                <a:solidFill>
                  <a:srgbClr val="6B7280"/>
                </a:solidFill>
                <a:latin typeface="Aptos" panose="020B0004020202020204" pitchFamily="34" charset="0"/>
                <a:ea typeface="Calibri" pitchFamily="34" charset="-122"/>
                <a:cs typeface="Calibri" pitchFamily="34" charset="-120"/>
              </a:rPr>
              <a:t>R's stl() does this decomposition for you.</a:t>
            </a:r>
            <a:endParaRPr lang="en-US" sz="1200" dirty="0">
              <a:latin typeface="Aptos" panose="020B00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E64626"/>
        </a:solidFill>
        <a:effectLst/>
      </p:bgPr>
    </p:bg>
    <p:spTree>
      <p:nvGrpSpPr>
        <p:cNvPr id="1" name=""/>
        <p:cNvGrpSpPr/>
        <p:nvPr/>
      </p:nvGrpSpPr>
      <p:grpSpPr>
        <a:xfrm>
          <a:off x="0" y="0"/>
          <a:ext cx="0" cy="0"/>
          <a:chOff x="0" y="0"/>
          <a:chExt cx="0" cy="0"/>
        </a:xfrm>
      </p:grpSpPr>
      <p:sp>
        <p:nvSpPr>
          <p:cNvPr id="2" name="Text 0"/>
          <p:cNvSpPr/>
          <p:nvPr/>
        </p:nvSpPr>
        <p:spPr>
          <a:xfrm>
            <a:off x="640080" y="1371600"/>
            <a:ext cx="7863840" cy="365760"/>
          </a:xfrm>
          <a:prstGeom prst="rect">
            <a:avLst/>
          </a:prstGeom>
          <a:noFill/>
          <a:ln/>
        </p:spPr>
        <p:txBody>
          <a:bodyPr wrap="square" rtlCol="0" anchor="ctr"/>
          <a:lstStyle/>
          <a:p>
            <a:pPr marL="0" indent="0">
              <a:buNone/>
            </a:pPr>
            <a:r>
              <a:rPr lang="en-US" sz="1400" b="1" kern="0" spc="400" dirty="0">
                <a:solidFill>
                  <a:srgbClr val="1A355E"/>
                </a:solidFill>
                <a:latin typeface="Calibri" pitchFamily="34" charset="0"/>
                <a:ea typeface="Calibri" pitchFamily="34" charset="-122"/>
                <a:cs typeface="Calibri" pitchFamily="34" charset="-120"/>
              </a:rPr>
              <a:t>PART 2</a:t>
            </a:r>
            <a:endParaRPr lang="en-US" sz="1400" dirty="0">
              <a:solidFill>
                <a:srgbClr val="1A355E"/>
              </a:solidFill>
            </a:endParaRPr>
          </a:p>
        </p:txBody>
      </p:sp>
      <p:sp>
        <p:nvSpPr>
          <p:cNvPr id="3" name="Text 1"/>
          <p:cNvSpPr/>
          <p:nvPr/>
        </p:nvSpPr>
        <p:spPr>
          <a:xfrm>
            <a:off x="640080" y="18288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Let's investigate:</a:t>
            </a:r>
            <a:endParaRPr lang="en-US" sz="3600" dirty="0"/>
          </a:p>
        </p:txBody>
      </p:sp>
      <p:sp>
        <p:nvSpPr>
          <p:cNvPr id="4" name="Text 2"/>
          <p:cNvSpPr/>
          <p:nvPr/>
        </p:nvSpPr>
        <p:spPr>
          <a:xfrm>
            <a:off x="640080" y="2606040"/>
            <a:ext cx="7863840" cy="822960"/>
          </a:xfrm>
          <a:prstGeom prst="rect">
            <a:avLst/>
          </a:prstGeom>
          <a:noFill/>
          <a:ln/>
        </p:spPr>
        <p:txBody>
          <a:bodyPr wrap="square" lIns="0" tIns="0" rIns="0" bIns="0" rtlCol="0" anchor="ctr"/>
          <a:lstStyle/>
          <a:p>
            <a:pPr marL="0" indent="0">
              <a:buNone/>
            </a:pPr>
            <a:r>
              <a:rPr lang="en-US" sz="4400" b="1" i="1" dirty="0">
                <a:solidFill>
                  <a:schemeClr val="bg1"/>
                </a:solidFill>
                <a:latin typeface="Cambria" pitchFamily="34" charset="0"/>
                <a:ea typeface="Cambria" pitchFamily="34" charset="-122"/>
                <a:cs typeface="Cambria" pitchFamily="34" charset="-120"/>
              </a:rPr>
              <a:t>HPAI outbreaks in Kerala</a:t>
            </a:r>
            <a:endParaRPr lang="en-US" sz="4400" dirty="0">
              <a:solidFill>
                <a:schemeClr val="bg1"/>
              </a:solidFill>
            </a:endParaRPr>
          </a:p>
        </p:txBody>
      </p:sp>
      <p:sp>
        <p:nvSpPr>
          <p:cNvPr id="5" name="Shape 3"/>
          <p:cNvSpPr/>
          <p:nvPr/>
        </p:nvSpPr>
        <p:spPr>
          <a:xfrm>
            <a:off x="640080" y="3703320"/>
            <a:ext cx="1371600" cy="0"/>
          </a:xfrm>
          <a:prstGeom prst="line">
            <a:avLst/>
          </a:prstGeom>
          <a:noFill/>
          <a:ln w="25400">
            <a:solidFill>
              <a:srgbClr val="D4A574"/>
            </a:solidFill>
            <a:prstDash val="solid"/>
          </a:ln>
        </p:spPr>
        <p:txBody>
          <a:bodyPr/>
          <a:lstStyle/>
          <a:p>
            <a:endParaRPr lang="en-AU" dirty="0">
              <a:solidFill>
                <a:srgbClr val="1A355E"/>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Where have outbreaks occurred?</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01</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900" b="1" dirty="0">
                <a:solidFill>
                  <a:srgbClr val="1A355E"/>
                </a:solidFill>
                <a:latin typeface="Cambria" pitchFamily="34" charset="0"/>
                <a:ea typeface="Cambria" pitchFamily="34" charset="-122"/>
                <a:cs typeface="Cambria" pitchFamily="34" charset="-120"/>
              </a:rPr>
              <a:t>Plot every outbreak as a point on the Kerala map.</a:t>
            </a:r>
            <a:endParaRPr lang="en-US" sz="1900" dirty="0"/>
          </a:p>
        </p:txBody>
      </p:sp>
      <p:sp>
        <p:nvSpPr>
          <p:cNvPr id="6" name="Text 4"/>
          <p:cNvSpPr/>
          <p:nvPr/>
        </p:nvSpPr>
        <p:spPr>
          <a:xfrm>
            <a:off x="457200" y="3291840"/>
            <a:ext cx="4206240" cy="1371600"/>
          </a:xfrm>
          <a:prstGeom prst="rect">
            <a:avLst/>
          </a:prstGeom>
          <a:noFill/>
          <a:ln/>
        </p:spPr>
        <p:txBody>
          <a:bodyPr wrap="square" rtlCol="0" anchor="ctr"/>
          <a:lstStyle/>
          <a:p>
            <a:pPr marL="0" indent="0">
              <a:spcAft>
                <a:spcPts val="500"/>
              </a:spcAft>
              <a:buNone/>
            </a:pPr>
            <a:r>
              <a:rPr lang="en-US" sz="1400" b="1" dirty="0">
                <a:solidFill>
                  <a:srgbClr val="71A499"/>
                </a:solidFill>
                <a:latin typeface="Calibri" pitchFamily="34" charset="0"/>
                <a:ea typeface="Calibri" pitchFamily="34" charset="-122"/>
                <a:cs typeface="Calibri" pitchFamily="34" charset="-120"/>
              </a:rPr>
              <a:t>1. </a:t>
            </a:r>
            <a:r>
              <a:rPr lang="en-US" sz="1400" dirty="0">
                <a:solidFill>
                  <a:srgbClr val="424242"/>
                </a:solidFill>
                <a:latin typeface="Calibri" pitchFamily="34" charset="0"/>
                <a:ea typeface="Calibri" pitchFamily="34" charset="-122"/>
                <a:cs typeface="Calibri" pitchFamily="34" charset="-120"/>
              </a:rPr>
              <a:t>Convert lat/lon columns into an sf object</a:t>
            </a:r>
            <a:endParaRPr lang="en-US" sz="1400" dirty="0"/>
          </a:p>
          <a:p>
            <a:pPr marL="0" indent="0">
              <a:spcAft>
                <a:spcPts val="500"/>
              </a:spcAft>
              <a:buNone/>
            </a:pPr>
            <a:r>
              <a:rPr lang="en-US" sz="1400" b="1" dirty="0">
                <a:solidFill>
                  <a:srgbClr val="71A499"/>
                </a:solidFill>
                <a:latin typeface="Calibri" pitchFamily="34" charset="0"/>
                <a:ea typeface="Calibri" pitchFamily="34" charset="-122"/>
                <a:cs typeface="Calibri" pitchFamily="34" charset="-120"/>
              </a:rPr>
              <a:t>2. </a:t>
            </a:r>
            <a:r>
              <a:rPr lang="en-US" sz="1400" dirty="0">
                <a:solidFill>
                  <a:srgbClr val="424242"/>
                </a:solidFill>
                <a:latin typeface="Calibri" pitchFamily="34" charset="0"/>
                <a:ea typeface="Calibri" pitchFamily="34" charset="-122"/>
                <a:cs typeface="Calibri" pitchFamily="34" charset="-120"/>
              </a:rPr>
              <a:t>Attach EPSG:4326 as the CRS</a:t>
            </a:r>
            <a:endParaRPr lang="en-US" sz="1400" dirty="0"/>
          </a:p>
          <a:p>
            <a:pPr marL="0" indent="0">
              <a:spcAft>
                <a:spcPts val="500"/>
              </a:spcAft>
              <a:buNone/>
            </a:pPr>
            <a:r>
              <a:rPr lang="en-US" sz="1400" b="1" dirty="0">
                <a:solidFill>
                  <a:srgbClr val="71A499"/>
                </a:solidFill>
                <a:latin typeface="Calibri" pitchFamily="34" charset="0"/>
                <a:ea typeface="Calibri" pitchFamily="34" charset="-122"/>
                <a:cs typeface="Calibri" pitchFamily="34" charset="-120"/>
              </a:rPr>
              <a:t>3. </a:t>
            </a:r>
            <a:r>
              <a:rPr lang="en-US" sz="1400" dirty="0">
                <a:solidFill>
                  <a:srgbClr val="424242"/>
                </a:solidFill>
                <a:latin typeface="Calibri" pitchFamily="34" charset="0"/>
                <a:ea typeface="Calibri" pitchFamily="34" charset="-122"/>
                <a:cs typeface="Calibri" pitchFamily="34" charset="-120"/>
              </a:rPr>
              <a:t>Layer points over the districts polygon</a:t>
            </a:r>
            <a:endParaRPr lang="en-US" sz="1400" dirty="0"/>
          </a:p>
        </p:txBody>
      </p:sp>
      <p:sp>
        <p:nvSpPr>
          <p:cNvPr id="7" name="Shape 5"/>
          <p:cNvSpPr/>
          <p:nvPr/>
        </p:nvSpPr>
        <p:spPr>
          <a:xfrm>
            <a:off x="5029200" y="1188720"/>
            <a:ext cx="365760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257800" y="1417320"/>
            <a:ext cx="3200400" cy="320040"/>
          </a:xfrm>
          <a:prstGeom prst="rect">
            <a:avLst/>
          </a:prstGeom>
          <a:noFill/>
          <a:ln/>
        </p:spPr>
        <p:txBody>
          <a:bodyPr wrap="square" rtlCol="0" anchor="ctr"/>
          <a:lstStyle/>
          <a:p>
            <a:pPr marL="0" indent="0">
              <a:buNone/>
            </a:pPr>
            <a:r>
              <a:rPr lang="en-US" sz="1100" b="1" kern="0" spc="300" dirty="0">
                <a:solidFill>
                  <a:srgbClr val="71A499"/>
                </a:solidFill>
                <a:latin typeface="Calibri" pitchFamily="34" charset="0"/>
                <a:ea typeface="Calibri" pitchFamily="34" charset="-122"/>
                <a:cs typeface="Calibri" pitchFamily="34" charset="-120"/>
              </a:rPr>
              <a:t>FIRST IMPRESSION</a:t>
            </a:r>
            <a:endParaRPr lang="en-US" sz="1100" dirty="0"/>
          </a:p>
        </p:txBody>
      </p:sp>
      <p:sp>
        <p:nvSpPr>
          <p:cNvPr id="9" name="Text 7"/>
          <p:cNvSpPr/>
          <p:nvPr/>
        </p:nvSpPr>
        <p:spPr>
          <a:xfrm>
            <a:off x="5257800" y="1783080"/>
            <a:ext cx="3200400" cy="457200"/>
          </a:xfrm>
          <a:prstGeom prst="rect">
            <a:avLst/>
          </a:prstGeom>
          <a:noFill/>
          <a:ln/>
        </p:spPr>
        <p:txBody>
          <a:bodyPr wrap="square" rtlCol="0" anchor="ctr"/>
          <a:lstStyle/>
          <a:p>
            <a:pPr marL="0" indent="0">
              <a:buNone/>
            </a:pPr>
            <a:r>
              <a:rPr lang="en-US" sz="1800" b="1" dirty="0">
                <a:solidFill>
                  <a:srgbClr val="1A355E"/>
                </a:solidFill>
                <a:latin typeface="Cambria" pitchFamily="34" charset="0"/>
                <a:ea typeface="Cambria" pitchFamily="34" charset="-122"/>
                <a:cs typeface="Cambria" pitchFamily="34" charset="-120"/>
              </a:rPr>
              <a:t>What does the raw map show?</a:t>
            </a:r>
            <a:endParaRPr lang="en-US" sz="1800" dirty="0"/>
          </a:p>
        </p:txBody>
      </p:sp>
      <p:sp>
        <p:nvSpPr>
          <p:cNvPr id="10" name="Text 8"/>
          <p:cNvSpPr/>
          <p:nvPr/>
        </p:nvSpPr>
        <p:spPr>
          <a:xfrm>
            <a:off x="5257800" y="2331720"/>
            <a:ext cx="3200400" cy="2194560"/>
          </a:xfrm>
          <a:prstGeom prst="rect">
            <a:avLst/>
          </a:prstGeom>
          <a:noFill/>
          <a:ln/>
        </p:spPr>
        <p:txBody>
          <a:bodyPr wrap="square" rtlCol="0" anchor="t"/>
          <a:lstStyle/>
          <a:p>
            <a:pPr marL="0" indent="0">
              <a:spcAft>
                <a:spcPts val="400"/>
              </a:spcAft>
              <a:buNone/>
            </a:pPr>
            <a:r>
              <a:rPr lang="en-US" sz="1300" dirty="0">
                <a:solidFill>
                  <a:srgbClr val="424242"/>
                </a:solidFill>
                <a:latin typeface="Calibri" pitchFamily="34" charset="0"/>
                <a:ea typeface="Calibri" pitchFamily="34" charset="-122"/>
                <a:cs typeface="Calibri" pitchFamily="34" charset="-120"/>
              </a:rPr>
              <a:t>Are points concentrated in one part of the state?</a:t>
            </a:r>
            <a:endParaRPr lang="en-US" sz="1300" dirty="0"/>
          </a:p>
          <a:p>
            <a:pPr marL="0" indent="0">
              <a:spcAft>
                <a:spcPts val="400"/>
              </a:spcAft>
              <a:buNone/>
            </a:pPr>
            <a:endParaRPr lang="en-US" sz="1300" dirty="0"/>
          </a:p>
          <a:p>
            <a:pPr marL="0" indent="0">
              <a:spcAft>
                <a:spcPts val="400"/>
              </a:spcAft>
              <a:buNone/>
            </a:pPr>
            <a:r>
              <a:rPr lang="en-US" sz="1300" dirty="0">
                <a:solidFill>
                  <a:srgbClr val="424242"/>
                </a:solidFill>
                <a:latin typeface="Calibri" pitchFamily="34" charset="0"/>
                <a:ea typeface="Calibri" pitchFamily="34" charset="-122"/>
                <a:cs typeface="Calibri" pitchFamily="34" charset="-120"/>
              </a:rPr>
              <a:t>Are they near the coast? Near wetlands? Near major poultry districts?</a:t>
            </a:r>
            <a:endParaRPr lang="en-US" sz="1300" dirty="0"/>
          </a:p>
          <a:p>
            <a:pPr marL="0" indent="0">
              <a:spcAft>
                <a:spcPts val="400"/>
              </a:spcAft>
              <a:buNone/>
            </a:pPr>
            <a:endParaRPr lang="en-US" sz="1300" dirty="0"/>
          </a:p>
          <a:p>
            <a:pPr marL="0" indent="0">
              <a:spcAft>
                <a:spcPts val="400"/>
              </a:spcAft>
              <a:buNone/>
            </a:pPr>
            <a:r>
              <a:rPr lang="en-US" sz="1300" i="1" dirty="0">
                <a:solidFill>
                  <a:srgbClr val="71A499"/>
                </a:solidFill>
                <a:latin typeface="Calibri" pitchFamily="34" charset="0"/>
                <a:ea typeface="Calibri" pitchFamily="34" charset="-122"/>
                <a:cs typeface="Calibri" pitchFamily="34" charset="-120"/>
              </a:rPr>
              <a:t>Even before any statistics, the eye picks up the pattern — just like Snow's map.</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Aggregate to district counts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02</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900" b="1" dirty="0">
                <a:solidFill>
                  <a:srgbClr val="1A355E"/>
                </a:solidFill>
                <a:latin typeface="Cambria" pitchFamily="34" charset="0"/>
                <a:ea typeface="Cambria" pitchFamily="34" charset="-122"/>
                <a:cs typeface="Cambria" pitchFamily="34" charset="-120"/>
              </a:rPr>
              <a:t>Points overlap; counts per polygon are clearer.</a:t>
            </a:r>
            <a:endParaRPr lang="en-US" sz="1900" dirty="0"/>
          </a:p>
        </p:txBody>
      </p:sp>
      <p:sp>
        <p:nvSpPr>
          <p:cNvPr id="6" name="Text 4"/>
          <p:cNvSpPr/>
          <p:nvPr/>
        </p:nvSpPr>
        <p:spPr>
          <a:xfrm>
            <a:off x="457200" y="3246120"/>
            <a:ext cx="4206240" cy="1280160"/>
          </a:xfrm>
          <a:prstGeom prst="rect">
            <a:avLst/>
          </a:prstGeom>
          <a:noFill/>
          <a:ln/>
        </p:spPr>
        <p:txBody>
          <a:bodyPr wrap="square" rtlCol="0" anchor="t"/>
          <a:lstStyle/>
          <a:p>
            <a:pPr marL="0" indent="0">
              <a:buNone/>
            </a:pPr>
            <a:r>
              <a:rPr lang="en-US" sz="1400" b="1" dirty="0">
                <a:solidFill>
                  <a:srgbClr val="71A499"/>
                </a:solidFill>
                <a:latin typeface="Courier New" pitchFamily="34" charset="0"/>
                <a:ea typeface="Courier New" pitchFamily="34" charset="-122"/>
                <a:cs typeface="Courier New" pitchFamily="34" charset="-120"/>
              </a:rPr>
              <a:t>Use st_intersects() </a:t>
            </a:r>
            <a:r>
              <a:rPr lang="en-US" sz="1400" dirty="0">
                <a:solidFill>
                  <a:srgbClr val="424242"/>
                </a:solidFill>
                <a:latin typeface="Calibri" pitchFamily="34" charset="0"/>
                <a:ea typeface="Calibri" pitchFamily="34" charset="-122"/>
                <a:cs typeface="Calibri" pitchFamily="34" charset="-120"/>
              </a:rPr>
              <a:t>to count points falling inside each district polygon.</a:t>
            </a:r>
            <a:endParaRPr lang="en-US" sz="1400" dirty="0"/>
          </a:p>
          <a:p>
            <a:pPr marL="0" indent="0">
              <a:buNone/>
            </a:pPr>
            <a:endParaRPr lang="en-US" sz="1400" dirty="0"/>
          </a:p>
          <a:p>
            <a:pPr marL="0" indent="0">
              <a:buNone/>
            </a:pPr>
            <a:r>
              <a:rPr lang="en-US" sz="1400" dirty="0">
                <a:solidFill>
                  <a:srgbClr val="424242"/>
                </a:solidFill>
                <a:latin typeface="Calibri" pitchFamily="34" charset="0"/>
                <a:ea typeface="Calibri" pitchFamily="34" charset="-122"/>
                <a:cs typeface="Calibri" pitchFamily="34" charset="-120"/>
              </a:rPr>
              <a:t>Shade each polygon by its count — a </a:t>
            </a:r>
            <a:r>
              <a:rPr lang="en-US" sz="1400" b="1" dirty="0">
                <a:solidFill>
                  <a:srgbClr val="E64626"/>
                </a:solidFill>
                <a:latin typeface="Calibri" pitchFamily="34" charset="0"/>
                <a:ea typeface="Calibri" pitchFamily="34" charset="-122"/>
                <a:cs typeface="Calibri" pitchFamily="34" charset="-120"/>
              </a:rPr>
              <a:t>choropleth map</a:t>
            </a:r>
            <a:r>
              <a:rPr lang="en-US" sz="1400" dirty="0">
                <a:solidFill>
                  <a:srgbClr val="424242"/>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5212080" y="1417320"/>
            <a:ext cx="594360" cy="594360"/>
          </a:xfrm>
          <a:prstGeom prst="rect">
            <a:avLst/>
          </a:prstGeom>
          <a:solidFill>
            <a:srgbClr val="E8B2AC"/>
          </a:solidFill>
          <a:ln w="12700">
            <a:solidFill>
              <a:srgbClr val="FFFFFF"/>
            </a:solidFill>
            <a:prstDash val="solid"/>
          </a:ln>
        </p:spPr>
        <p:txBody>
          <a:bodyPr/>
          <a:lstStyle/>
          <a:p>
            <a:endParaRPr lang="en-AU"/>
          </a:p>
        </p:txBody>
      </p:sp>
      <p:sp>
        <p:nvSpPr>
          <p:cNvPr id="8" name="Text 6"/>
          <p:cNvSpPr/>
          <p:nvPr/>
        </p:nvSpPr>
        <p:spPr>
          <a:xfrm>
            <a:off x="5212080" y="141732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3</a:t>
            </a:r>
            <a:endParaRPr lang="en-US" sz="1100" dirty="0"/>
          </a:p>
        </p:txBody>
      </p:sp>
      <p:sp>
        <p:nvSpPr>
          <p:cNvPr id="9" name="Shape 7"/>
          <p:cNvSpPr/>
          <p:nvPr/>
        </p:nvSpPr>
        <p:spPr>
          <a:xfrm>
            <a:off x="5806440" y="1417320"/>
            <a:ext cx="594360" cy="594360"/>
          </a:xfrm>
          <a:prstGeom prst="rect">
            <a:avLst/>
          </a:prstGeom>
          <a:solidFill>
            <a:srgbClr val="F7D6CD"/>
          </a:solidFill>
          <a:ln w="12700">
            <a:solidFill>
              <a:srgbClr val="FFFFFF"/>
            </a:solidFill>
            <a:prstDash val="solid"/>
          </a:ln>
        </p:spPr>
        <p:txBody>
          <a:bodyPr/>
          <a:lstStyle/>
          <a:p>
            <a:endParaRPr lang="en-AU"/>
          </a:p>
        </p:txBody>
      </p:sp>
      <p:sp>
        <p:nvSpPr>
          <p:cNvPr id="10" name="Text 8"/>
          <p:cNvSpPr/>
          <p:nvPr/>
        </p:nvSpPr>
        <p:spPr>
          <a:xfrm>
            <a:off x="5806440" y="141732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1</a:t>
            </a:r>
            <a:endParaRPr lang="en-US" sz="1100" dirty="0"/>
          </a:p>
        </p:txBody>
      </p:sp>
      <p:sp>
        <p:nvSpPr>
          <p:cNvPr id="11" name="Shape 9"/>
          <p:cNvSpPr/>
          <p:nvPr/>
        </p:nvSpPr>
        <p:spPr>
          <a:xfrm>
            <a:off x="6400800" y="1417320"/>
            <a:ext cx="594360" cy="594360"/>
          </a:xfrm>
          <a:prstGeom prst="rect">
            <a:avLst/>
          </a:prstGeom>
          <a:solidFill>
            <a:srgbClr val="FEE8DE"/>
          </a:solidFill>
          <a:ln w="12700">
            <a:solidFill>
              <a:srgbClr val="FFFFFF"/>
            </a:solidFill>
            <a:prstDash val="solid"/>
          </a:ln>
        </p:spPr>
        <p:txBody>
          <a:bodyPr/>
          <a:lstStyle/>
          <a:p>
            <a:endParaRPr lang="en-AU"/>
          </a:p>
        </p:txBody>
      </p:sp>
      <p:sp>
        <p:nvSpPr>
          <p:cNvPr id="12" name="Text 10"/>
          <p:cNvSpPr/>
          <p:nvPr/>
        </p:nvSpPr>
        <p:spPr>
          <a:xfrm>
            <a:off x="6400800" y="141732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0</a:t>
            </a:r>
            <a:endParaRPr lang="en-US" sz="1100" dirty="0"/>
          </a:p>
        </p:txBody>
      </p:sp>
      <p:sp>
        <p:nvSpPr>
          <p:cNvPr id="13" name="Shape 11"/>
          <p:cNvSpPr/>
          <p:nvPr/>
        </p:nvSpPr>
        <p:spPr>
          <a:xfrm>
            <a:off x="5212080" y="2011680"/>
            <a:ext cx="594360" cy="594360"/>
          </a:xfrm>
          <a:prstGeom prst="rect">
            <a:avLst/>
          </a:prstGeom>
          <a:solidFill>
            <a:srgbClr val="D98E8A"/>
          </a:solidFill>
          <a:ln w="12700">
            <a:solidFill>
              <a:srgbClr val="FFFFFF"/>
            </a:solidFill>
            <a:prstDash val="solid"/>
          </a:ln>
        </p:spPr>
        <p:txBody>
          <a:bodyPr/>
          <a:lstStyle/>
          <a:p>
            <a:endParaRPr lang="en-AU"/>
          </a:p>
        </p:txBody>
      </p:sp>
      <p:sp>
        <p:nvSpPr>
          <p:cNvPr id="14" name="Text 12"/>
          <p:cNvSpPr/>
          <p:nvPr/>
        </p:nvSpPr>
        <p:spPr>
          <a:xfrm>
            <a:off x="5212080" y="201168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5" name="Shape 13"/>
          <p:cNvSpPr/>
          <p:nvPr/>
        </p:nvSpPr>
        <p:spPr>
          <a:xfrm>
            <a:off x="5806440" y="2011680"/>
            <a:ext cx="594360" cy="594360"/>
          </a:xfrm>
          <a:prstGeom prst="rect">
            <a:avLst/>
          </a:prstGeom>
          <a:solidFill>
            <a:srgbClr val="EFC4BD"/>
          </a:solidFill>
          <a:ln w="12700">
            <a:solidFill>
              <a:srgbClr val="FFFFFF"/>
            </a:solidFill>
            <a:prstDash val="solid"/>
          </a:ln>
        </p:spPr>
        <p:txBody>
          <a:bodyPr/>
          <a:lstStyle/>
          <a:p>
            <a:endParaRPr lang="en-AU"/>
          </a:p>
        </p:txBody>
      </p:sp>
      <p:sp>
        <p:nvSpPr>
          <p:cNvPr id="16" name="Text 14"/>
          <p:cNvSpPr/>
          <p:nvPr/>
        </p:nvSpPr>
        <p:spPr>
          <a:xfrm>
            <a:off x="5806440" y="201168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2</a:t>
            </a:r>
            <a:endParaRPr lang="en-US" sz="1100" dirty="0"/>
          </a:p>
        </p:txBody>
      </p:sp>
      <p:sp>
        <p:nvSpPr>
          <p:cNvPr id="17" name="Shape 15"/>
          <p:cNvSpPr/>
          <p:nvPr/>
        </p:nvSpPr>
        <p:spPr>
          <a:xfrm>
            <a:off x="6400800" y="2011680"/>
            <a:ext cx="594360" cy="594360"/>
          </a:xfrm>
          <a:prstGeom prst="rect">
            <a:avLst/>
          </a:prstGeom>
          <a:solidFill>
            <a:srgbClr val="FEE8DE"/>
          </a:solidFill>
          <a:ln w="12700">
            <a:solidFill>
              <a:srgbClr val="FFFFFF"/>
            </a:solidFill>
            <a:prstDash val="solid"/>
          </a:ln>
        </p:spPr>
        <p:txBody>
          <a:bodyPr/>
          <a:lstStyle/>
          <a:p>
            <a:endParaRPr lang="en-AU"/>
          </a:p>
        </p:txBody>
      </p:sp>
      <p:sp>
        <p:nvSpPr>
          <p:cNvPr id="18" name="Text 16"/>
          <p:cNvSpPr/>
          <p:nvPr/>
        </p:nvSpPr>
        <p:spPr>
          <a:xfrm>
            <a:off x="6400800" y="201168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0</a:t>
            </a:r>
            <a:endParaRPr lang="en-US" sz="1100" dirty="0"/>
          </a:p>
        </p:txBody>
      </p:sp>
      <p:sp>
        <p:nvSpPr>
          <p:cNvPr id="19" name="Shape 17"/>
          <p:cNvSpPr/>
          <p:nvPr/>
        </p:nvSpPr>
        <p:spPr>
          <a:xfrm>
            <a:off x="5212080" y="2606040"/>
            <a:ext cx="594360" cy="594360"/>
          </a:xfrm>
          <a:prstGeom prst="rect">
            <a:avLst/>
          </a:prstGeom>
          <a:solidFill>
            <a:srgbClr val="C35758"/>
          </a:solidFill>
          <a:ln w="12700">
            <a:solidFill>
              <a:srgbClr val="FFFFFF"/>
            </a:solidFill>
            <a:prstDash val="solid"/>
          </a:ln>
        </p:spPr>
        <p:txBody>
          <a:bodyPr/>
          <a:lstStyle/>
          <a:p>
            <a:endParaRPr lang="en-AU"/>
          </a:p>
        </p:txBody>
      </p:sp>
      <p:sp>
        <p:nvSpPr>
          <p:cNvPr id="20" name="Text 18"/>
          <p:cNvSpPr/>
          <p:nvPr/>
        </p:nvSpPr>
        <p:spPr>
          <a:xfrm>
            <a:off x="5212080" y="260604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1" name="Shape 19"/>
          <p:cNvSpPr/>
          <p:nvPr/>
        </p:nvSpPr>
        <p:spPr>
          <a:xfrm>
            <a:off x="5806440" y="2606040"/>
            <a:ext cx="594360" cy="594360"/>
          </a:xfrm>
          <a:prstGeom prst="rect">
            <a:avLst/>
          </a:prstGeom>
          <a:solidFill>
            <a:srgbClr val="E0A09B"/>
          </a:solidFill>
          <a:ln w="12700">
            <a:solidFill>
              <a:srgbClr val="FFFFFF"/>
            </a:solidFill>
            <a:prstDash val="solid"/>
          </a:ln>
        </p:spPr>
        <p:txBody>
          <a:bodyPr/>
          <a:lstStyle/>
          <a:p>
            <a:endParaRPr lang="en-AU"/>
          </a:p>
        </p:txBody>
      </p:sp>
      <p:sp>
        <p:nvSpPr>
          <p:cNvPr id="22" name="Text 20"/>
          <p:cNvSpPr/>
          <p:nvPr/>
        </p:nvSpPr>
        <p:spPr>
          <a:xfrm>
            <a:off x="5806440" y="260604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6400800" y="2606040"/>
            <a:ext cx="594360" cy="594360"/>
          </a:xfrm>
          <a:prstGeom prst="rect">
            <a:avLst/>
          </a:prstGeom>
          <a:solidFill>
            <a:srgbClr val="F7D6CD"/>
          </a:solidFill>
          <a:ln w="12700">
            <a:solidFill>
              <a:srgbClr val="FFFFFF"/>
            </a:solidFill>
            <a:prstDash val="solid"/>
          </a:ln>
        </p:spPr>
        <p:txBody>
          <a:bodyPr/>
          <a:lstStyle/>
          <a:p>
            <a:endParaRPr lang="en-AU"/>
          </a:p>
        </p:txBody>
      </p:sp>
      <p:sp>
        <p:nvSpPr>
          <p:cNvPr id="24" name="Text 22"/>
          <p:cNvSpPr/>
          <p:nvPr/>
        </p:nvSpPr>
        <p:spPr>
          <a:xfrm>
            <a:off x="6400800" y="260604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1</a:t>
            </a:r>
            <a:endParaRPr lang="en-US" sz="1100" dirty="0"/>
          </a:p>
        </p:txBody>
      </p:sp>
      <p:sp>
        <p:nvSpPr>
          <p:cNvPr id="25" name="Shape 23"/>
          <p:cNvSpPr/>
          <p:nvPr/>
        </p:nvSpPr>
        <p:spPr>
          <a:xfrm>
            <a:off x="5212080" y="3200400"/>
            <a:ext cx="594360" cy="594360"/>
          </a:xfrm>
          <a:prstGeom prst="rect">
            <a:avLst/>
          </a:prstGeom>
          <a:solidFill>
            <a:srgbClr val="A50F15"/>
          </a:solidFill>
          <a:ln w="12700">
            <a:solidFill>
              <a:srgbClr val="FFFFFF"/>
            </a:solidFill>
            <a:prstDash val="solid"/>
          </a:ln>
        </p:spPr>
        <p:txBody>
          <a:bodyPr/>
          <a:lstStyle/>
          <a:p>
            <a:endParaRPr lang="en-AU"/>
          </a:p>
        </p:txBody>
      </p:sp>
      <p:sp>
        <p:nvSpPr>
          <p:cNvPr id="26" name="Text 24"/>
          <p:cNvSpPr/>
          <p:nvPr/>
        </p:nvSpPr>
        <p:spPr>
          <a:xfrm>
            <a:off x="5212080" y="320040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27" name="Shape 25"/>
          <p:cNvSpPr/>
          <p:nvPr/>
        </p:nvSpPr>
        <p:spPr>
          <a:xfrm>
            <a:off x="5806440" y="3200400"/>
            <a:ext cx="594360" cy="594360"/>
          </a:xfrm>
          <a:prstGeom prst="rect">
            <a:avLst/>
          </a:prstGeom>
          <a:solidFill>
            <a:srgbClr val="D27C7A"/>
          </a:solidFill>
          <a:ln w="12700">
            <a:solidFill>
              <a:srgbClr val="FFFFFF"/>
            </a:solidFill>
            <a:prstDash val="solid"/>
          </a:ln>
        </p:spPr>
        <p:txBody>
          <a:bodyPr/>
          <a:lstStyle/>
          <a:p>
            <a:endParaRPr lang="en-AU"/>
          </a:p>
        </p:txBody>
      </p:sp>
      <p:sp>
        <p:nvSpPr>
          <p:cNvPr id="28" name="Text 26"/>
          <p:cNvSpPr/>
          <p:nvPr/>
        </p:nvSpPr>
        <p:spPr>
          <a:xfrm>
            <a:off x="5806440" y="320040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Shape 27"/>
          <p:cNvSpPr/>
          <p:nvPr/>
        </p:nvSpPr>
        <p:spPr>
          <a:xfrm>
            <a:off x="6400800" y="3200400"/>
            <a:ext cx="594360" cy="594360"/>
          </a:xfrm>
          <a:prstGeom prst="rect">
            <a:avLst/>
          </a:prstGeom>
          <a:solidFill>
            <a:srgbClr val="EFC4BD"/>
          </a:solidFill>
          <a:ln w="12700">
            <a:solidFill>
              <a:srgbClr val="FFFFFF"/>
            </a:solidFill>
            <a:prstDash val="solid"/>
          </a:ln>
        </p:spPr>
        <p:txBody>
          <a:bodyPr/>
          <a:lstStyle/>
          <a:p>
            <a:endParaRPr lang="en-AU"/>
          </a:p>
        </p:txBody>
      </p:sp>
      <p:sp>
        <p:nvSpPr>
          <p:cNvPr id="30" name="Text 28"/>
          <p:cNvSpPr/>
          <p:nvPr/>
        </p:nvSpPr>
        <p:spPr>
          <a:xfrm>
            <a:off x="6400800" y="3200400"/>
            <a:ext cx="594360" cy="594360"/>
          </a:xfrm>
          <a:prstGeom prst="rect">
            <a:avLst/>
          </a:prstGeom>
          <a:noFill/>
          <a:ln/>
        </p:spPr>
        <p:txBody>
          <a:bodyPr wrap="square" lIns="0" tIns="0" rIns="0" bIns="0"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4846320" y="3886200"/>
            <a:ext cx="2514600" cy="27432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(stylised) outbreak counts per district</a:t>
            </a:r>
            <a:endParaRPr lang="en-US" sz="1100" dirty="0"/>
          </a:p>
        </p:txBody>
      </p:sp>
      <p:sp>
        <p:nvSpPr>
          <p:cNvPr id="32" name="Text 30"/>
          <p:cNvSpPr/>
          <p:nvPr/>
        </p:nvSpPr>
        <p:spPr>
          <a:xfrm>
            <a:off x="457200" y="4617720"/>
            <a:ext cx="8229600" cy="36576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ea typeface="Calibri" pitchFamily="34" charset="-122"/>
                <a:cs typeface="Calibri" pitchFamily="34" charset="-120"/>
              </a:rPr>
              <a:t>A zero is not the same as no disease — it might simply mean no surveillance.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Is the pattern clustered?</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03</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900" b="1" dirty="0">
                <a:solidFill>
                  <a:srgbClr val="1A355E"/>
                </a:solidFill>
                <a:latin typeface="Cambria" pitchFamily="34" charset="0"/>
                <a:ea typeface="Cambria" pitchFamily="34" charset="-122"/>
                <a:cs typeface="Cambria" pitchFamily="34" charset="-120"/>
              </a:rPr>
              <a:t>Moran's I formalises what the eye suspects.</a:t>
            </a:r>
            <a:endParaRPr lang="en-US" sz="1900" dirty="0"/>
          </a:p>
        </p:txBody>
      </p:sp>
      <p:sp>
        <p:nvSpPr>
          <p:cNvPr id="6" name="Text 4"/>
          <p:cNvSpPr/>
          <p:nvPr/>
        </p:nvSpPr>
        <p:spPr>
          <a:xfrm>
            <a:off x="457200" y="3246120"/>
            <a:ext cx="4206240" cy="1463040"/>
          </a:xfrm>
          <a:prstGeom prst="rect">
            <a:avLst/>
          </a:prstGeom>
          <a:noFill/>
          <a:ln/>
        </p:spPr>
        <p:txBody>
          <a:bodyPr wrap="square" rtlCol="0" anchor="t"/>
          <a:lstStyle/>
          <a:p>
            <a:pPr marL="0" indent="0">
              <a:spcAft>
                <a:spcPts val="300"/>
              </a:spcAft>
              <a:buNone/>
            </a:pPr>
            <a:r>
              <a:rPr lang="en-US" sz="1300" b="1" dirty="0">
                <a:solidFill>
                  <a:srgbClr val="71A499"/>
                </a:solidFill>
                <a:latin typeface="Calibri" pitchFamily="34" charset="0"/>
                <a:ea typeface="Calibri" pitchFamily="34" charset="-122"/>
                <a:cs typeface="Calibri" pitchFamily="34" charset="-120"/>
              </a:rPr>
              <a:t>Tobler's first law:</a:t>
            </a:r>
            <a:endParaRPr lang="en-US" sz="1300" dirty="0"/>
          </a:p>
          <a:p>
            <a:pPr marL="0" indent="0">
              <a:spcAft>
                <a:spcPts val="300"/>
              </a:spcAft>
              <a:buNone/>
            </a:pPr>
            <a:r>
              <a:rPr lang="en-US" sz="1300" i="1" dirty="0">
                <a:solidFill>
                  <a:srgbClr val="424242"/>
                </a:solidFill>
                <a:latin typeface="Calibri" pitchFamily="34" charset="0"/>
                <a:ea typeface="Calibri" pitchFamily="34" charset="-122"/>
                <a:cs typeface="Calibri" pitchFamily="34" charset="-120"/>
              </a:rPr>
              <a:t>everything is related, but near things more so.</a:t>
            </a:r>
            <a:endParaRPr lang="en-US" sz="1300" dirty="0"/>
          </a:p>
          <a:p>
            <a:pPr marL="0" indent="0">
              <a:spcAft>
                <a:spcPts val="300"/>
              </a:spcAft>
              <a:buNone/>
            </a:pPr>
            <a:endParaRPr lang="en-US" sz="1300" dirty="0"/>
          </a:p>
          <a:p>
            <a:pPr marL="0" indent="0">
              <a:spcAft>
                <a:spcPts val="300"/>
              </a:spcAft>
              <a:buNone/>
            </a:pPr>
            <a:r>
              <a:rPr lang="en-US" sz="1300" dirty="0">
                <a:solidFill>
                  <a:srgbClr val="424242"/>
                </a:solidFill>
                <a:latin typeface="Calibri" pitchFamily="34" charset="0"/>
                <a:ea typeface="Calibri" pitchFamily="34" charset="-122"/>
                <a:cs typeface="Calibri" pitchFamily="34" charset="-120"/>
              </a:rPr>
              <a:t>Moran's I asks: are nearby districts' counts more similar than chance would predict?</a:t>
            </a:r>
            <a:endParaRPr lang="en-US" sz="1300" dirty="0"/>
          </a:p>
        </p:txBody>
      </p:sp>
      <p:sp>
        <p:nvSpPr>
          <p:cNvPr id="7" name="Shape 5"/>
          <p:cNvSpPr/>
          <p:nvPr/>
        </p:nvSpPr>
        <p:spPr>
          <a:xfrm>
            <a:off x="4937760" y="1188720"/>
            <a:ext cx="374904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166360" y="1417320"/>
            <a:ext cx="3291840" cy="320040"/>
          </a:xfrm>
          <a:prstGeom prst="rect">
            <a:avLst/>
          </a:prstGeom>
          <a:noFill/>
          <a:ln/>
        </p:spPr>
        <p:txBody>
          <a:bodyPr wrap="square" rtlCol="0" anchor="ctr"/>
          <a:lstStyle/>
          <a:p>
            <a:pPr marL="0" indent="0">
              <a:buNone/>
            </a:pPr>
            <a:r>
              <a:rPr lang="en-US" sz="1100" b="1" kern="0" spc="300" dirty="0">
                <a:solidFill>
                  <a:srgbClr val="71A499"/>
                </a:solidFill>
                <a:latin typeface="Calibri" pitchFamily="34" charset="0"/>
                <a:ea typeface="Calibri" pitchFamily="34" charset="-122"/>
                <a:cs typeface="Calibri" pitchFamily="34" charset="-120"/>
              </a:rPr>
              <a:t>INTERPRETING MORAN'S I</a:t>
            </a:r>
            <a:endParaRPr lang="en-US" sz="1100" dirty="0"/>
          </a:p>
        </p:txBody>
      </p:sp>
      <p:sp>
        <p:nvSpPr>
          <p:cNvPr id="9" name="Text 7"/>
          <p:cNvSpPr/>
          <p:nvPr/>
        </p:nvSpPr>
        <p:spPr>
          <a:xfrm>
            <a:off x="5166360" y="1920240"/>
            <a:ext cx="731520" cy="365760"/>
          </a:xfrm>
          <a:prstGeom prst="rect">
            <a:avLst/>
          </a:prstGeom>
          <a:noFill/>
          <a:ln/>
        </p:spPr>
        <p:txBody>
          <a:bodyPr wrap="square" rtlCol="0" anchor="ctr"/>
          <a:lstStyle/>
          <a:p>
            <a:pPr marL="0" indent="0">
              <a:buNone/>
            </a:pPr>
            <a:r>
              <a:rPr lang="en-US" sz="1400" b="1" dirty="0">
                <a:solidFill>
                  <a:srgbClr val="E64626"/>
                </a:solidFill>
                <a:latin typeface="Courier New" pitchFamily="34" charset="0"/>
                <a:ea typeface="Courier New" pitchFamily="34" charset="-122"/>
                <a:cs typeface="Courier New" pitchFamily="34" charset="-120"/>
              </a:rPr>
              <a:t>I &gt; 0</a:t>
            </a:r>
            <a:endParaRPr lang="en-US" sz="1400" dirty="0"/>
          </a:p>
        </p:txBody>
      </p:sp>
      <p:sp>
        <p:nvSpPr>
          <p:cNvPr id="10" name="Text 8"/>
          <p:cNvSpPr/>
          <p:nvPr/>
        </p:nvSpPr>
        <p:spPr>
          <a:xfrm>
            <a:off x="5943600" y="1920240"/>
            <a:ext cx="1280160" cy="365760"/>
          </a:xfrm>
          <a:prstGeom prst="rect">
            <a:avLst/>
          </a:prstGeom>
          <a:noFill/>
          <a:ln/>
        </p:spPr>
        <p:txBody>
          <a:bodyPr wrap="square" rtlCol="0" anchor="ctr"/>
          <a:lstStyle/>
          <a:p>
            <a:pPr marL="0" indent="0">
              <a:buNone/>
            </a:pPr>
            <a:r>
              <a:rPr lang="en-US" sz="1400" b="1" dirty="0">
                <a:solidFill>
                  <a:srgbClr val="1A355E"/>
                </a:solidFill>
                <a:latin typeface="Calibri" pitchFamily="34" charset="0"/>
                <a:ea typeface="Calibri" pitchFamily="34" charset="-122"/>
                <a:cs typeface="Calibri" pitchFamily="34" charset="-120"/>
              </a:rPr>
              <a:t>Clustered</a:t>
            </a:r>
            <a:endParaRPr lang="en-US" sz="1400" dirty="0"/>
          </a:p>
        </p:txBody>
      </p:sp>
      <p:sp>
        <p:nvSpPr>
          <p:cNvPr id="11" name="Text 9"/>
          <p:cNvSpPr/>
          <p:nvPr/>
        </p:nvSpPr>
        <p:spPr>
          <a:xfrm>
            <a:off x="5166360" y="2286000"/>
            <a:ext cx="329184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high counts near high, low near low</a:t>
            </a:r>
            <a:endParaRPr lang="en-US" sz="1100" dirty="0"/>
          </a:p>
        </p:txBody>
      </p:sp>
      <p:sp>
        <p:nvSpPr>
          <p:cNvPr id="12" name="Text 10"/>
          <p:cNvSpPr/>
          <p:nvPr/>
        </p:nvSpPr>
        <p:spPr>
          <a:xfrm>
            <a:off x="5166360" y="2788920"/>
            <a:ext cx="731520" cy="365760"/>
          </a:xfrm>
          <a:prstGeom prst="rect">
            <a:avLst/>
          </a:prstGeom>
          <a:noFill/>
          <a:ln/>
        </p:spPr>
        <p:txBody>
          <a:bodyPr wrap="square" rtlCol="0" anchor="ctr"/>
          <a:lstStyle/>
          <a:p>
            <a:pPr marL="0" indent="0">
              <a:buNone/>
            </a:pPr>
            <a:r>
              <a:rPr lang="en-US" sz="1400" b="1" dirty="0">
                <a:solidFill>
                  <a:srgbClr val="6B7280"/>
                </a:solidFill>
                <a:latin typeface="Courier New" pitchFamily="34" charset="0"/>
                <a:ea typeface="Courier New" pitchFamily="34" charset="-122"/>
                <a:cs typeface="Courier New" pitchFamily="34" charset="-120"/>
              </a:rPr>
              <a:t>I ≈ 0</a:t>
            </a:r>
            <a:endParaRPr lang="en-US" sz="1400" dirty="0"/>
          </a:p>
        </p:txBody>
      </p:sp>
      <p:sp>
        <p:nvSpPr>
          <p:cNvPr id="13" name="Text 11"/>
          <p:cNvSpPr/>
          <p:nvPr/>
        </p:nvSpPr>
        <p:spPr>
          <a:xfrm>
            <a:off x="5943600" y="2788920"/>
            <a:ext cx="1280160" cy="365760"/>
          </a:xfrm>
          <a:prstGeom prst="rect">
            <a:avLst/>
          </a:prstGeom>
          <a:noFill/>
          <a:ln/>
        </p:spPr>
        <p:txBody>
          <a:bodyPr wrap="square" rtlCol="0" anchor="ctr"/>
          <a:lstStyle/>
          <a:p>
            <a:pPr marL="0" indent="0">
              <a:buNone/>
            </a:pPr>
            <a:r>
              <a:rPr lang="en-US" sz="1400" b="1" dirty="0">
                <a:solidFill>
                  <a:srgbClr val="1A355E"/>
                </a:solidFill>
                <a:latin typeface="Calibri" pitchFamily="34" charset="0"/>
                <a:ea typeface="Calibri" pitchFamily="34" charset="-122"/>
                <a:cs typeface="Calibri" pitchFamily="34" charset="-120"/>
              </a:rPr>
              <a:t>Random</a:t>
            </a:r>
            <a:endParaRPr lang="en-US" sz="1400" dirty="0"/>
          </a:p>
        </p:txBody>
      </p:sp>
      <p:sp>
        <p:nvSpPr>
          <p:cNvPr id="14" name="Text 12"/>
          <p:cNvSpPr/>
          <p:nvPr/>
        </p:nvSpPr>
        <p:spPr>
          <a:xfrm>
            <a:off x="5166360" y="3154680"/>
            <a:ext cx="329184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no spatial signal</a:t>
            </a:r>
            <a:endParaRPr lang="en-US" sz="1100" dirty="0"/>
          </a:p>
        </p:txBody>
      </p:sp>
      <p:sp>
        <p:nvSpPr>
          <p:cNvPr id="15" name="Text 13"/>
          <p:cNvSpPr/>
          <p:nvPr/>
        </p:nvSpPr>
        <p:spPr>
          <a:xfrm>
            <a:off x="5166360" y="3657600"/>
            <a:ext cx="731520" cy="365760"/>
          </a:xfrm>
          <a:prstGeom prst="rect">
            <a:avLst/>
          </a:prstGeom>
          <a:noFill/>
          <a:ln/>
        </p:spPr>
        <p:txBody>
          <a:bodyPr wrap="square" rtlCol="0" anchor="ctr"/>
          <a:lstStyle/>
          <a:p>
            <a:pPr marL="0" indent="0">
              <a:buNone/>
            </a:pPr>
            <a:r>
              <a:rPr lang="en-US" sz="1400" b="1" dirty="0">
                <a:solidFill>
                  <a:srgbClr val="71A499"/>
                </a:solidFill>
                <a:latin typeface="Courier New" pitchFamily="34" charset="0"/>
                <a:ea typeface="Courier New" pitchFamily="34" charset="-122"/>
                <a:cs typeface="Courier New" pitchFamily="34" charset="-120"/>
              </a:rPr>
              <a:t>I &lt; 0</a:t>
            </a:r>
            <a:endParaRPr lang="en-US" sz="1400" dirty="0"/>
          </a:p>
        </p:txBody>
      </p:sp>
      <p:sp>
        <p:nvSpPr>
          <p:cNvPr id="16" name="Text 14"/>
          <p:cNvSpPr/>
          <p:nvPr/>
        </p:nvSpPr>
        <p:spPr>
          <a:xfrm>
            <a:off x="5943600" y="3657600"/>
            <a:ext cx="1280160" cy="365760"/>
          </a:xfrm>
          <a:prstGeom prst="rect">
            <a:avLst/>
          </a:prstGeom>
          <a:noFill/>
          <a:ln/>
        </p:spPr>
        <p:txBody>
          <a:bodyPr wrap="square" rtlCol="0" anchor="ctr"/>
          <a:lstStyle/>
          <a:p>
            <a:pPr marL="0" indent="0">
              <a:buNone/>
            </a:pPr>
            <a:r>
              <a:rPr lang="en-US" sz="1400" b="1" dirty="0">
                <a:solidFill>
                  <a:srgbClr val="1A355E"/>
                </a:solidFill>
                <a:latin typeface="Calibri" pitchFamily="34" charset="0"/>
                <a:ea typeface="Calibri" pitchFamily="34" charset="-122"/>
                <a:cs typeface="Calibri" pitchFamily="34" charset="-120"/>
              </a:rPr>
              <a:t>Dispersed</a:t>
            </a:r>
            <a:endParaRPr lang="en-US" sz="1400" dirty="0"/>
          </a:p>
        </p:txBody>
      </p:sp>
      <p:sp>
        <p:nvSpPr>
          <p:cNvPr id="17" name="Text 15"/>
          <p:cNvSpPr/>
          <p:nvPr/>
        </p:nvSpPr>
        <p:spPr>
          <a:xfrm>
            <a:off x="5166360" y="4023360"/>
            <a:ext cx="329184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regular, checkerboard-like</a:t>
            </a:r>
            <a:endParaRPr lang="en-US" sz="1100" dirty="0"/>
          </a:p>
        </p:txBody>
      </p:sp>
      <p:sp>
        <p:nvSpPr>
          <p:cNvPr id="18" name="Text 16"/>
          <p:cNvSpPr/>
          <p:nvPr/>
        </p:nvSpPr>
        <p:spPr>
          <a:xfrm>
            <a:off x="5166360" y="4434840"/>
            <a:ext cx="3291840" cy="274320"/>
          </a:xfrm>
          <a:prstGeom prst="rect">
            <a:avLst/>
          </a:prstGeom>
          <a:noFill/>
          <a:ln/>
        </p:spPr>
        <p:txBody>
          <a:bodyPr wrap="square" rtlCol="0" anchor="t"/>
          <a:lstStyle/>
          <a:p>
            <a:pPr marL="0" indent="0">
              <a:buNone/>
            </a:pPr>
            <a:r>
              <a:rPr lang="en-US" sz="1100" i="1" dirty="0">
                <a:solidFill>
                  <a:srgbClr val="E64626"/>
                </a:solidFill>
                <a:latin typeface="Calibri" pitchFamily="34" charset="0"/>
                <a:ea typeface="Calibri" pitchFamily="34" charset="-122"/>
                <a:cs typeface="Calibri" pitchFamily="34" charset="-120"/>
              </a:rPr>
              <a:t>A small P-value tells you the pattern is unlikely to be a coincidence.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When have outbreaks occurred?</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04</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900" b="1" dirty="0">
                <a:solidFill>
                  <a:srgbClr val="1A355E"/>
                </a:solidFill>
                <a:latin typeface="Cambria" pitchFamily="34" charset="0"/>
                <a:ea typeface="Cambria" pitchFamily="34" charset="-122"/>
                <a:cs typeface="Cambria" pitchFamily="34" charset="-120"/>
              </a:rPr>
              <a:t>Aggregate events to counts per time unit.</a:t>
            </a:r>
            <a:endParaRPr lang="en-US" sz="1900" dirty="0"/>
          </a:p>
        </p:txBody>
      </p:sp>
      <p:sp>
        <p:nvSpPr>
          <p:cNvPr id="6" name="Text 4"/>
          <p:cNvSpPr/>
          <p:nvPr/>
        </p:nvSpPr>
        <p:spPr>
          <a:xfrm>
            <a:off x="457200" y="3246120"/>
            <a:ext cx="4206240" cy="1554480"/>
          </a:xfrm>
          <a:prstGeom prst="rect">
            <a:avLst/>
          </a:prstGeom>
          <a:noFill/>
          <a:ln/>
        </p:spPr>
        <p:txBody>
          <a:bodyPr wrap="square" rtlCol="0" anchor="ctr"/>
          <a:lstStyle/>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1. </a:t>
            </a:r>
            <a:r>
              <a:rPr lang="en-US" sz="1300" dirty="0">
                <a:solidFill>
                  <a:srgbClr val="424242"/>
                </a:solidFill>
                <a:latin typeface="Calibri" pitchFamily="34" charset="0"/>
                <a:ea typeface="Calibri" pitchFamily="34" charset="-122"/>
                <a:cs typeface="Calibri" pitchFamily="34" charset="-120"/>
              </a:rPr>
              <a:t>Floor each date to its month (or week, or year)</a:t>
            </a:r>
            <a:endParaRPr lang="en-US" sz="1300" dirty="0"/>
          </a:p>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2. </a:t>
            </a:r>
            <a:r>
              <a:rPr lang="en-US" sz="1300" dirty="0">
                <a:solidFill>
                  <a:srgbClr val="424242"/>
                </a:solidFill>
                <a:latin typeface="Calibri" pitchFamily="34" charset="0"/>
                <a:ea typeface="Calibri" pitchFamily="34" charset="-122"/>
                <a:cs typeface="Calibri" pitchFamily="34" charset="-120"/>
              </a:rPr>
              <a:t>Count events/period</a:t>
            </a:r>
            <a:endParaRPr lang="en-US" sz="1300" dirty="0"/>
          </a:p>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3. </a:t>
            </a:r>
            <a:r>
              <a:rPr lang="en-US" sz="1300" dirty="0">
                <a:solidFill>
                  <a:srgbClr val="424242"/>
                </a:solidFill>
                <a:latin typeface="Calibri" pitchFamily="34" charset="0"/>
                <a:ea typeface="Calibri" pitchFamily="34" charset="-122"/>
                <a:cs typeface="Calibri" pitchFamily="34" charset="-120"/>
              </a:rPr>
              <a:t>Re-insert months with </a:t>
            </a:r>
            <a:r>
              <a:rPr lang="en-US" sz="1300" b="1" dirty="0">
                <a:solidFill>
                  <a:srgbClr val="E64626"/>
                </a:solidFill>
                <a:latin typeface="Calibri" pitchFamily="34" charset="0"/>
                <a:ea typeface="Calibri" pitchFamily="34" charset="-122"/>
                <a:cs typeface="Calibri" pitchFamily="34" charset="-120"/>
              </a:rPr>
              <a:t>zero </a:t>
            </a:r>
            <a:r>
              <a:rPr lang="en-US" sz="1300" dirty="0">
                <a:solidFill>
                  <a:srgbClr val="424242"/>
                </a:solidFill>
                <a:latin typeface="Calibri" pitchFamily="34" charset="0"/>
                <a:ea typeface="Calibri" pitchFamily="34" charset="-122"/>
                <a:cs typeface="Calibri" pitchFamily="34" charset="-120"/>
              </a:rPr>
              <a:t>outbreaks</a:t>
            </a:r>
            <a:endParaRPr lang="en-US" sz="1300" dirty="0"/>
          </a:p>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4. </a:t>
            </a:r>
            <a:r>
              <a:rPr lang="en-US" sz="1300" dirty="0">
                <a:solidFill>
                  <a:srgbClr val="424242"/>
                </a:solidFill>
                <a:latin typeface="Calibri" pitchFamily="34" charset="0"/>
                <a:ea typeface="Calibri" pitchFamily="34" charset="-122"/>
                <a:cs typeface="Calibri" pitchFamily="34" charset="-120"/>
              </a:rPr>
              <a:t>Plot as a bar chart — the </a:t>
            </a:r>
            <a:r>
              <a:rPr lang="en-US" sz="1300" b="1" dirty="0">
                <a:solidFill>
                  <a:srgbClr val="E64626"/>
                </a:solidFill>
                <a:latin typeface="Calibri" pitchFamily="34" charset="0"/>
                <a:ea typeface="Calibri" pitchFamily="34" charset="-122"/>
                <a:cs typeface="Calibri" pitchFamily="34" charset="-120"/>
              </a:rPr>
              <a:t>epidemic curve</a:t>
            </a:r>
            <a:endParaRPr lang="en-US" sz="1300" dirty="0"/>
          </a:p>
        </p:txBody>
      </p:sp>
      <p:sp>
        <p:nvSpPr>
          <p:cNvPr id="7" name="Shape 5"/>
          <p:cNvSpPr/>
          <p:nvPr/>
        </p:nvSpPr>
        <p:spPr>
          <a:xfrm>
            <a:off x="5029200" y="1188720"/>
            <a:ext cx="3657600" cy="3520440"/>
          </a:xfrm>
          <a:prstGeom prst="roundRect">
            <a:avLst>
              <a:gd name="adj" fmla="val 207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257800" y="1417320"/>
            <a:ext cx="3200400" cy="320040"/>
          </a:xfrm>
          <a:prstGeom prst="rect">
            <a:avLst/>
          </a:prstGeom>
          <a:noFill/>
          <a:ln/>
        </p:spPr>
        <p:txBody>
          <a:bodyPr wrap="square" rtlCol="0" anchor="ctr"/>
          <a:lstStyle/>
          <a:p>
            <a:pPr marL="0" indent="0">
              <a:buNone/>
            </a:pPr>
            <a:r>
              <a:rPr lang="en-US" sz="1100" b="1" kern="0" spc="300" dirty="0">
                <a:solidFill>
                  <a:srgbClr val="D4A574"/>
                </a:solidFill>
                <a:latin typeface="Calibri" pitchFamily="34" charset="0"/>
                <a:ea typeface="Calibri" pitchFamily="34" charset="-122"/>
                <a:cs typeface="Calibri" pitchFamily="34" charset="-120"/>
              </a:rPr>
              <a:t>THE INVISIBLE-ZERO TRAP</a:t>
            </a:r>
            <a:endParaRPr lang="en-US" sz="1100" dirty="0"/>
          </a:p>
        </p:txBody>
      </p:sp>
      <p:sp>
        <p:nvSpPr>
          <p:cNvPr id="9" name="Text 7"/>
          <p:cNvSpPr/>
          <p:nvPr/>
        </p:nvSpPr>
        <p:spPr>
          <a:xfrm>
            <a:off x="5257800" y="1783080"/>
            <a:ext cx="3200400" cy="54864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count() drops months with no events.</a:t>
            </a:r>
            <a:endParaRPr lang="en-US" sz="1800" dirty="0"/>
          </a:p>
        </p:txBody>
      </p:sp>
      <p:sp>
        <p:nvSpPr>
          <p:cNvPr id="10" name="Text 8"/>
          <p:cNvSpPr/>
          <p:nvPr/>
        </p:nvSpPr>
        <p:spPr>
          <a:xfrm>
            <a:off x="5257800" y="2468880"/>
            <a:ext cx="3200400" cy="2103120"/>
          </a:xfrm>
          <a:prstGeom prst="rect">
            <a:avLst/>
          </a:prstGeom>
          <a:noFill/>
          <a:ln/>
        </p:spPr>
        <p:txBody>
          <a:bodyPr wrap="square" rtlCol="0" anchor="t"/>
          <a:lstStyle/>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Those months were zero — and a naive count() makes them disappear entirely.</a:t>
            </a:r>
            <a:endParaRPr lang="en-US" sz="1300" dirty="0"/>
          </a:p>
          <a:p>
            <a:pPr marL="0" indent="0">
              <a:spcAft>
                <a:spcPts val="400"/>
              </a:spcAft>
              <a:buNone/>
            </a:pPr>
            <a:endParaRPr lang="en-US" sz="1300" dirty="0"/>
          </a:p>
          <a:p>
            <a:pPr marL="0" indent="0">
              <a:spcAft>
                <a:spcPts val="400"/>
              </a:spcAft>
              <a:buNone/>
            </a:pPr>
            <a:r>
              <a:rPr lang="en-US" sz="1300" i="1" dirty="0">
                <a:solidFill>
                  <a:srgbClr val="D4A574"/>
                </a:solidFill>
                <a:latin typeface="Calibri" pitchFamily="34" charset="0"/>
                <a:ea typeface="Calibri" pitchFamily="34" charset="-122"/>
                <a:cs typeface="Calibri" pitchFamily="34" charset="-120"/>
              </a:rPr>
              <a:t>An epi curve that skips zero months looks misleadingly continuous. Always pad the series with the missing months before plotting.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Is there a seasonal pattern?</a:t>
            </a:r>
          </a:p>
        </p:txBody>
      </p:sp>
      <p:sp>
        <p:nvSpPr>
          <p:cNvPr id="3" name="Shape 1"/>
          <p:cNvSpPr/>
          <p:nvPr/>
        </p:nvSpPr>
        <p:spPr>
          <a:xfrm>
            <a:off x="457200" y="914400"/>
            <a:ext cx="8229600" cy="0"/>
          </a:xfrm>
          <a:prstGeom prst="line">
            <a:avLst/>
          </a:prstGeom>
          <a:noFill/>
          <a:ln w="19050">
            <a:solidFill>
              <a:srgbClr val="71A499"/>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05</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800" b="1" dirty="0">
                <a:solidFill>
                  <a:srgbClr val="1A355E"/>
                </a:solidFill>
                <a:latin typeface="Cambria" pitchFamily="34" charset="0"/>
                <a:ea typeface="Cambria" pitchFamily="34" charset="-122"/>
                <a:cs typeface="Cambria" pitchFamily="34" charset="-120"/>
              </a:rPr>
              <a:t>Lump every January together. Then every February. Etc.</a:t>
            </a:r>
            <a:endParaRPr lang="en-US" sz="1800" dirty="0"/>
          </a:p>
        </p:txBody>
      </p:sp>
      <p:sp>
        <p:nvSpPr>
          <p:cNvPr id="6" name="Text 4"/>
          <p:cNvSpPr/>
          <p:nvPr/>
        </p:nvSpPr>
        <p:spPr>
          <a:xfrm>
            <a:off x="457200" y="3291840"/>
            <a:ext cx="4206240" cy="1280160"/>
          </a:xfrm>
          <a:prstGeom prst="rect">
            <a:avLst/>
          </a:prstGeom>
          <a:noFill/>
          <a:ln/>
        </p:spPr>
        <p:txBody>
          <a:bodyPr wrap="square" rtlCol="0" anchor="ctr"/>
          <a:lstStyle/>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1. </a:t>
            </a:r>
            <a:r>
              <a:rPr lang="en-US" sz="1300" dirty="0">
                <a:solidFill>
                  <a:srgbClr val="424242"/>
                </a:solidFill>
                <a:latin typeface="Calibri" pitchFamily="34" charset="0"/>
                <a:ea typeface="Calibri" pitchFamily="34" charset="-122"/>
                <a:cs typeface="Calibri" pitchFamily="34" charset="-120"/>
              </a:rPr>
              <a:t>Re-aggregate by </a:t>
            </a:r>
            <a:r>
              <a:rPr lang="en-US" sz="1300" b="1" dirty="0">
                <a:solidFill>
                  <a:srgbClr val="E64626"/>
                </a:solidFill>
                <a:latin typeface="Calibri" pitchFamily="34" charset="0"/>
                <a:ea typeface="Calibri" pitchFamily="34" charset="-122"/>
                <a:cs typeface="Calibri" pitchFamily="34" charset="-120"/>
              </a:rPr>
              <a:t>month-of-year </a:t>
            </a:r>
            <a:r>
              <a:rPr lang="en-US" sz="1300" dirty="0">
                <a:solidFill>
                  <a:srgbClr val="424242"/>
                </a:solidFill>
                <a:latin typeface="Calibri" pitchFamily="34" charset="0"/>
                <a:ea typeface="Calibri" pitchFamily="34" charset="-122"/>
                <a:cs typeface="Calibri" pitchFamily="34" charset="-120"/>
              </a:rPr>
              <a:t>across all study years</a:t>
            </a:r>
            <a:endParaRPr lang="en-US" sz="1300" dirty="0"/>
          </a:p>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2. </a:t>
            </a:r>
            <a:r>
              <a:rPr lang="en-US" sz="1300" dirty="0">
                <a:solidFill>
                  <a:srgbClr val="424242"/>
                </a:solidFill>
                <a:latin typeface="Calibri" pitchFamily="34" charset="0"/>
                <a:ea typeface="Calibri" pitchFamily="34" charset="-122"/>
                <a:cs typeface="Calibri" pitchFamily="34" charset="-120"/>
              </a:rPr>
              <a:t>Plot a 12-bar chart — the seasonal profile</a:t>
            </a:r>
            <a:endParaRPr lang="en-US" sz="1300" dirty="0"/>
          </a:p>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3. </a:t>
            </a:r>
            <a:r>
              <a:rPr lang="en-US" sz="1300" dirty="0">
                <a:solidFill>
                  <a:srgbClr val="424242"/>
                </a:solidFill>
                <a:latin typeface="Calibri" pitchFamily="34" charset="0"/>
                <a:ea typeface="Calibri" pitchFamily="34" charset="-122"/>
                <a:cs typeface="Calibri" pitchFamily="34" charset="-120"/>
              </a:rPr>
              <a:t>Compare with biology, weather, ecology</a:t>
            </a:r>
            <a:endParaRPr lang="en-US" sz="1300" dirty="0"/>
          </a:p>
        </p:txBody>
      </p:sp>
      <p:sp>
        <p:nvSpPr>
          <p:cNvPr id="7" name="Shape 5"/>
          <p:cNvSpPr/>
          <p:nvPr/>
        </p:nvSpPr>
        <p:spPr>
          <a:xfrm>
            <a:off x="4937760" y="1188720"/>
            <a:ext cx="374904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166360" y="1371600"/>
            <a:ext cx="3291840" cy="320040"/>
          </a:xfrm>
          <a:prstGeom prst="rect">
            <a:avLst/>
          </a:prstGeom>
          <a:noFill/>
          <a:ln/>
        </p:spPr>
        <p:txBody>
          <a:bodyPr wrap="square" rtlCol="0" anchor="ctr"/>
          <a:lstStyle/>
          <a:p>
            <a:pPr marL="0" indent="0">
              <a:buNone/>
            </a:pPr>
            <a:r>
              <a:rPr lang="en-US" sz="1100" b="1" kern="0" spc="300" dirty="0">
                <a:solidFill>
                  <a:srgbClr val="71A499"/>
                </a:solidFill>
                <a:latin typeface="Calibri" pitchFamily="34" charset="0"/>
                <a:ea typeface="Calibri" pitchFamily="34" charset="-122"/>
                <a:cs typeface="Calibri" pitchFamily="34" charset="-120"/>
              </a:rPr>
              <a:t>SEASONAL PROFILE</a:t>
            </a:r>
            <a:endParaRPr lang="en-US" sz="1100" dirty="0"/>
          </a:p>
        </p:txBody>
      </p:sp>
      <p:sp>
        <p:nvSpPr>
          <p:cNvPr id="9" name="Shape 7"/>
          <p:cNvSpPr/>
          <p:nvPr/>
        </p:nvSpPr>
        <p:spPr>
          <a:xfrm>
            <a:off x="5212080" y="2098548"/>
            <a:ext cx="200025" cy="1787652"/>
          </a:xfrm>
          <a:prstGeom prst="rect">
            <a:avLst/>
          </a:prstGeom>
          <a:solidFill>
            <a:srgbClr val="E64626"/>
          </a:solidFill>
          <a:ln w="12700">
            <a:solidFill>
              <a:srgbClr val="E64626"/>
            </a:solidFill>
            <a:prstDash val="solid"/>
          </a:ln>
        </p:spPr>
        <p:txBody>
          <a:bodyPr/>
          <a:lstStyle/>
          <a:p>
            <a:endParaRPr lang="en-AU"/>
          </a:p>
        </p:txBody>
      </p:sp>
      <p:sp>
        <p:nvSpPr>
          <p:cNvPr id="10" name="Text 8"/>
          <p:cNvSpPr/>
          <p:nvPr/>
        </p:nvSpPr>
        <p:spPr>
          <a:xfrm>
            <a:off x="52120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J</a:t>
            </a:r>
            <a:endParaRPr lang="en-US" sz="900" dirty="0"/>
          </a:p>
        </p:txBody>
      </p:sp>
      <p:sp>
        <p:nvSpPr>
          <p:cNvPr id="11" name="Shape 9"/>
          <p:cNvSpPr/>
          <p:nvPr/>
        </p:nvSpPr>
        <p:spPr>
          <a:xfrm>
            <a:off x="5478780" y="1888236"/>
            <a:ext cx="200025" cy="1997964"/>
          </a:xfrm>
          <a:prstGeom prst="rect">
            <a:avLst/>
          </a:prstGeom>
          <a:solidFill>
            <a:srgbClr val="E64626"/>
          </a:solidFill>
          <a:ln w="12700">
            <a:solidFill>
              <a:srgbClr val="E64626"/>
            </a:solidFill>
            <a:prstDash val="solid"/>
          </a:ln>
        </p:spPr>
        <p:txBody>
          <a:bodyPr/>
          <a:lstStyle/>
          <a:p>
            <a:endParaRPr lang="en-AU"/>
          </a:p>
        </p:txBody>
      </p:sp>
      <p:sp>
        <p:nvSpPr>
          <p:cNvPr id="12" name="Text 10"/>
          <p:cNvSpPr/>
          <p:nvPr/>
        </p:nvSpPr>
        <p:spPr>
          <a:xfrm>
            <a:off x="54787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F</a:t>
            </a:r>
            <a:endParaRPr lang="en-US" sz="900" dirty="0"/>
          </a:p>
        </p:txBody>
      </p:sp>
      <p:sp>
        <p:nvSpPr>
          <p:cNvPr id="13" name="Shape 11"/>
          <p:cNvSpPr/>
          <p:nvPr/>
        </p:nvSpPr>
        <p:spPr>
          <a:xfrm>
            <a:off x="5745480" y="2729484"/>
            <a:ext cx="200025" cy="1156716"/>
          </a:xfrm>
          <a:prstGeom prst="rect">
            <a:avLst/>
          </a:prstGeom>
          <a:solidFill>
            <a:srgbClr val="E64626"/>
          </a:solidFill>
          <a:ln w="12700">
            <a:solidFill>
              <a:srgbClr val="E64626"/>
            </a:solidFill>
            <a:prstDash val="solid"/>
          </a:ln>
        </p:spPr>
        <p:txBody>
          <a:bodyPr/>
          <a:lstStyle/>
          <a:p>
            <a:endParaRPr lang="en-AU"/>
          </a:p>
        </p:txBody>
      </p:sp>
      <p:sp>
        <p:nvSpPr>
          <p:cNvPr id="14" name="Text 12"/>
          <p:cNvSpPr/>
          <p:nvPr/>
        </p:nvSpPr>
        <p:spPr>
          <a:xfrm>
            <a:off x="57454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M</a:t>
            </a:r>
            <a:endParaRPr lang="en-US" sz="900" dirty="0"/>
          </a:p>
        </p:txBody>
      </p:sp>
      <p:sp>
        <p:nvSpPr>
          <p:cNvPr id="15" name="Shape 13"/>
          <p:cNvSpPr/>
          <p:nvPr/>
        </p:nvSpPr>
        <p:spPr>
          <a:xfrm>
            <a:off x="6012180" y="3255264"/>
            <a:ext cx="200025" cy="630936"/>
          </a:xfrm>
          <a:prstGeom prst="rect">
            <a:avLst/>
          </a:prstGeom>
          <a:solidFill>
            <a:srgbClr val="E64626"/>
          </a:solidFill>
          <a:ln w="12700">
            <a:solidFill>
              <a:srgbClr val="E64626"/>
            </a:solidFill>
            <a:prstDash val="solid"/>
          </a:ln>
        </p:spPr>
        <p:txBody>
          <a:bodyPr/>
          <a:lstStyle/>
          <a:p>
            <a:endParaRPr lang="en-AU"/>
          </a:p>
        </p:txBody>
      </p:sp>
      <p:sp>
        <p:nvSpPr>
          <p:cNvPr id="16" name="Text 14"/>
          <p:cNvSpPr/>
          <p:nvPr/>
        </p:nvSpPr>
        <p:spPr>
          <a:xfrm>
            <a:off x="60121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A</a:t>
            </a:r>
            <a:endParaRPr lang="en-US" sz="900" dirty="0"/>
          </a:p>
        </p:txBody>
      </p:sp>
      <p:sp>
        <p:nvSpPr>
          <p:cNvPr id="17" name="Shape 15"/>
          <p:cNvSpPr/>
          <p:nvPr/>
        </p:nvSpPr>
        <p:spPr>
          <a:xfrm>
            <a:off x="6278880" y="3570732"/>
            <a:ext cx="200025" cy="315468"/>
          </a:xfrm>
          <a:prstGeom prst="rect">
            <a:avLst/>
          </a:prstGeom>
          <a:solidFill>
            <a:srgbClr val="E64626"/>
          </a:solidFill>
          <a:ln w="12700">
            <a:solidFill>
              <a:srgbClr val="E64626"/>
            </a:solidFill>
            <a:prstDash val="solid"/>
          </a:ln>
        </p:spPr>
        <p:txBody>
          <a:bodyPr/>
          <a:lstStyle/>
          <a:p>
            <a:endParaRPr lang="en-AU"/>
          </a:p>
        </p:txBody>
      </p:sp>
      <p:sp>
        <p:nvSpPr>
          <p:cNvPr id="18" name="Text 16"/>
          <p:cNvSpPr/>
          <p:nvPr/>
        </p:nvSpPr>
        <p:spPr>
          <a:xfrm>
            <a:off x="62788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M</a:t>
            </a:r>
            <a:endParaRPr lang="en-US" sz="900" dirty="0"/>
          </a:p>
        </p:txBody>
      </p:sp>
      <p:sp>
        <p:nvSpPr>
          <p:cNvPr id="19" name="Shape 17"/>
          <p:cNvSpPr/>
          <p:nvPr/>
        </p:nvSpPr>
        <p:spPr>
          <a:xfrm>
            <a:off x="6545580" y="3675888"/>
            <a:ext cx="200025" cy="210312"/>
          </a:xfrm>
          <a:prstGeom prst="rect">
            <a:avLst/>
          </a:prstGeom>
          <a:solidFill>
            <a:srgbClr val="E64626"/>
          </a:solidFill>
          <a:ln w="12700">
            <a:solidFill>
              <a:srgbClr val="E64626"/>
            </a:solidFill>
            <a:prstDash val="solid"/>
          </a:ln>
        </p:spPr>
        <p:txBody>
          <a:bodyPr/>
          <a:lstStyle/>
          <a:p>
            <a:endParaRPr lang="en-AU"/>
          </a:p>
        </p:txBody>
      </p:sp>
      <p:sp>
        <p:nvSpPr>
          <p:cNvPr id="20" name="Text 18"/>
          <p:cNvSpPr/>
          <p:nvPr/>
        </p:nvSpPr>
        <p:spPr>
          <a:xfrm>
            <a:off x="65455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J</a:t>
            </a:r>
            <a:endParaRPr lang="en-US" sz="900" dirty="0"/>
          </a:p>
        </p:txBody>
      </p:sp>
      <p:sp>
        <p:nvSpPr>
          <p:cNvPr id="21" name="Shape 19"/>
          <p:cNvSpPr/>
          <p:nvPr/>
        </p:nvSpPr>
        <p:spPr>
          <a:xfrm>
            <a:off x="6812280" y="3717950"/>
            <a:ext cx="200025" cy="168250"/>
          </a:xfrm>
          <a:prstGeom prst="rect">
            <a:avLst/>
          </a:prstGeom>
          <a:solidFill>
            <a:srgbClr val="E64626"/>
          </a:solidFill>
          <a:ln w="12700">
            <a:solidFill>
              <a:srgbClr val="E64626"/>
            </a:solidFill>
            <a:prstDash val="solid"/>
          </a:ln>
        </p:spPr>
        <p:txBody>
          <a:bodyPr/>
          <a:lstStyle/>
          <a:p>
            <a:endParaRPr lang="en-AU"/>
          </a:p>
        </p:txBody>
      </p:sp>
      <p:sp>
        <p:nvSpPr>
          <p:cNvPr id="22" name="Text 20"/>
          <p:cNvSpPr/>
          <p:nvPr/>
        </p:nvSpPr>
        <p:spPr>
          <a:xfrm>
            <a:off x="68122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J</a:t>
            </a:r>
            <a:endParaRPr lang="en-US" sz="900" dirty="0"/>
          </a:p>
        </p:txBody>
      </p:sp>
      <p:sp>
        <p:nvSpPr>
          <p:cNvPr id="23" name="Shape 21"/>
          <p:cNvSpPr/>
          <p:nvPr/>
        </p:nvSpPr>
        <p:spPr>
          <a:xfrm>
            <a:off x="7078980" y="3675888"/>
            <a:ext cx="200025" cy="210312"/>
          </a:xfrm>
          <a:prstGeom prst="rect">
            <a:avLst/>
          </a:prstGeom>
          <a:solidFill>
            <a:srgbClr val="E64626"/>
          </a:solidFill>
          <a:ln w="12700">
            <a:solidFill>
              <a:srgbClr val="E64626"/>
            </a:solidFill>
            <a:prstDash val="solid"/>
          </a:ln>
        </p:spPr>
        <p:txBody>
          <a:bodyPr/>
          <a:lstStyle/>
          <a:p>
            <a:endParaRPr lang="en-AU"/>
          </a:p>
        </p:txBody>
      </p:sp>
      <p:sp>
        <p:nvSpPr>
          <p:cNvPr id="24" name="Text 22"/>
          <p:cNvSpPr/>
          <p:nvPr/>
        </p:nvSpPr>
        <p:spPr>
          <a:xfrm>
            <a:off x="70789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A</a:t>
            </a:r>
            <a:endParaRPr lang="en-US" sz="900" dirty="0"/>
          </a:p>
        </p:txBody>
      </p:sp>
      <p:sp>
        <p:nvSpPr>
          <p:cNvPr id="25" name="Shape 23"/>
          <p:cNvSpPr/>
          <p:nvPr/>
        </p:nvSpPr>
        <p:spPr>
          <a:xfrm>
            <a:off x="7345680" y="3507638"/>
            <a:ext cx="200025" cy="378562"/>
          </a:xfrm>
          <a:prstGeom prst="rect">
            <a:avLst/>
          </a:prstGeom>
          <a:solidFill>
            <a:srgbClr val="E64626"/>
          </a:solidFill>
          <a:ln w="12700">
            <a:solidFill>
              <a:srgbClr val="E64626"/>
            </a:solidFill>
            <a:prstDash val="solid"/>
          </a:ln>
        </p:spPr>
        <p:txBody>
          <a:bodyPr/>
          <a:lstStyle/>
          <a:p>
            <a:endParaRPr lang="en-AU"/>
          </a:p>
        </p:txBody>
      </p:sp>
      <p:sp>
        <p:nvSpPr>
          <p:cNvPr id="26" name="Text 24"/>
          <p:cNvSpPr/>
          <p:nvPr/>
        </p:nvSpPr>
        <p:spPr>
          <a:xfrm>
            <a:off x="73456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S</a:t>
            </a:r>
            <a:endParaRPr lang="en-US" sz="900" dirty="0"/>
          </a:p>
        </p:txBody>
      </p:sp>
      <p:sp>
        <p:nvSpPr>
          <p:cNvPr id="27" name="Shape 25"/>
          <p:cNvSpPr/>
          <p:nvPr/>
        </p:nvSpPr>
        <p:spPr>
          <a:xfrm>
            <a:off x="7612380" y="3150108"/>
            <a:ext cx="200025" cy="736092"/>
          </a:xfrm>
          <a:prstGeom prst="rect">
            <a:avLst/>
          </a:prstGeom>
          <a:solidFill>
            <a:srgbClr val="E64626"/>
          </a:solidFill>
          <a:ln w="12700">
            <a:solidFill>
              <a:srgbClr val="E64626"/>
            </a:solidFill>
            <a:prstDash val="solid"/>
          </a:ln>
        </p:spPr>
        <p:txBody>
          <a:bodyPr/>
          <a:lstStyle/>
          <a:p>
            <a:endParaRPr lang="en-AU"/>
          </a:p>
        </p:txBody>
      </p:sp>
      <p:sp>
        <p:nvSpPr>
          <p:cNvPr id="28" name="Text 26"/>
          <p:cNvSpPr/>
          <p:nvPr/>
        </p:nvSpPr>
        <p:spPr>
          <a:xfrm>
            <a:off x="76123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O</a:t>
            </a:r>
            <a:endParaRPr lang="en-US" sz="900" dirty="0"/>
          </a:p>
        </p:txBody>
      </p:sp>
      <p:sp>
        <p:nvSpPr>
          <p:cNvPr id="29" name="Shape 27"/>
          <p:cNvSpPr/>
          <p:nvPr/>
        </p:nvSpPr>
        <p:spPr>
          <a:xfrm>
            <a:off x="7879080" y="2624328"/>
            <a:ext cx="200025" cy="1261872"/>
          </a:xfrm>
          <a:prstGeom prst="rect">
            <a:avLst/>
          </a:prstGeom>
          <a:solidFill>
            <a:srgbClr val="E64626"/>
          </a:solidFill>
          <a:ln w="12700">
            <a:solidFill>
              <a:srgbClr val="E64626"/>
            </a:solidFill>
            <a:prstDash val="solid"/>
          </a:ln>
        </p:spPr>
        <p:txBody>
          <a:bodyPr/>
          <a:lstStyle/>
          <a:p>
            <a:endParaRPr lang="en-AU"/>
          </a:p>
        </p:txBody>
      </p:sp>
      <p:sp>
        <p:nvSpPr>
          <p:cNvPr id="30" name="Text 28"/>
          <p:cNvSpPr/>
          <p:nvPr/>
        </p:nvSpPr>
        <p:spPr>
          <a:xfrm>
            <a:off x="78790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N</a:t>
            </a:r>
            <a:endParaRPr lang="en-US" sz="900" dirty="0"/>
          </a:p>
        </p:txBody>
      </p:sp>
      <p:sp>
        <p:nvSpPr>
          <p:cNvPr id="31" name="Shape 29"/>
          <p:cNvSpPr/>
          <p:nvPr/>
        </p:nvSpPr>
        <p:spPr>
          <a:xfrm>
            <a:off x="8145780" y="2203704"/>
            <a:ext cx="200025" cy="1682496"/>
          </a:xfrm>
          <a:prstGeom prst="rect">
            <a:avLst/>
          </a:prstGeom>
          <a:solidFill>
            <a:srgbClr val="E64626"/>
          </a:solidFill>
          <a:ln w="12700">
            <a:solidFill>
              <a:srgbClr val="E64626"/>
            </a:solidFill>
            <a:prstDash val="solid"/>
          </a:ln>
        </p:spPr>
        <p:txBody>
          <a:bodyPr/>
          <a:lstStyle/>
          <a:p>
            <a:endParaRPr lang="en-AU"/>
          </a:p>
        </p:txBody>
      </p:sp>
      <p:sp>
        <p:nvSpPr>
          <p:cNvPr id="32" name="Text 30"/>
          <p:cNvSpPr/>
          <p:nvPr/>
        </p:nvSpPr>
        <p:spPr>
          <a:xfrm>
            <a:off x="8145780" y="3931920"/>
            <a:ext cx="200025"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D</a:t>
            </a:r>
            <a:endParaRPr lang="en-US" sz="900" dirty="0"/>
          </a:p>
        </p:txBody>
      </p:sp>
      <p:sp>
        <p:nvSpPr>
          <p:cNvPr id="33" name="Text 31"/>
          <p:cNvSpPr/>
          <p:nvPr/>
        </p:nvSpPr>
        <p:spPr>
          <a:xfrm>
            <a:off x="5166360" y="4297680"/>
            <a:ext cx="3291840" cy="365760"/>
          </a:xfrm>
          <a:prstGeom prst="rect">
            <a:avLst/>
          </a:prstGeom>
          <a:noFill/>
          <a:ln/>
        </p:spPr>
        <p:txBody>
          <a:bodyPr wrap="square" rtlCol="0" anchor="t"/>
          <a:lstStyle/>
          <a:p>
            <a:pPr marL="0" indent="0">
              <a:buNone/>
            </a:pPr>
            <a:r>
              <a:rPr lang="en-US" sz="1100" i="1" dirty="0">
                <a:solidFill>
                  <a:srgbClr val="1A355E"/>
                </a:solidFill>
                <a:latin typeface="Calibri" pitchFamily="34" charset="0"/>
                <a:ea typeface="Calibri" pitchFamily="34" charset="-122"/>
                <a:cs typeface="Calibri" pitchFamily="34" charset="-120"/>
              </a:rPr>
              <a:t>For HPAI in Kerala: cooler months (Nov–Feb) coincide with migratory waterbirds.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Trends, decomposition, and ACF</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06</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800" b="1" dirty="0">
                <a:solidFill>
                  <a:srgbClr val="1A355E"/>
                </a:solidFill>
                <a:latin typeface="Cambria" pitchFamily="34" charset="0"/>
                <a:ea typeface="Cambria" pitchFamily="34" charset="-122"/>
                <a:cs typeface="Cambria" pitchFamily="34" charset="-120"/>
              </a:rPr>
              <a:t>Pull the series apart and look for nearby-in-time correlations.</a:t>
            </a:r>
            <a:endParaRPr lang="en-US" sz="1800" dirty="0"/>
          </a:p>
        </p:txBody>
      </p:sp>
      <p:sp>
        <p:nvSpPr>
          <p:cNvPr id="6" name="Text 4"/>
          <p:cNvSpPr/>
          <p:nvPr/>
        </p:nvSpPr>
        <p:spPr>
          <a:xfrm>
            <a:off x="457200" y="3246120"/>
            <a:ext cx="4206240" cy="1554480"/>
          </a:xfrm>
          <a:prstGeom prst="rect">
            <a:avLst/>
          </a:prstGeom>
          <a:noFill/>
          <a:ln/>
        </p:spPr>
        <p:txBody>
          <a:bodyPr wrap="square" rtlCol="0" anchor="ctr"/>
          <a:lstStyle/>
          <a:p>
            <a:pPr marL="0" indent="0">
              <a:spcAft>
                <a:spcPts val="300"/>
              </a:spcAft>
              <a:buNone/>
            </a:pPr>
            <a:r>
              <a:rPr lang="en-US" sz="1300" b="1" dirty="0">
                <a:solidFill>
                  <a:srgbClr val="71A499"/>
                </a:solidFill>
                <a:latin typeface="Calibri" pitchFamily="34" charset="0"/>
                <a:ea typeface="Calibri" pitchFamily="34" charset="-122"/>
                <a:cs typeface="Calibri" pitchFamily="34" charset="-120"/>
              </a:rPr>
              <a:t>Decomposition </a:t>
            </a:r>
            <a:r>
              <a:rPr lang="en-US" sz="1300" dirty="0">
                <a:solidFill>
                  <a:srgbClr val="424242"/>
                </a:solidFill>
                <a:latin typeface="Calibri" pitchFamily="34" charset="0"/>
                <a:ea typeface="Calibri" pitchFamily="34" charset="-122"/>
                <a:cs typeface="Calibri" pitchFamily="34" charset="-120"/>
              </a:rPr>
              <a:t>with </a:t>
            </a:r>
            <a:r>
              <a:rPr lang="en-US" sz="1300" b="1" dirty="0">
                <a:solidFill>
                  <a:srgbClr val="E64626"/>
                </a:solidFill>
                <a:latin typeface="Courier New" pitchFamily="34" charset="0"/>
                <a:ea typeface="Courier New" pitchFamily="34" charset="-122"/>
                <a:cs typeface="Courier New" pitchFamily="34" charset="-120"/>
              </a:rPr>
              <a:t>stl()</a:t>
            </a:r>
            <a:r>
              <a:rPr lang="en-US" sz="1300" dirty="0">
                <a:solidFill>
                  <a:srgbClr val="424242"/>
                </a:solidFill>
                <a:latin typeface="Calibri" pitchFamily="34" charset="0"/>
                <a:ea typeface="Calibri" pitchFamily="34" charset="-122"/>
                <a:cs typeface="Calibri" pitchFamily="34" charset="-120"/>
              </a:rPr>
              <a:t> — separate trend, season, remainder (seasonal and trend decomposition using Loess)</a:t>
            </a:r>
            <a:endParaRPr lang="en-US" sz="1300" dirty="0"/>
          </a:p>
          <a:p>
            <a:pPr marL="0" indent="0">
              <a:spcAft>
                <a:spcPts val="300"/>
              </a:spcAft>
              <a:buNone/>
            </a:pPr>
            <a:endParaRPr lang="en-US" sz="1300" dirty="0"/>
          </a:p>
          <a:p>
            <a:pPr marL="0" indent="0">
              <a:spcAft>
                <a:spcPts val="300"/>
              </a:spcAft>
              <a:buNone/>
            </a:pPr>
            <a:r>
              <a:rPr lang="en-US" sz="1300" b="1" dirty="0">
                <a:solidFill>
                  <a:srgbClr val="71A499"/>
                </a:solidFill>
                <a:latin typeface="Calibri" pitchFamily="34" charset="0"/>
                <a:ea typeface="Calibri" pitchFamily="34" charset="-122"/>
                <a:cs typeface="Calibri" pitchFamily="34" charset="-120"/>
              </a:rPr>
              <a:t>Autocorrelation </a:t>
            </a:r>
            <a:r>
              <a:rPr lang="en-US" sz="1300" dirty="0">
                <a:solidFill>
                  <a:srgbClr val="424242"/>
                </a:solidFill>
                <a:latin typeface="Calibri" pitchFamily="34" charset="0"/>
                <a:ea typeface="Calibri" pitchFamily="34" charset="-122"/>
                <a:cs typeface="Calibri" pitchFamily="34" charset="-120"/>
              </a:rPr>
              <a:t>with </a:t>
            </a:r>
            <a:r>
              <a:rPr lang="en-US" sz="1300" b="1" dirty="0">
                <a:solidFill>
                  <a:srgbClr val="E64626"/>
                </a:solidFill>
                <a:latin typeface="Courier New" pitchFamily="34" charset="0"/>
                <a:ea typeface="Courier New" pitchFamily="34" charset="-122"/>
                <a:cs typeface="Courier New" pitchFamily="34" charset="-120"/>
              </a:rPr>
              <a:t>acf()</a:t>
            </a:r>
            <a:r>
              <a:rPr lang="en-US" sz="1300" dirty="0">
                <a:solidFill>
                  <a:srgbClr val="424242"/>
                </a:solidFill>
                <a:latin typeface="Calibri" pitchFamily="34" charset="0"/>
                <a:ea typeface="Calibri" pitchFamily="34" charset="-122"/>
                <a:cs typeface="Calibri" pitchFamily="34" charset="-120"/>
              </a:rPr>
              <a:t> — does this month predict next month?</a:t>
            </a:r>
            <a:endParaRPr lang="en-US" sz="1300" dirty="0"/>
          </a:p>
        </p:txBody>
      </p:sp>
      <p:sp>
        <p:nvSpPr>
          <p:cNvPr id="7" name="Shape 5"/>
          <p:cNvSpPr/>
          <p:nvPr/>
        </p:nvSpPr>
        <p:spPr>
          <a:xfrm>
            <a:off x="4937760" y="1188720"/>
            <a:ext cx="3749040" cy="3520440"/>
          </a:xfrm>
          <a:prstGeom prst="roundRect">
            <a:avLst>
              <a:gd name="adj" fmla="val 2078"/>
            </a:avLst>
          </a:prstGeom>
          <a:solidFill>
            <a:srgbClr val="FCEDE2"/>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5166360" y="1417320"/>
            <a:ext cx="3291840" cy="320040"/>
          </a:xfrm>
          <a:prstGeom prst="rect">
            <a:avLst/>
          </a:prstGeom>
          <a:noFill/>
          <a:ln/>
        </p:spPr>
        <p:txBody>
          <a:bodyPr wrap="square" rtlCol="0" anchor="ctr"/>
          <a:lstStyle/>
          <a:p>
            <a:pPr marL="0" indent="0">
              <a:buNone/>
            </a:pPr>
            <a:r>
              <a:rPr lang="en-US" sz="1100" b="1" kern="0" spc="300" dirty="0">
                <a:solidFill>
                  <a:srgbClr val="71A499"/>
                </a:solidFill>
                <a:latin typeface="Calibri" pitchFamily="34" charset="0"/>
                <a:ea typeface="Calibri" pitchFamily="34" charset="-122"/>
                <a:cs typeface="Calibri" pitchFamily="34" charset="-120"/>
              </a:rPr>
              <a:t>TOBLER, AGAIN</a:t>
            </a:r>
            <a:endParaRPr lang="en-US" sz="1100" dirty="0"/>
          </a:p>
        </p:txBody>
      </p:sp>
      <p:sp>
        <p:nvSpPr>
          <p:cNvPr id="9" name="Text 7"/>
          <p:cNvSpPr/>
          <p:nvPr/>
        </p:nvSpPr>
        <p:spPr>
          <a:xfrm>
            <a:off x="5166360" y="1783080"/>
            <a:ext cx="3291840" cy="868680"/>
          </a:xfrm>
          <a:prstGeom prst="rect">
            <a:avLst/>
          </a:prstGeom>
          <a:noFill/>
          <a:ln/>
        </p:spPr>
        <p:txBody>
          <a:bodyPr wrap="square" rtlCol="0" anchor="ctr"/>
          <a:lstStyle/>
          <a:p>
            <a:pPr marL="0" indent="0">
              <a:buNone/>
            </a:pPr>
            <a:r>
              <a:rPr lang="en-US" sz="1800" b="1" dirty="0">
                <a:solidFill>
                  <a:srgbClr val="1A355E"/>
                </a:solidFill>
                <a:latin typeface="Cambria" pitchFamily="34" charset="0"/>
                <a:ea typeface="Cambria" pitchFamily="34" charset="-122"/>
                <a:cs typeface="Cambria" pitchFamily="34" charset="-120"/>
              </a:rPr>
              <a:t>Events nearby in time tend to be related.</a:t>
            </a:r>
            <a:endParaRPr lang="en-US" sz="1800" dirty="0"/>
          </a:p>
        </p:txBody>
      </p:sp>
      <p:sp>
        <p:nvSpPr>
          <p:cNvPr id="10" name="Text 8"/>
          <p:cNvSpPr/>
          <p:nvPr/>
        </p:nvSpPr>
        <p:spPr>
          <a:xfrm>
            <a:off x="5166360" y="2788920"/>
            <a:ext cx="3291840" cy="1783080"/>
          </a:xfrm>
          <a:prstGeom prst="rect">
            <a:avLst/>
          </a:prstGeom>
          <a:noFill/>
          <a:ln/>
        </p:spPr>
        <p:txBody>
          <a:bodyPr wrap="square" rtlCol="0" anchor="t"/>
          <a:lstStyle/>
          <a:p>
            <a:pPr marL="0" indent="0">
              <a:spcAft>
                <a:spcPts val="300"/>
              </a:spcAft>
              <a:buNone/>
            </a:pPr>
            <a:r>
              <a:rPr lang="en-US" sz="1200" dirty="0">
                <a:solidFill>
                  <a:srgbClr val="424242"/>
                </a:solidFill>
                <a:latin typeface="Calibri" pitchFamily="34" charset="0"/>
                <a:ea typeface="Calibri" pitchFamily="34" charset="-122"/>
                <a:cs typeface="Calibri" pitchFamily="34" charset="-120"/>
              </a:rPr>
              <a:t>Outbreaks rarely happen as isolated single months — they come in </a:t>
            </a:r>
            <a:r>
              <a:rPr lang="en-US" sz="1200" b="1" dirty="0">
                <a:solidFill>
                  <a:srgbClr val="E64626"/>
                </a:solidFill>
                <a:latin typeface="Calibri" pitchFamily="34" charset="0"/>
                <a:ea typeface="Calibri" pitchFamily="34" charset="-122"/>
                <a:cs typeface="Calibri" pitchFamily="34" charset="-120"/>
              </a:rPr>
              <a:t>episodes</a:t>
            </a:r>
            <a:r>
              <a:rPr lang="en-US" sz="1200" dirty="0">
                <a:solidFill>
                  <a:srgbClr val="424242"/>
                </a:solidFill>
                <a:latin typeface="Calibri" pitchFamily="34" charset="0"/>
                <a:ea typeface="Calibri" pitchFamily="34" charset="-122"/>
                <a:cs typeface="Calibri" pitchFamily="34" charset="-120"/>
              </a:rPr>
              <a:t> lasting weeks or months.</a:t>
            </a:r>
            <a:endParaRPr lang="en-US" sz="1200" dirty="0"/>
          </a:p>
          <a:p>
            <a:pPr marL="0" indent="0">
              <a:spcAft>
                <a:spcPts val="300"/>
              </a:spcAft>
              <a:buNone/>
            </a:pPr>
            <a:endParaRPr lang="en-US" sz="1200" dirty="0"/>
          </a:p>
          <a:p>
            <a:pPr marL="0" indent="0">
              <a:spcAft>
                <a:spcPts val="300"/>
              </a:spcAft>
              <a:buNone/>
            </a:pPr>
            <a:r>
              <a:rPr lang="en-US" sz="1200" i="1" dirty="0">
                <a:solidFill>
                  <a:srgbClr val="1A355E"/>
                </a:solidFill>
                <a:latin typeface="Calibri" pitchFamily="34" charset="0"/>
                <a:ea typeface="Calibri" pitchFamily="34" charset="-122"/>
                <a:cs typeface="Calibri" pitchFamily="34" charset="-120"/>
              </a:rPr>
              <a:t>ACF picks this up as a positive bar at lag 1.</a:t>
            </a:r>
            <a:endParaRPr lang="en-US" sz="1200" dirty="0"/>
          </a:p>
          <a:p>
            <a:pPr marL="0" indent="0">
              <a:spcAft>
                <a:spcPts val="300"/>
              </a:spcAft>
              <a:buNone/>
            </a:pPr>
            <a:endParaRPr lang="en-US" sz="1200" dirty="0"/>
          </a:p>
          <a:p>
            <a:pPr marL="0" indent="0">
              <a:spcAft>
                <a:spcPts val="300"/>
              </a:spcAft>
              <a:buNone/>
            </a:pPr>
            <a:r>
              <a:rPr lang="en-US" sz="1200" i="1" dirty="0">
                <a:solidFill>
                  <a:srgbClr val="6B7280"/>
                </a:solidFill>
                <a:latin typeface="Calibri" pitchFamily="34" charset="0"/>
                <a:ea typeface="Calibri" pitchFamily="34" charset="-122"/>
                <a:cs typeface="Calibri" pitchFamily="34" charset="-120"/>
              </a:rPr>
              <a:t>Caveat: sparse, zero-inflated outbreak data limits these tools. Use them descriptively, not predictively.</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Have hotspots shifted over time?</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Text 2"/>
          <p:cNvSpPr/>
          <p:nvPr/>
        </p:nvSpPr>
        <p:spPr>
          <a:xfrm>
            <a:off x="457200" y="1188720"/>
            <a:ext cx="1371600" cy="1097280"/>
          </a:xfrm>
          <a:prstGeom prst="rect">
            <a:avLst/>
          </a:prstGeom>
          <a:noFill/>
          <a:ln/>
        </p:spPr>
        <p:txBody>
          <a:bodyPr wrap="square" lIns="0" tIns="0" rIns="0" bIns="0" rtlCol="0" anchor="ctr"/>
          <a:lstStyle/>
          <a:p>
            <a:pPr marL="0" indent="0">
              <a:buNone/>
            </a:pPr>
            <a:r>
              <a:rPr lang="en-US" sz="8000" b="1" dirty="0">
                <a:solidFill>
                  <a:srgbClr val="D4A574"/>
                </a:solidFill>
                <a:latin typeface="Cambria" pitchFamily="34" charset="0"/>
                <a:ea typeface="Cambria" pitchFamily="34" charset="-122"/>
                <a:cs typeface="Cambria" pitchFamily="34" charset="-120"/>
              </a:rPr>
              <a:t>07</a:t>
            </a:r>
            <a:endParaRPr lang="en-US" sz="8000" dirty="0"/>
          </a:p>
        </p:txBody>
      </p:sp>
      <p:sp>
        <p:nvSpPr>
          <p:cNvPr id="5" name="Text 3"/>
          <p:cNvSpPr/>
          <p:nvPr/>
        </p:nvSpPr>
        <p:spPr>
          <a:xfrm>
            <a:off x="457200" y="2286000"/>
            <a:ext cx="4206240" cy="822960"/>
          </a:xfrm>
          <a:prstGeom prst="rect">
            <a:avLst/>
          </a:prstGeom>
          <a:noFill/>
          <a:ln/>
        </p:spPr>
        <p:txBody>
          <a:bodyPr wrap="square" rtlCol="0" anchor="t"/>
          <a:lstStyle/>
          <a:p>
            <a:pPr marL="0" indent="0">
              <a:buNone/>
            </a:pPr>
            <a:r>
              <a:rPr lang="en-US" sz="1900" b="1" dirty="0">
                <a:solidFill>
                  <a:srgbClr val="1A355E"/>
                </a:solidFill>
                <a:latin typeface="Cambria" pitchFamily="34" charset="0"/>
                <a:ea typeface="Cambria" pitchFamily="34" charset="-122"/>
                <a:cs typeface="Cambria" pitchFamily="34" charset="-120"/>
              </a:rPr>
              <a:t>Split the data into eras; map each side-by-side.</a:t>
            </a:r>
            <a:endParaRPr lang="en-US" sz="1900" dirty="0"/>
          </a:p>
        </p:txBody>
      </p:sp>
      <p:sp>
        <p:nvSpPr>
          <p:cNvPr id="6" name="Text 4"/>
          <p:cNvSpPr/>
          <p:nvPr/>
        </p:nvSpPr>
        <p:spPr>
          <a:xfrm>
            <a:off x="457200" y="3246120"/>
            <a:ext cx="4206240" cy="1371600"/>
          </a:xfrm>
          <a:prstGeom prst="rect">
            <a:avLst/>
          </a:prstGeom>
          <a:noFill/>
          <a:ln/>
        </p:spPr>
        <p:txBody>
          <a:bodyPr wrap="square" rtlCol="0" anchor="t"/>
          <a:lstStyle/>
          <a:p>
            <a:pPr marL="0" indent="0">
              <a:spcAft>
                <a:spcPts val="500"/>
              </a:spcAft>
              <a:buNone/>
            </a:pPr>
            <a:r>
              <a:rPr lang="en-US" sz="1300" b="1" dirty="0">
                <a:solidFill>
                  <a:srgbClr val="71A499"/>
                </a:solidFill>
                <a:latin typeface="Calibri" pitchFamily="34" charset="0"/>
                <a:ea typeface="Calibri" pitchFamily="34" charset="-122"/>
                <a:cs typeface="Calibri" pitchFamily="34" charset="-120"/>
              </a:rPr>
              <a:t>Split by era </a:t>
            </a:r>
            <a:r>
              <a:rPr lang="en-US" sz="1300" dirty="0">
                <a:solidFill>
                  <a:srgbClr val="424242"/>
                </a:solidFill>
                <a:latin typeface="Calibri" pitchFamily="34" charset="0"/>
                <a:ea typeface="Calibri" pitchFamily="34" charset="-122"/>
                <a:cs typeface="Calibri" pitchFamily="34" charset="-120"/>
              </a:rPr>
              <a:t>(2015–2020 vs 2021–2024)</a:t>
            </a:r>
            <a:endParaRPr lang="en-US" sz="1300" dirty="0"/>
          </a:p>
          <a:p>
            <a:pPr marL="0" indent="0">
              <a:spcAft>
                <a:spcPts val="500"/>
              </a:spcAft>
              <a:buNone/>
            </a:pPr>
            <a:r>
              <a:rPr lang="en-US" sz="1300" dirty="0">
                <a:solidFill>
                  <a:srgbClr val="424242"/>
                </a:solidFill>
                <a:latin typeface="Calibri" pitchFamily="34" charset="0"/>
                <a:ea typeface="Calibri" pitchFamily="34" charset="-122"/>
                <a:cs typeface="Calibri" pitchFamily="34" charset="-120"/>
              </a:rPr>
              <a:t>Count/district within each era</a:t>
            </a:r>
            <a:endParaRPr lang="en-US" sz="1300" dirty="0"/>
          </a:p>
          <a:p>
            <a:pPr marL="0" indent="0">
              <a:spcAft>
                <a:spcPts val="500"/>
              </a:spcAft>
              <a:buNone/>
            </a:pPr>
            <a:r>
              <a:rPr lang="en-US" sz="1300" dirty="0">
                <a:solidFill>
                  <a:srgbClr val="424242"/>
                </a:solidFill>
                <a:latin typeface="Calibri" pitchFamily="34" charset="0"/>
                <a:ea typeface="Calibri" pitchFamily="34" charset="-122"/>
                <a:cs typeface="Calibri" pitchFamily="34" charset="-120"/>
              </a:rPr>
              <a:t>Plot two choropleths on a </a:t>
            </a:r>
            <a:r>
              <a:rPr lang="en-US" sz="1300" b="1" dirty="0">
                <a:solidFill>
                  <a:srgbClr val="E64626"/>
                </a:solidFill>
                <a:latin typeface="Calibri" pitchFamily="34" charset="0"/>
                <a:ea typeface="Calibri" pitchFamily="34" charset="-122"/>
                <a:cs typeface="Calibri" pitchFamily="34" charset="-120"/>
              </a:rPr>
              <a:t>shared colour scale</a:t>
            </a:r>
            <a:endParaRPr lang="en-US" sz="1300" dirty="0"/>
          </a:p>
        </p:txBody>
      </p:sp>
      <p:sp>
        <p:nvSpPr>
          <p:cNvPr id="7" name="Shape 5"/>
          <p:cNvSpPr/>
          <p:nvPr/>
        </p:nvSpPr>
        <p:spPr>
          <a:xfrm>
            <a:off x="5120640" y="1417320"/>
            <a:ext cx="320040" cy="320040"/>
          </a:xfrm>
          <a:prstGeom prst="rect">
            <a:avLst/>
          </a:prstGeom>
          <a:solidFill>
            <a:srgbClr val="F7D6CD"/>
          </a:solidFill>
          <a:ln w="12700">
            <a:solidFill>
              <a:srgbClr val="FFFFFF"/>
            </a:solidFill>
            <a:prstDash val="solid"/>
          </a:ln>
        </p:spPr>
        <p:txBody>
          <a:bodyPr/>
          <a:lstStyle/>
          <a:p>
            <a:endParaRPr lang="en-AU"/>
          </a:p>
        </p:txBody>
      </p:sp>
      <p:sp>
        <p:nvSpPr>
          <p:cNvPr id="8" name="Shape 6"/>
          <p:cNvSpPr/>
          <p:nvPr/>
        </p:nvSpPr>
        <p:spPr>
          <a:xfrm>
            <a:off x="5440680" y="1417320"/>
            <a:ext cx="320040" cy="320040"/>
          </a:xfrm>
          <a:prstGeom prst="rect">
            <a:avLst/>
          </a:prstGeom>
          <a:solidFill>
            <a:srgbClr val="FEE8DE"/>
          </a:solidFill>
          <a:ln w="12700">
            <a:solidFill>
              <a:srgbClr val="FFFFFF"/>
            </a:solidFill>
            <a:prstDash val="solid"/>
          </a:ln>
        </p:spPr>
        <p:txBody>
          <a:bodyPr/>
          <a:lstStyle/>
          <a:p>
            <a:endParaRPr lang="en-AU"/>
          </a:p>
        </p:txBody>
      </p:sp>
      <p:sp>
        <p:nvSpPr>
          <p:cNvPr id="9" name="Shape 7"/>
          <p:cNvSpPr/>
          <p:nvPr/>
        </p:nvSpPr>
        <p:spPr>
          <a:xfrm>
            <a:off x="5760720" y="1417320"/>
            <a:ext cx="320040" cy="320040"/>
          </a:xfrm>
          <a:prstGeom prst="rect">
            <a:avLst/>
          </a:prstGeom>
          <a:solidFill>
            <a:srgbClr val="FEE8DE"/>
          </a:solidFill>
          <a:ln w="12700">
            <a:solidFill>
              <a:srgbClr val="FFFFFF"/>
            </a:solidFill>
            <a:prstDash val="solid"/>
          </a:ln>
        </p:spPr>
        <p:txBody>
          <a:bodyPr/>
          <a:lstStyle/>
          <a:p>
            <a:endParaRPr lang="en-AU"/>
          </a:p>
        </p:txBody>
      </p:sp>
      <p:sp>
        <p:nvSpPr>
          <p:cNvPr id="10" name="Shape 8"/>
          <p:cNvSpPr/>
          <p:nvPr/>
        </p:nvSpPr>
        <p:spPr>
          <a:xfrm>
            <a:off x="5120640" y="1737360"/>
            <a:ext cx="320040" cy="320040"/>
          </a:xfrm>
          <a:prstGeom prst="rect">
            <a:avLst/>
          </a:prstGeom>
          <a:solidFill>
            <a:srgbClr val="E8B2AC"/>
          </a:solidFill>
          <a:ln w="12700">
            <a:solidFill>
              <a:srgbClr val="FFFFFF"/>
            </a:solidFill>
            <a:prstDash val="solid"/>
          </a:ln>
        </p:spPr>
        <p:txBody>
          <a:bodyPr/>
          <a:lstStyle/>
          <a:p>
            <a:endParaRPr lang="en-AU"/>
          </a:p>
        </p:txBody>
      </p:sp>
      <p:sp>
        <p:nvSpPr>
          <p:cNvPr id="11" name="Shape 9"/>
          <p:cNvSpPr/>
          <p:nvPr/>
        </p:nvSpPr>
        <p:spPr>
          <a:xfrm>
            <a:off x="5440680" y="1737360"/>
            <a:ext cx="320040" cy="320040"/>
          </a:xfrm>
          <a:prstGeom prst="rect">
            <a:avLst/>
          </a:prstGeom>
          <a:solidFill>
            <a:srgbClr val="F7D6CD"/>
          </a:solidFill>
          <a:ln w="12700">
            <a:solidFill>
              <a:srgbClr val="FFFFFF"/>
            </a:solidFill>
            <a:prstDash val="solid"/>
          </a:ln>
        </p:spPr>
        <p:txBody>
          <a:bodyPr/>
          <a:lstStyle/>
          <a:p>
            <a:endParaRPr lang="en-AU"/>
          </a:p>
        </p:txBody>
      </p:sp>
      <p:sp>
        <p:nvSpPr>
          <p:cNvPr id="12" name="Shape 10"/>
          <p:cNvSpPr/>
          <p:nvPr/>
        </p:nvSpPr>
        <p:spPr>
          <a:xfrm>
            <a:off x="5760720" y="1737360"/>
            <a:ext cx="320040" cy="320040"/>
          </a:xfrm>
          <a:prstGeom prst="rect">
            <a:avLst/>
          </a:prstGeom>
          <a:solidFill>
            <a:srgbClr val="FEE8DE"/>
          </a:solidFill>
          <a:ln w="12700">
            <a:solidFill>
              <a:srgbClr val="FFFFFF"/>
            </a:solidFill>
            <a:prstDash val="solid"/>
          </a:ln>
        </p:spPr>
        <p:txBody>
          <a:bodyPr/>
          <a:lstStyle/>
          <a:p>
            <a:endParaRPr lang="en-AU"/>
          </a:p>
        </p:txBody>
      </p:sp>
      <p:sp>
        <p:nvSpPr>
          <p:cNvPr id="13" name="Shape 11"/>
          <p:cNvSpPr/>
          <p:nvPr/>
        </p:nvSpPr>
        <p:spPr>
          <a:xfrm>
            <a:off x="5120640" y="2057400"/>
            <a:ext cx="320040" cy="320040"/>
          </a:xfrm>
          <a:prstGeom prst="rect">
            <a:avLst/>
          </a:prstGeom>
          <a:solidFill>
            <a:srgbClr val="D98E8A"/>
          </a:solidFill>
          <a:ln w="12700">
            <a:solidFill>
              <a:srgbClr val="FFFFFF"/>
            </a:solidFill>
            <a:prstDash val="solid"/>
          </a:ln>
        </p:spPr>
        <p:txBody>
          <a:bodyPr/>
          <a:lstStyle/>
          <a:p>
            <a:endParaRPr lang="en-AU"/>
          </a:p>
        </p:txBody>
      </p:sp>
      <p:sp>
        <p:nvSpPr>
          <p:cNvPr id="14" name="Shape 12"/>
          <p:cNvSpPr/>
          <p:nvPr/>
        </p:nvSpPr>
        <p:spPr>
          <a:xfrm>
            <a:off x="5440680" y="2057400"/>
            <a:ext cx="320040" cy="320040"/>
          </a:xfrm>
          <a:prstGeom prst="rect">
            <a:avLst/>
          </a:prstGeom>
          <a:solidFill>
            <a:srgbClr val="EFC4BD"/>
          </a:solidFill>
          <a:ln w="12700">
            <a:solidFill>
              <a:srgbClr val="FFFFFF"/>
            </a:solidFill>
            <a:prstDash val="solid"/>
          </a:ln>
        </p:spPr>
        <p:txBody>
          <a:bodyPr/>
          <a:lstStyle/>
          <a:p>
            <a:endParaRPr lang="en-AU"/>
          </a:p>
        </p:txBody>
      </p:sp>
      <p:sp>
        <p:nvSpPr>
          <p:cNvPr id="15" name="Shape 13"/>
          <p:cNvSpPr/>
          <p:nvPr/>
        </p:nvSpPr>
        <p:spPr>
          <a:xfrm>
            <a:off x="5760720" y="2057400"/>
            <a:ext cx="320040" cy="320040"/>
          </a:xfrm>
          <a:prstGeom prst="rect">
            <a:avLst/>
          </a:prstGeom>
          <a:solidFill>
            <a:srgbClr val="FEE8DE"/>
          </a:solidFill>
          <a:ln w="12700">
            <a:solidFill>
              <a:srgbClr val="FFFFFF"/>
            </a:solidFill>
            <a:prstDash val="solid"/>
          </a:ln>
        </p:spPr>
        <p:txBody>
          <a:bodyPr/>
          <a:lstStyle/>
          <a:p>
            <a:endParaRPr lang="en-AU"/>
          </a:p>
        </p:txBody>
      </p:sp>
      <p:sp>
        <p:nvSpPr>
          <p:cNvPr id="16" name="Shape 14"/>
          <p:cNvSpPr/>
          <p:nvPr/>
        </p:nvSpPr>
        <p:spPr>
          <a:xfrm>
            <a:off x="5120640" y="2377440"/>
            <a:ext cx="320040" cy="320040"/>
          </a:xfrm>
          <a:prstGeom prst="rect">
            <a:avLst/>
          </a:prstGeom>
          <a:solidFill>
            <a:srgbClr val="CA6969"/>
          </a:solidFill>
          <a:ln w="12700">
            <a:solidFill>
              <a:srgbClr val="FFFFFF"/>
            </a:solidFill>
            <a:prstDash val="solid"/>
          </a:ln>
        </p:spPr>
        <p:txBody>
          <a:bodyPr/>
          <a:lstStyle/>
          <a:p>
            <a:endParaRPr lang="en-AU"/>
          </a:p>
        </p:txBody>
      </p:sp>
      <p:sp>
        <p:nvSpPr>
          <p:cNvPr id="17" name="Shape 15"/>
          <p:cNvSpPr/>
          <p:nvPr/>
        </p:nvSpPr>
        <p:spPr>
          <a:xfrm>
            <a:off x="5440680" y="2377440"/>
            <a:ext cx="320040" cy="320040"/>
          </a:xfrm>
          <a:prstGeom prst="rect">
            <a:avLst/>
          </a:prstGeom>
          <a:solidFill>
            <a:srgbClr val="E8B2AC"/>
          </a:solidFill>
          <a:ln w="12700">
            <a:solidFill>
              <a:srgbClr val="FFFFFF"/>
            </a:solidFill>
            <a:prstDash val="solid"/>
          </a:ln>
        </p:spPr>
        <p:txBody>
          <a:bodyPr/>
          <a:lstStyle/>
          <a:p>
            <a:endParaRPr lang="en-AU"/>
          </a:p>
        </p:txBody>
      </p:sp>
      <p:sp>
        <p:nvSpPr>
          <p:cNvPr id="18" name="Shape 16"/>
          <p:cNvSpPr/>
          <p:nvPr/>
        </p:nvSpPr>
        <p:spPr>
          <a:xfrm>
            <a:off x="5760720" y="2377440"/>
            <a:ext cx="320040" cy="320040"/>
          </a:xfrm>
          <a:prstGeom prst="rect">
            <a:avLst/>
          </a:prstGeom>
          <a:solidFill>
            <a:srgbClr val="F7D6CD"/>
          </a:solidFill>
          <a:ln w="12700">
            <a:solidFill>
              <a:srgbClr val="FFFFFF"/>
            </a:solidFill>
            <a:prstDash val="solid"/>
          </a:ln>
        </p:spPr>
        <p:txBody>
          <a:bodyPr/>
          <a:lstStyle/>
          <a:p>
            <a:endParaRPr lang="en-AU"/>
          </a:p>
        </p:txBody>
      </p:sp>
      <p:sp>
        <p:nvSpPr>
          <p:cNvPr id="19" name="Text 17"/>
          <p:cNvSpPr/>
          <p:nvPr/>
        </p:nvSpPr>
        <p:spPr>
          <a:xfrm>
            <a:off x="5029200" y="2788920"/>
            <a:ext cx="1143000" cy="274320"/>
          </a:xfrm>
          <a:prstGeom prst="rect">
            <a:avLst/>
          </a:prstGeom>
          <a:noFill/>
          <a:ln/>
        </p:spPr>
        <p:txBody>
          <a:bodyPr wrap="square"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2015–2020</a:t>
            </a:r>
            <a:endParaRPr lang="en-US" sz="1100" dirty="0"/>
          </a:p>
        </p:txBody>
      </p:sp>
      <p:sp>
        <p:nvSpPr>
          <p:cNvPr id="20" name="Shape 18"/>
          <p:cNvSpPr/>
          <p:nvPr/>
        </p:nvSpPr>
        <p:spPr>
          <a:xfrm>
            <a:off x="7040880" y="1417320"/>
            <a:ext cx="320040" cy="320040"/>
          </a:xfrm>
          <a:prstGeom prst="rect">
            <a:avLst/>
          </a:prstGeom>
          <a:solidFill>
            <a:srgbClr val="EFC4BD"/>
          </a:solidFill>
          <a:ln w="12700">
            <a:solidFill>
              <a:srgbClr val="FFFFFF"/>
            </a:solidFill>
            <a:prstDash val="solid"/>
          </a:ln>
        </p:spPr>
        <p:txBody>
          <a:bodyPr/>
          <a:lstStyle/>
          <a:p>
            <a:endParaRPr lang="en-AU"/>
          </a:p>
        </p:txBody>
      </p:sp>
      <p:sp>
        <p:nvSpPr>
          <p:cNvPr id="21" name="Shape 19"/>
          <p:cNvSpPr/>
          <p:nvPr/>
        </p:nvSpPr>
        <p:spPr>
          <a:xfrm>
            <a:off x="7360920" y="1417320"/>
            <a:ext cx="320040" cy="320040"/>
          </a:xfrm>
          <a:prstGeom prst="rect">
            <a:avLst/>
          </a:prstGeom>
          <a:solidFill>
            <a:srgbClr val="EFC4BD"/>
          </a:solidFill>
          <a:ln w="12700">
            <a:solidFill>
              <a:srgbClr val="FFFFFF"/>
            </a:solidFill>
            <a:prstDash val="solid"/>
          </a:ln>
        </p:spPr>
        <p:txBody>
          <a:bodyPr/>
          <a:lstStyle/>
          <a:p>
            <a:endParaRPr lang="en-AU"/>
          </a:p>
        </p:txBody>
      </p:sp>
      <p:sp>
        <p:nvSpPr>
          <p:cNvPr id="22" name="Shape 20"/>
          <p:cNvSpPr/>
          <p:nvPr/>
        </p:nvSpPr>
        <p:spPr>
          <a:xfrm>
            <a:off x="7680960" y="1417320"/>
            <a:ext cx="320040" cy="320040"/>
          </a:xfrm>
          <a:prstGeom prst="rect">
            <a:avLst/>
          </a:prstGeom>
          <a:solidFill>
            <a:srgbClr val="F7D6CD"/>
          </a:solidFill>
          <a:ln w="12700">
            <a:solidFill>
              <a:srgbClr val="FFFFFF"/>
            </a:solidFill>
            <a:prstDash val="solid"/>
          </a:ln>
        </p:spPr>
        <p:txBody>
          <a:bodyPr/>
          <a:lstStyle/>
          <a:p>
            <a:endParaRPr lang="en-AU"/>
          </a:p>
        </p:txBody>
      </p:sp>
      <p:sp>
        <p:nvSpPr>
          <p:cNvPr id="23" name="Shape 21"/>
          <p:cNvSpPr/>
          <p:nvPr/>
        </p:nvSpPr>
        <p:spPr>
          <a:xfrm>
            <a:off x="7040880" y="1737360"/>
            <a:ext cx="320040" cy="320040"/>
          </a:xfrm>
          <a:prstGeom prst="rect">
            <a:avLst/>
          </a:prstGeom>
          <a:solidFill>
            <a:srgbClr val="E0A09B"/>
          </a:solidFill>
          <a:ln w="12700">
            <a:solidFill>
              <a:srgbClr val="FFFFFF"/>
            </a:solidFill>
            <a:prstDash val="solid"/>
          </a:ln>
        </p:spPr>
        <p:txBody>
          <a:bodyPr/>
          <a:lstStyle/>
          <a:p>
            <a:endParaRPr lang="en-AU"/>
          </a:p>
        </p:txBody>
      </p:sp>
      <p:sp>
        <p:nvSpPr>
          <p:cNvPr id="24" name="Shape 22"/>
          <p:cNvSpPr/>
          <p:nvPr/>
        </p:nvSpPr>
        <p:spPr>
          <a:xfrm>
            <a:off x="7360920" y="1737360"/>
            <a:ext cx="320040" cy="320040"/>
          </a:xfrm>
          <a:prstGeom prst="rect">
            <a:avLst/>
          </a:prstGeom>
          <a:solidFill>
            <a:srgbClr val="E0A09B"/>
          </a:solidFill>
          <a:ln w="12700">
            <a:solidFill>
              <a:srgbClr val="FFFFFF"/>
            </a:solidFill>
            <a:prstDash val="solid"/>
          </a:ln>
        </p:spPr>
        <p:txBody>
          <a:bodyPr/>
          <a:lstStyle/>
          <a:p>
            <a:endParaRPr lang="en-AU"/>
          </a:p>
        </p:txBody>
      </p:sp>
      <p:sp>
        <p:nvSpPr>
          <p:cNvPr id="25" name="Shape 23"/>
          <p:cNvSpPr/>
          <p:nvPr/>
        </p:nvSpPr>
        <p:spPr>
          <a:xfrm>
            <a:off x="7680960" y="1737360"/>
            <a:ext cx="320040" cy="320040"/>
          </a:xfrm>
          <a:prstGeom prst="rect">
            <a:avLst/>
          </a:prstGeom>
          <a:solidFill>
            <a:srgbClr val="EFC4BD"/>
          </a:solidFill>
          <a:ln w="12700">
            <a:solidFill>
              <a:srgbClr val="FFFFFF"/>
            </a:solidFill>
            <a:prstDash val="solid"/>
          </a:ln>
        </p:spPr>
        <p:txBody>
          <a:bodyPr/>
          <a:lstStyle/>
          <a:p>
            <a:endParaRPr lang="en-AU"/>
          </a:p>
        </p:txBody>
      </p:sp>
      <p:sp>
        <p:nvSpPr>
          <p:cNvPr id="26" name="Shape 24"/>
          <p:cNvSpPr/>
          <p:nvPr/>
        </p:nvSpPr>
        <p:spPr>
          <a:xfrm>
            <a:off x="7040880" y="2057400"/>
            <a:ext cx="320040" cy="320040"/>
          </a:xfrm>
          <a:prstGeom prst="rect">
            <a:avLst/>
          </a:prstGeom>
          <a:solidFill>
            <a:srgbClr val="E8B2AC"/>
          </a:solidFill>
          <a:ln w="12700">
            <a:solidFill>
              <a:srgbClr val="FFFFFF"/>
            </a:solidFill>
            <a:prstDash val="solid"/>
          </a:ln>
        </p:spPr>
        <p:txBody>
          <a:bodyPr/>
          <a:lstStyle/>
          <a:p>
            <a:endParaRPr lang="en-AU"/>
          </a:p>
        </p:txBody>
      </p:sp>
      <p:sp>
        <p:nvSpPr>
          <p:cNvPr id="27" name="Shape 25"/>
          <p:cNvSpPr/>
          <p:nvPr/>
        </p:nvSpPr>
        <p:spPr>
          <a:xfrm>
            <a:off x="7360920" y="2057400"/>
            <a:ext cx="320040" cy="320040"/>
          </a:xfrm>
          <a:prstGeom prst="rect">
            <a:avLst/>
          </a:prstGeom>
          <a:solidFill>
            <a:srgbClr val="D98E8A"/>
          </a:solidFill>
          <a:ln w="12700">
            <a:solidFill>
              <a:srgbClr val="FFFFFF"/>
            </a:solidFill>
            <a:prstDash val="solid"/>
          </a:ln>
        </p:spPr>
        <p:txBody>
          <a:bodyPr/>
          <a:lstStyle/>
          <a:p>
            <a:endParaRPr lang="en-AU"/>
          </a:p>
        </p:txBody>
      </p:sp>
      <p:sp>
        <p:nvSpPr>
          <p:cNvPr id="28" name="Shape 26"/>
          <p:cNvSpPr/>
          <p:nvPr/>
        </p:nvSpPr>
        <p:spPr>
          <a:xfrm>
            <a:off x="7680960" y="2057400"/>
            <a:ext cx="320040" cy="320040"/>
          </a:xfrm>
          <a:prstGeom prst="rect">
            <a:avLst/>
          </a:prstGeom>
          <a:solidFill>
            <a:srgbClr val="E8B2AC"/>
          </a:solidFill>
          <a:ln w="12700">
            <a:solidFill>
              <a:srgbClr val="FFFFFF"/>
            </a:solidFill>
            <a:prstDash val="solid"/>
          </a:ln>
        </p:spPr>
        <p:txBody>
          <a:bodyPr/>
          <a:lstStyle/>
          <a:p>
            <a:endParaRPr lang="en-AU"/>
          </a:p>
        </p:txBody>
      </p:sp>
      <p:sp>
        <p:nvSpPr>
          <p:cNvPr id="29" name="Shape 27"/>
          <p:cNvSpPr/>
          <p:nvPr/>
        </p:nvSpPr>
        <p:spPr>
          <a:xfrm>
            <a:off x="7040880" y="2377440"/>
            <a:ext cx="320040" cy="320040"/>
          </a:xfrm>
          <a:prstGeom prst="rect">
            <a:avLst/>
          </a:prstGeom>
          <a:solidFill>
            <a:srgbClr val="D98E8A"/>
          </a:solidFill>
          <a:ln w="12700">
            <a:solidFill>
              <a:srgbClr val="FFFFFF"/>
            </a:solidFill>
            <a:prstDash val="solid"/>
          </a:ln>
        </p:spPr>
        <p:txBody>
          <a:bodyPr/>
          <a:lstStyle/>
          <a:p>
            <a:endParaRPr lang="en-AU"/>
          </a:p>
        </p:txBody>
      </p:sp>
      <p:sp>
        <p:nvSpPr>
          <p:cNvPr id="30" name="Shape 28"/>
          <p:cNvSpPr/>
          <p:nvPr/>
        </p:nvSpPr>
        <p:spPr>
          <a:xfrm>
            <a:off x="7360920" y="2377440"/>
            <a:ext cx="320040" cy="320040"/>
          </a:xfrm>
          <a:prstGeom prst="rect">
            <a:avLst/>
          </a:prstGeom>
          <a:solidFill>
            <a:srgbClr val="E8B2AC"/>
          </a:solidFill>
          <a:ln w="12700">
            <a:solidFill>
              <a:srgbClr val="FFFFFF"/>
            </a:solidFill>
            <a:prstDash val="solid"/>
          </a:ln>
        </p:spPr>
        <p:txBody>
          <a:bodyPr/>
          <a:lstStyle/>
          <a:p>
            <a:endParaRPr lang="en-AU"/>
          </a:p>
        </p:txBody>
      </p:sp>
      <p:sp>
        <p:nvSpPr>
          <p:cNvPr id="31" name="Shape 29"/>
          <p:cNvSpPr/>
          <p:nvPr/>
        </p:nvSpPr>
        <p:spPr>
          <a:xfrm>
            <a:off x="7680960" y="2377440"/>
            <a:ext cx="320040" cy="320040"/>
          </a:xfrm>
          <a:prstGeom prst="rect">
            <a:avLst/>
          </a:prstGeom>
          <a:solidFill>
            <a:srgbClr val="EFC4BD"/>
          </a:solidFill>
          <a:ln w="12700">
            <a:solidFill>
              <a:srgbClr val="FFFFFF"/>
            </a:solidFill>
            <a:prstDash val="solid"/>
          </a:ln>
        </p:spPr>
        <p:txBody>
          <a:bodyPr/>
          <a:lstStyle/>
          <a:p>
            <a:endParaRPr lang="en-AU"/>
          </a:p>
        </p:txBody>
      </p:sp>
      <p:sp>
        <p:nvSpPr>
          <p:cNvPr id="32" name="Text 30"/>
          <p:cNvSpPr/>
          <p:nvPr/>
        </p:nvSpPr>
        <p:spPr>
          <a:xfrm>
            <a:off x="6949440" y="2788920"/>
            <a:ext cx="1143000" cy="274320"/>
          </a:xfrm>
          <a:prstGeom prst="rect">
            <a:avLst/>
          </a:prstGeom>
          <a:noFill/>
          <a:ln/>
        </p:spPr>
        <p:txBody>
          <a:bodyPr wrap="square" rtlCol="0" anchor="ctr"/>
          <a:lstStyle/>
          <a:p>
            <a:pPr marL="0" indent="0" algn="ctr">
              <a:buNone/>
            </a:pPr>
            <a:r>
              <a:rPr lang="en-US" sz="1100" b="1" dirty="0">
                <a:solidFill>
                  <a:srgbClr val="1A355E"/>
                </a:solidFill>
                <a:latin typeface="Calibri" pitchFamily="34" charset="0"/>
                <a:ea typeface="Calibri" pitchFamily="34" charset="-122"/>
                <a:cs typeface="Calibri" pitchFamily="34" charset="-120"/>
              </a:rPr>
              <a:t>2021–2024</a:t>
            </a:r>
            <a:endParaRPr lang="en-US" sz="1100" dirty="0"/>
          </a:p>
        </p:txBody>
      </p:sp>
      <p:sp>
        <p:nvSpPr>
          <p:cNvPr id="33" name="Text 31"/>
          <p:cNvSpPr/>
          <p:nvPr/>
        </p:nvSpPr>
        <p:spPr>
          <a:xfrm>
            <a:off x="4937760" y="3840480"/>
            <a:ext cx="3840480" cy="36576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Same scale ⇒ the panels are comparable.</a:t>
            </a:r>
            <a:endParaRPr lang="en-US" sz="1200" dirty="0"/>
          </a:p>
        </p:txBody>
      </p:sp>
      <p:sp>
        <p:nvSpPr>
          <p:cNvPr id="34" name="Text 32"/>
          <p:cNvSpPr/>
          <p:nvPr/>
        </p:nvSpPr>
        <p:spPr>
          <a:xfrm>
            <a:off x="457200" y="4617720"/>
            <a:ext cx="8229600" cy="365760"/>
          </a:xfrm>
          <a:prstGeom prst="rect">
            <a:avLst/>
          </a:prstGeom>
          <a:noFill/>
          <a:ln/>
        </p:spPr>
        <p:txBody>
          <a:bodyPr wrap="square" rtlCol="0" anchor="ctr"/>
          <a:lstStyle/>
          <a:p>
            <a:pPr marL="0" indent="0" algn="ctr">
              <a:buNone/>
            </a:pPr>
            <a:r>
              <a:rPr lang="en-US" sz="1300" i="1" dirty="0">
                <a:solidFill>
                  <a:srgbClr val="E64626"/>
                </a:solidFill>
                <a:latin typeface="Calibri" pitchFamily="34" charset="0"/>
                <a:ea typeface="Calibri" pitchFamily="34" charset="-122"/>
                <a:cs typeface="Calibri" pitchFamily="34" charset="-120"/>
              </a:rPr>
              <a:t>If the hotspots have moved, your control strategy may need to move with them.</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000" b="1" dirty="0">
                <a:solidFill>
                  <a:srgbClr val="E64626"/>
                </a:solidFill>
                <a:latin typeface="Aptos" panose="020B0004020202020204" pitchFamily="34" charset="0"/>
                <a:ea typeface="Cambria" pitchFamily="34" charset="-122"/>
              </a:rPr>
              <a:t>What this can — and can't — tell us</a:t>
            </a:r>
          </a:p>
        </p:txBody>
      </p:sp>
      <p:sp>
        <p:nvSpPr>
          <p:cNvPr id="3" name="Shape 1"/>
          <p:cNvSpPr/>
          <p:nvPr/>
        </p:nvSpPr>
        <p:spPr>
          <a:xfrm>
            <a:off x="457200" y="914400"/>
            <a:ext cx="8229600" cy="0"/>
          </a:xfrm>
          <a:prstGeom prst="line">
            <a:avLst/>
          </a:prstGeom>
          <a:noFill/>
          <a:ln w="19050">
            <a:solidFill>
              <a:srgbClr val="E64626"/>
            </a:solidFill>
            <a:prstDash val="solid"/>
          </a:ln>
        </p:spPr>
        <p:txBody>
          <a:bodyPr/>
          <a:lstStyle/>
          <a:p>
            <a:endParaRPr lang="en-AU"/>
          </a:p>
        </p:txBody>
      </p:sp>
      <p:sp>
        <p:nvSpPr>
          <p:cNvPr id="4" name="Shape 2"/>
          <p:cNvSpPr/>
          <p:nvPr/>
        </p:nvSpPr>
        <p:spPr>
          <a:xfrm>
            <a:off x="457200" y="1188720"/>
            <a:ext cx="4023360" cy="3520440"/>
          </a:xfrm>
          <a:prstGeom prst="roundRect">
            <a:avLst>
              <a:gd name="adj" fmla="val 2078"/>
            </a:avLst>
          </a:prstGeom>
          <a:solidFill>
            <a:srgbClr val="F1F1F1"/>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5" name="Text 3"/>
          <p:cNvSpPr/>
          <p:nvPr/>
        </p:nvSpPr>
        <p:spPr>
          <a:xfrm>
            <a:off x="685800" y="1371600"/>
            <a:ext cx="3566160" cy="320040"/>
          </a:xfrm>
          <a:prstGeom prst="rect">
            <a:avLst/>
          </a:prstGeom>
          <a:noFill/>
          <a:ln/>
        </p:spPr>
        <p:txBody>
          <a:bodyPr wrap="square" rtlCol="0" anchor="ctr"/>
          <a:lstStyle/>
          <a:p>
            <a:pPr marL="0" indent="0">
              <a:buNone/>
            </a:pPr>
            <a:r>
              <a:rPr lang="en-US" sz="1200" b="1" kern="0" spc="300" dirty="0">
                <a:solidFill>
                  <a:srgbClr val="71A499"/>
                </a:solidFill>
                <a:latin typeface="Calibri" pitchFamily="34" charset="0"/>
                <a:ea typeface="Calibri" pitchFamily="34" charset="-122"/>
                <a:cs typeface="Calibri" pitchFamily="34" charset="-120"/>
              </a:rPr>
              <a:t>CAN</a:t>
            </a:r>
            <a:endParaRPr lang="en-US" sz="1200" dirty="0"/>
          </a:p>
        </p:txBody>
      </p:sp>
      <p:sp>
        <p:nvSpPr>
          <p:cNvPr id="6" name="Text 4"/>
          <p:cNvSpPr/>
          <p:nvPr/>
        </p:nvSpPr>
        <p:spPr>
          <a:xfrm>
            <a:off x="685800" y="1783080"/>
            <a:ext cx="3566160" cy="2743200"/>
          </a:xfrm>
          <a:prstGeom prst="rect">
            <a:avLst/>
          </a:prstGeom>
          <a:noFill/>
          <a:ln/>
        </p:spPr>
        <p:txBody>
          <a:bodyPr wrap="square" rtlCol="0" anchor="t"/>
          <a:lstStyle/>
          <a:p>
            <a:pPr marL="0" indent="0">
              <a:buNone/>
            </a:pPr>
            <a:r>
              <a:rPr lang="en-US" sz="1300" dirty="0">
                <a:solidFill>
                  <a:srgbClr val="424242"/>
                </a:solidFill>
                <a:latin typeface="Calibri" pitchFamily="34" charset="0"/>
                <a:ea typeface="Calibri" pitchFamily="34" charset="-122"/>
                <a:cs typeface="Calibri" pitchFamily="34" charset="-120"/>
              </a:rPr>
              <a:t>Describe </a:t>
            </a:r>
            <a:r>
              <a:rPr lang="en-US" sz="1300" b="1" dirty="0">
                <a:solidFill>
                  <a:srgbClr val="E64626"/>
                </a:solidFill>
                <a:latin typeface="Calibri" pitchFamily="34" charset="0"/>
                <a:ea typeface="Calibri" pitchFamily="34" charset="-122"/>
                <a:cs typeface="Calibri" pitchFamily="34" charset="-120"/>
              </a:rPr>
              <a:t>where and when </a:t>
            </a:r>
            <a:r>
              <a:rPr lang="en-US" sz="1300" dirty="0">
                <a:solidFill>
                  <a:srgbClr val="424242"/>
                </a:solidFill>
                <a:latin typeface="Calibri" pitchFamily="34" charset="0"/>
                <a:ea typeface="Calibri" pitchFamily="34" charset="-122"/>
                <a:cs typeface="Calibri" pitchFamily="34" charset="-120"/>
              </a:rPr>
              <a:t>outbreaks have been reported</a:t>
            </a:r>
            <a:endParaRPr lang="en-US" sz="1300" dirty="0"/>
          </a:p>
          <a:p>
            <a:pPr marL="0" indent="0">
              <a:buNone/>
            </a:pPr>
            <a:endParaRPr lang="en-US" sz="1300" dirty="0"/>
          </a:p>
          <a:p>
            <a:pPr marL="0" indent="0">
              <a:buNone/>
            </a:pPr>
            <a:r>
              <a:rPr lang="en-US" sz="1300" dirty="0">
                <a:solidFill>
                  <a:srgbClr val="424242"/>
                </a:solidFill>
                <a:latin typeface="Calibri" pitchFamily="34" charset="0"/>
                <a:ea typeface="Calibri" pitchFamily="34" charset="-122"/>
                <a:cs typeface="Calibri" pitchFamily="34" charset="-120"/>
              </a:rPr>
              <a:t>Highlight districts and periods where the pattern is unusually concentrated</a:t>
            </a:r>
            <a:endParaRPr lang="en-US" sz="1300" dirty="0"/>
          </a:p>
          <a:p>
            <a:pPr marL="0" indent="0">
              <a:buNone/>
            </a:pPr>
            <a:endParaRPr lang="en-US" sz="1300" dirty="0"/>
          </a:p>
          <a:p>
            <a:pPr marL="0" indent="0">
              <a:buNone/>
            </a:pPr>
            <a:r>
              <a:rPr lang="en-US" sz="1300" dirty="0">
                <a:solidFill>
                  <a:srgbClr val="424242"/>
                </a:solidFill>
                <a:latin typeface="Calibri" pitchFamily="34" charset="0"/>
                <a:ea typeface="Calibri" pitchFamily="34" charset="-122"/>
                <a:cs typeface="Calibri" pitchFamily="34" charset="-120"/>
              </a:rPr>
              <a:t>Generate hypotheses about what's driving the pattern</a:t>
            </a:r>
            <a:endParaRPr lang="en-US" sz="1300" dirty="0"/>
          </a:p>
          <a:p>
            <a:pPr marL="0" indent="0">
              <a:buNone/>
            </a:pPr>
            <a:endParaRPr lang="en-US" sz="1300" dirty="0"/>
          </a:p>
          <a:p>
            <a:pPr marL="0" indent="0">
              <a:buNone/>
            </a:pPr>
            <a:r>
              <a:rPr lang="en-US" sz="1300" dirty="0">
                <a:solidFill>
                  <a:srgbClr val="424242"/>
                </a:solidFill>
                <a:latin typeface="Calibri" pitchFamily="34" charset="0"/>
                <a:ea typeface="Calibri" pitchFamily="34" charset="-122"/>
                <a:cs typeface="Calibri" pitchFamily="34" charset="-120"/>
              </a:rPr>
              <a:t>Tell us whether the geography or seasonality of reported cases has shifted</a:t>
            </a:r>
            <a:endParaRPr lang="en-US" sz="1300" dirty="0"/>
          </a:p>
        </p:txBody>
      </p:sp>
      <p:sp>
        <p:nvSpPr>
          <p:cNvPr id="7" name="Shape 5"/>
          <p:cNvSpPr/>
          <p:nvPr/>
        </p:nvSpPr>
        <p:spPr>
          <a:xfrm>
            <a:off x="4663440" y="1188720"/>
            <a:ext cx="4023360" cy="3520440"/>
          </a:xfrm>
          <a:prstGeom prst="roundRect">
            <a:avLst>
              <a:gd name="adj" fmla="val 2078"/>
            </a:avLst>
          </a:prstGeom>
          <a:solidFill>
            <a:srgbClr val="1A355E"/>
          </a:solidFill>
          <a:ln w="12700">
            <a:solidFill>
              <a:srgbClr val="F1F1F1"/>
            </a:solidFill>
            <a:prstDash val="solid"/>
          </a:ln>
          <a:effectLst>
            <a:outerShdw blurRad="101600" dist="25400" dir="5400000" algn="bl" rotWithShape="0">
              <a:srgbClr val="000000">
                <a:alpha val="10000"/>
              </a:srgbClr>
            </a:outerShdw>
          </a:effectLst>
        </p:spPr>
        <p:txBody>
          <a:bodyPr/>
          <a:lstStyle/>
          <a:p>
            <a:endParaRPr lang="en-AU"/>
          </a:p>
        </p:txBody>
      </p:sp>
      <p:sp>
        <p:nvSpPr>
          <p:cNvPr id="8" name="Text 6"/>
          <p:cNvSpPr/>
          <p:nvPr/>
        </p:nvSpPr>
        <p:spPr>
          <a:xfrm>
            <a:off x="4892040" y="1371600"/>
            <a:ext cx="3566160" cy="320040"/>
          </a:xfrm>
          <a:prstGeom prst="rect">
            <a:avLst/>
          </a:prstGeom>
          <a:noFill/>
          <a:ln/>
        </p:spPr>
        <p:txBody>
          <a:bodyPr wrap="square" rtlCol="0" anchor="ctr"/>
          <a:lstStyle/>
          <a:p>
            <a:pPr marL="0" indent="0">
              <a:buNone/>
            </a:pPr>
            <a:r>
              <a:rPr lang="en-US" sz="1200" b="1" kern="0" spc="300" dirty="0">
                <a:solidFill>
                  <a:srgbClr val="D4A574"/>
                </a:solidFill>
                <a:latin typeface="Calibri" pitchFamily="34" charset="0"/>
                <a:ea typeface="Calibri" pitchFamily="34" charset="-122"/>
                <a:cs typeface="Calibri" pitchFamily="34" charset="-120"/>
              </a:rPr>
              <a:t>CANNOT</a:t>
            </a:r>
            <a:endParaRPr lang="en-US" sz="1200" dirty="0"/>
          </a:p>
        </p:txBody>
      </p:sp>
      <p:sp>
        <p:nvSpPr>
          <p:cNvPr id="9" name="Text 7"/>
          <p:cNvSpPr/>
          <p:nvPr/>
        </p:nvSpPr>
        <p:spPr>
          <a:xfrm>
            <a:off x="4892040" y="1783080"/>
            <a:ext cx="3566160" cy="27432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Tell you </a:t>
            </a:r>
            <a:r>
              <a:rPr lang="en-US" sz="1300" b="1" i="1" dirty="0">
                <a:solidFill>
                  <a:srgbClr val="D4A574"/>
                </a:solidFill>
                <a:latin typeface="Calibri" pitchFamily="34" charset="0"/>
                <a:ea typeface="Calibri" pitchFamily="34" charset="-122"/>
                <a:cs typeface="Calibri" pitchFamily="34" charset="-120"/>
              </a:rPr>
              <a:t>why</a:t>
            </a:r>
            <a:r>
              <a:rPr lang="en-US" sz="1300" dirty="0">
                <a:solidFill>
                  <a:srgbClr val="FFFFFF"/>
                </a:solidFill>
                <a:latin typeface="Calibri" pitchFamily="34" charset="0"/>
                <a:ea typeface="Calibri" pitchFamily="34" charset="-122"/>
                <a:cs typeface="Calibri" pitchFamily="34" charset="-120"/>
              </a:rPr>
              <a:t> a cluster — in space or in time — exists</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Distinguish a real hotspot from a surveillance hotspot</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Prove anything causally — that's a separate study design</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Compensate for under-reporting; gaps and zeros may mean blind spots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bg>
      <p:bgPr>
        <a:solidFill>
          <a:srgbClr val="E64626"/>
        </a:solidFill>
        <a:effectLst/>
      </p:bgPr>
    </p:bg>
    <p:spTree>
      <p:nvGrpSpPr>
        <p:cNvPr id="1" name=""/>
        <p:cNvGrpSpPr/>
        <p:nvPr/>
      </p:nvGrpSpPr>
      <p:grpSpPr>
        <a:xfrm>
          <a:off x="0" y="0"/>
          <a:ext cx="0" cy="0"/>
          <a:chOff x="0" y="0"/>
          <a:chExt cx="0" cy="0"/>
        </a:xfrm>
      </p:grpSpPr>
      <p:sp>
        <p:nvSpPr>
          <p:cNvPr id="2" name="Text 0"/>
          <p:cNvSpPr/>
          <p:nvPr/>
        </p:nvSpPr>
        <p:spPr>
          <a:xfrm>
            <a:off x="640080" y="1463040"/>
            <a:ext cx="786384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Now it’s your turn.</a:t>
            </a:r>
            <a:endParaRPr lang="en-US" sz="4400" dirty="0"/>
          </a:p>
        </p:txBody>
      </p:sp>
      <p:sp>
        <p:nvSpPr>
          <p:cNvPr id="3" name="Text 1"/>
          <p:cNvSpPr/>
          <p:nvPr/>
        </p:nvSpPr>
        <p:spPr>
          <a:xfrm>
            <a:off x="640080" y="2286000"/>
            <a:ext cx="7863840" cy="640080"/>
          </a:xfrm>
          <a:prstGeom prst="rect">
            <a:avLst/>
          </a:prstGeom>
          <a:noFill/>
          <a:ln/>
        </p:spPr>
        <p:txBody>
          <a:bodyPr wrap="square" lIns="0" tIns="0" rIns="0" bIns="0" rtlCol="0" anchor="ctr"/>
          <a:lstStyle/>
          <a:p>
            <a:pPr marL="0" indent="0">
              <a:buNone/>
            </a:pPr>
            <a:r>
              <a:rPr lang="en-US" sz="2800" i="1" dirty="0">
                <a:solidFill>
                  <a:srgbClr val="1A355E"/>
                </a:solidFill>
                <a:latin typeface="Cambria" pitchFamily="34" charset="0"/>
                <a:ea typeface="Cambria" pitchFamily="34" charset="-122"/>
                <a:cs typeface="Cambria" pitchFamily="34" charset="-120"/>
              </a:rPr>
              <a:t>Open the HPAI Kerala tutorial.</a:t>
            </a:r>
            <a:endParaRPr lang="en-US" sz="2800" dirty="0">
              <a:solidFill>
                <a:srgbClr val="1A355E"/>
              </a:solidFill>
            </a:endParaRPr>
          </a:p>
        </p:txBody>
      </p:sp>
      <p:sp>
        <p:nvSpPr>
          <p:cNvPr id="4" name="Shape 2"/>
          <p:cNvSpPr/>
          <p:nvPr/>
        </p:nvSpPr>
        <p:spPr>
          <a:xfrm>
            <a:off x="640080" y="3108960"/>
            <a:ext cx="1371600" cy="0"/>
          </a:xfrm>
          <a:prstGeom prst="line">
            <a:avLst/>
          </a:prstGeom>
          <a:noFill/>
          <a:ln w="25400">
            <a:solidFill>
              <a:srgbClr val="1A355E"/>
            </a:solidFill>
            <a:prstDash val="solid"/>
          </a:ln>
        </p:spPr>
        <p:txBody>
          <a:bodyPr/>
          <a:lstStyle/>
          <a:p>
            <a:endParaRPr lang="en-AU">
              <a:solidFill>
                <a:srgbClr val="1A355E"/>
              </a:solidFill>
            </a:endParaRPr>
          </a:p>
        </p:txBody>
      </p:sp>
      <p:sp>
        <p:nvSpPr>
          <p:cNvPr id="5" name="Text 3"/>
          <p:cNvSpPr/>
          <p:nvPr/>
        </p:nvSpPr>
        <p:spPr>
          <a:xfrm>
            <a:off x="640080" y="3291840"/>
            <a:ext cx="7863840" cy="1371600"/>
          </a:xfrm>
          <a:prstGeom prst="rect">
            <a:avLst/>
          </a:prstGeom>
          <a:noFill/>
          <a:ln/>
        </p:spPr>
        <p:txBody>
          <a:bodyPr wrap="square" rtlCol="0" anchor="t"/>
          <a:lstStyle/>
          <a:p>
            <a:pPr marL="0" indent="0">
              <a:spcAft>
                <a:spcPts val="400"/>
              </a:spcAft>
              <a:buNone/>
            </a:pPr>
            <a:r>
              <a:rPr lang="en-US" sz="1600" dirty="0">
                <a:solidFill>
                  <a:schemeClr val="bg1"/>
                </a:solidFill>
                <a:latin typeface="Aptos" panose="020B0004020202020204" pitchFamily="34" charset="0"/>
                <a:ea typeface="Calibri" pitchFamily="34" charset="-122"/>
                <a:cs typeface="Calibri" pitchFamily="34" charset="-120"/>
              </a:rPr>
              <a:t>You'll walk through these steps in R yourself.</a:t>
            </a:r>
            <a:endParaRPr lang="en-US" sz="1600" dirty="0">
              <a:solidFill>
                <a:schemeClr val="bg1"/>
              </a:solidFill>
              <a:latin typeface="Aptos" panose="020B0004020202020204" pitchFamily="34" charset="0"/>
            </a:endParaRPr>
          </a:p>
          <a:p>
            <a:pPr marL="0" indent="0">
              <a:spcAft>
                <a:spcPts val="400"/>
              </a:spcAft>
              <a:buNone/>
            </a:pPr>
            <a:r>
              <a:rPr lang="en-US" sz="1600" dirty="0">
                <a:solidFill>
                  <a:schemeClr val="bg1"/>
                </a:solidFill>
                <a:latin typeface="Aptos" panose="020B0004020202020204" pitchFamily="34" charset="0"/>
                <a:ea typeface="Calibri" pitchFamily="34" charset="-122"/>
                <a:cs typeface="Calibri" pitchFamily="34" charset="-120"/>
              </a:rPr>
              <a:t>Each section has setup code, an exercise, and a worked solution.</a:t>
            </a:r>
            <a:endParaRPr lang="en-US" sz="1600" dirty="0">
              <a:solidFill>
                <a:schemeClr val="bg1"/>
              </a:solidFill>
              <a:latin typeface="Aptos" panose="020B0004020202020204" pitchFamily="34" charset="0"/>
            </a:endParaRPr>
          </a:p>
          <a:p>
            <a:pPr marL="0" indent="0">
              <a:spcAft>
                <a:spcPts val="400"/>
              </a:spcAft>
              <a:buNone/>
            </a:pPr>
            <a:endParaRPr lang="en-US" sz="1600" dirty="0">
              <a:solidFill>
                <a:schemeClr val="bg1"/>
              </a:solidFill>
              <a:latin typeface="Aptos" panose="020B0004020202020204" pitchFamily="34" charset="0"/>
            </a:endParaRPr>
          </a:p>
          <a:p>
            <a:pPr marL="0" indent="0">
              <a:spcAft>
                <a:spcPts val="400"/>
              </a:spcAft>
              <a:buNone/>
            </a:pPr>
            <a:r>
              <a:rPr lang="en-US" sz="1600" i="1" dirty="0">
                <a:solidFill>
                  <a:schemeClr val="bg1"/>
                </a:solidFill>
                <a:latin typeface="Aptos" panose="020B0004020202020204" pitchFamily="34" charset="0"/>
                <a:ea typeface="Calibri" pitchFamily="34" charset="-122"/>
                <a:cs typeface="Calibri" pitchFamily="34" charset="-120"/>
              </a:rPr>
              <a:t>Same workflow this afternoon — different disease, different country.</a:t>
            </a:r>
            <a:endParaRPr lang="en-US" sz="1600" dirty="0">
              <a:solidFill>
                <a:schemeClr val="bg1"/>
              </a:solidFill>
              <a:latin typeface="Aptos"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otalTime>819</TotalTime>
  <Words>3938</Words>
  <Application>Microsoft Office PowerPoint</Application>
  <PresentationFormat>On-screen Show (16:9)</PresentationFormat>
  <Paragraphs>433</Paragraphs>
  <Slides>35</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Aptos</vt:lpstr>
      <vt:lpstr>Arial</vt:lpstr>
      <vt:lpstr>Calibri</vt:lpstr>
      <vt:lpstr>Cambria</vt:lpstr>
      <vt:lpstr>Courier New</vt:lpstr>
      <vt:lpstr>System Font Regular</vt:lpstr>
      <vt:lpstr>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analysis for disease data</dc:title>
  <dc:subject>PptxGenJS Presentation</dc:subject>
  <dc:creator>Workshop</dc:creator>
  <cp:lastModifiedBy>Victoria Brookes</cp:lastModifiedBy>
  <cp:revision>5</cp:revision>
  <dcterms:created xsi:type="dcterms:W3CDTF">2026-06-28T10:28:16Z</dcterms:created>
  <dcterms:modified xsi:type="dcterms:W3CDTF">2026-07-06T03:52:21Z</dcterms:modified>
</cp:coreProperties>
</file>